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bi-icon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411480"/>
            <a:ext cx="100584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920240"/>
            <a:ext cx="11247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0F0F5"/>
                </a:solidFill>
                <a:latin typeface="Meiryo"/>
              </a:rPr>
              <a:t>Windows Update の証明書が期限切れに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999AAA"/>
                </a:solidFill>
                <a:latin typeface="Meiryo"/>
              </a:rPr>
              <a:t>2027年5月17日・6月19日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3931920"/>
            <a:ext cx="5422392" cy="77724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3931920"/>
            <a:ext cx="542239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88D40"/>
                </a:solidFill>
                <a:latin typeface="Meiryo"/>
              </a:rPr>
              <a:t>証明書が古い端末は更新が届かなくなる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89788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99AAA"/>
                </a:solidFill>
                <a:latin typeface="Meiryo"/>
              </a:rPr>
              <a:t>Source: https://techcommunity.microsoft.com/t5/windows-it-pro-blog/prepare-for-windows-update-certificate-rotation-in-2027/ba-p/4562463</a:t>
            </a:r>
          </a:p>
          <a:p>
            <a:pPr algn="ctr"/>
            <a:r>
              <a:rPr sz="1300" b="0">
                <a:solidFill>
                  <a:srgbClr val="5A5C70"/>
                </a:solidFill>
                <a:latin typeface="Meiryo"/>
              </a:rPr>
              <a:t>2026年10月9日 ｜ ebisuda.net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4747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999AAA"/>
                </a:solidFill>
                <a:latin typeface="Meiryo"/>
              </a:rPr>
              <a:t>何をすればいい？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1143000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0" b="1">
                <a:solidFill>
                  <a:srgbClr val="E88D40"/>
                </a:solidFill>
                <a:latin typeface="Meiryo"/>
              </a:rPr>
              <a:t>最新の月例更新を当てる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F0F0F5"/>
                </a:solidFill>
                <a:latin typeface="Meiryo"/>
              </a:rPr>
              <a:t>サポート中の Windows を最新に保てば、ほとんどの端末は対応不要</a:t>
            </a:r>
          </a:p>
          <a:p>
            <a:pPr algn="ctr">
              <a:spcAft>
                <a:spcPts val="800"/>
              </a:spcAft>
            </a:pPr>
            <a:r>
              <a:rPr sz="2600" b="0">
                <a:solidFill>
                  <a:srgbClr val="F0F0F5"/>
                </a:solidFill>
                <a:latin typeface="Meiryo"/>
              </a:rPr>
              <a:t>必要な更新を当てていない端末・サポート切れの端末は</a:t>
            </a:r>
          </a:p>
          <a:p>
            <a:pPr algn="ctr">
              <a:spcAft>
                <a:spcPts val="800"/>
              </a:spcAft>
            </a:pPr>
            <a:r>
              <a:rPr sz="2600" b="0">
                <a:solidFill>
                  <a:srgbClr val="F0F0F5"/>
                </a:solidFill>
                <a:latin typeface="Meiryo"/>
              </a:rPr>
              <a:t>Windows Update につながらなくなる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なぜ「証明書」で更新が止まるのか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566160" cy="35661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73152" cy="356616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B0F0"/>
                </a:solidFill>
                <a:latin typeface="Meiryo"/>
              </a:rPr>
              <a:t>① 本物か確かめる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1546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端末は証明書で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「本物の Windows Update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サーバーか」を確認する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28800"/>
            <a:ext cx="3566160" cy="35661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828800"/>
            <a:ext cx="73152" cy="356616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6596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8D40"/>
                </a:solidFill>
                <a:latin typeface="Meiryo"/>
              </a:rPr>
              <a:t>② 証明書には期限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560320"/>
            <a:ext cx="31546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安全のため有効期限がある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期限が来たら新しい証明書へ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交換（ローテーション）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828800"/>
            <a:ext cx="3566160" cy="35661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29016" y="1828800"/>
            <a:ext cx="73152" cy="356616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96596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EC960"/>
                </a:solidFill>
                <a:latin typeface="Meiryo"/>
              </a:rPr>
              <a:t>③ 月例更新で配布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560320"/>
            <a:ext cx="31546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多くの端末には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通常の月例更新で届く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手動や管理ツールでも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入れられる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66928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0F0F5"/>
                </a:solidFill>
                <a:latin typeface="Meiryo"/>
              </a:rPr>
              <a:t>新しい証明書が入っていない端末は、期限後に Windows Update へ接続できない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WHAT TO INSTALL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バージョン別：いつまでに何を当てるか（期限は2027年）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EC960"/>
                </a:solidFill>
                <a:latin typeface="Meiryo"/>
              </a:rPr>
              <a:t>Windows 11 25H2 以降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73736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対応不要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173736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EC960"/>
                </a:solidFill>
                <a:latin typeface="Meiryo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24912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BB0F0"/>
                </a:solidFill>
                <a:latin typeface="Meiryo"/>
              </a:rPr>
              <a:t>Windows 11 24H2
/ Windows Server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724912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2025年9月以降のセキュリティ更新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724912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BB0F0"/>
                </a:solidFill>
                <a:latin typeface="Meiryo"/>
              </a:rPr>
              <a:t>6月19日より前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12464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BB0F0"/>
                </a:solidFill>
                <a:latin typeface="Meiryo"/>
              </a:rPr>
              <a:t>サポート中の他の Windows 11・Windows 10
/ Windows Server 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712464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2026年7月以降のセキュリティ更新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712464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BB0F0"/>
                </a:solidFill>
                <a:latin typeface="Meiryo"/>
              </a:rPr>
              <a:t>6月19日より前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00016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Windows 10 Enterprise 2019 LTSC
/ Windows Server 2019・2016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700016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2026年7月以降のセキュリティ更新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4700016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88D40"/>
                </a:solidFill>
                <a:latin typeface="Meiryo"/>
              </a:rPr>
              <a:t>5月17日より前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687568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6060"/>
                </a:solidFill>
                <a:latin typeface="Meiryo"/>
              </a:rPr>
              <a:t>それ以外（サポート切れ）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5687568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サポート中の版へアップグレード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5687568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06060"/>
                </a:solidFill>
                <a:latin typeface="Meiryo"/>
              </a:rPr>
              <a:t>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AFTER EXPIRATION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期限を過ぎると、端末は3通りに分かれる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73152" cy="402336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EC960"/>
                </a:solidFill>
                <a:latin typeface="Meiryo"/>
              </a:rPr>
              <a:t>サポート中・最新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1546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そのまま更新が届く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新しい証明書は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すでに入っている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2880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828800"/>
            <a:ext cx="73152" cy="402336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6596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8D40"/>
                </a:solidFill>
                <a:latin typeface="Meiryo"/>
              </a:rPr>
              <a:t>サポート中で未適用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560320"/>
            <a:ext cx="31546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必要な更新が未適用だと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Windows Update に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つながらなくなる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→ 公式の更新カタログ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から手動で入れるか、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管理ツールで配る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82880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29016" y="1828800"/>
            <a:ext cx="73152" cy="4023360"/>
          </a:xfrm>
          <a:prstGeom prst="roundRect">
            <a:avLst>
              <a:gd name="adj" fmla="val 1000"/>
            </a:avLst>
          </a:prstGeom>
          <a:solidFill>
            <a:srgbClr val="F06060"/>
          </a:solidFill>
          <a:ln w="12700">
            <a:solidFill>
              <a:srgbClr val="F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96596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06060"/>
                </a:solidFill>
                <a:latin typeface="Meiryo"/>
              </a:rPr>
              <a:t>サポート切れ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560320"/>
            <a:ext cx="31546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Windows Update を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使えなくなる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→ サポート中の版へ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アップグレード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4747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ED8C0"/>
                </a:solidFill>
                <a:latin typeface="Meiryo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999AAA"/>
                </a:solidFill>
                <a:latin typeface="Meiryo"/>
              </a:rPr>
              <a:t>例外は？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1143000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1">
                <a:solidFill>
                  <a:srgbClr val="4ED8C0"/>
                </a:solidFill>
                <a:latin typeface="Meiryo"/>
              </a:rPr>
              <a:t>WSUS 経由の端末は対象外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F0F0F5"/>
                </a:solidFill>
                <a:latin typeface="Meiryo"/>
              </a:rPr>
              <a:t>WSUS（社内サーバーから更新を配る仕組み）経由の端末には</a:t>
            </a:r>
          </a:p>
          <a:p>
            <a:pPr algn="ctr">
              <a:spcAft>
                <a:spcPts val="800"/>
              </a:spcAft>
            </a:pPr>
            <a:r>
              <a:rPr sz="2600" b="0">
                <a:solidFill>
                  <a:srgbClr val="F0F0F5"/>
                </a:solidFill>
                <a:latin typeface="Meiryo"/>
              </a:rPr>
              <a:t>適用されない、と公式に明記</a:t>
            </a:r>
          </a:p>
          <a:p>
            <a:pPr algn="ctr">
              <a:spcAft>
                <a:spcPts val="800"/>
              </a:spcAft>
            </a:pPr>
            <a:r>
              <a:rPr sz="2600" b="0">
                <a:solidFill>
                  <a:srgbClr val="F0F0F5"/>
                </a:solidFill>
                <a:latin typeface="Meiryo"/>
              </a:rPr>
              <a:t>【私の提案】Windows Update に直接つなぐ端末を先に把握する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今日確認する3項目（私の提案）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8229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EC960"/>
                </a:solidFill>
                <a:latin typeface="Meiryo"/>
              </a:rPr>
              <a:t>□1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28800"/>
            <a:ext cx="9601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F0F0F5"/>
                </a:solidFill>
                <a:latin typeface="Meiryo"/>
              </a:rPr>
              <a:t>古い Windows・サポート切れの Windows がどこにあるか洗い出す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1088136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8229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EC960"/>
                </a:solidFill>
                <a:latin typeface="Meiryo"/>
              </a:rPr>
              <a:t>□2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200400"/>
            <a:ext cx="9601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F0F0F5"/>
                </a:solidFill>
                <a:latin typeface="Meiryo"/>
              </a:rPr>
              <a:t>サポート中の端末に月例更新を当て続ける（更新を止めている端末を探す）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72000"/>
            <a:ext cx="10881360" cy="1188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8229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EC960"/>
                </a:solidFill>
                <a:latin typeface="Meiryo"/>
              </a:rPr>
              <a:t>□3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572000"/>
            <a:ext cx="9601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F0F0F5"/>
                </a:solidFill>
                <a:latin typeface="Meiryo"/>
              </a:rPr>
              <a:t>サポート切れの端末のアップグレード計画を、2027年5月・6月の期限より前に立てる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