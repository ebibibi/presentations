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AIエージェントに Azure を教える</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4328160"/>
          </a:xfrm>
          <a:prstGeom prst="rect">
            <a:avLst/>
          </a:prstGeom>
          <a:noFill/>
        </p:spPr>
        <p:txBody>
          <a:bodyPr wrap="square">
            <a:normAutofit/>
          </a:bodyPr>
          <a:lstStyle/>
          <a:p>
            <a:pPr>
              <a:spcAft>
                <a:spcPts val="800"/>
              </a:spcAft>
            </a:pPr>
            <a:r>
              <a:rPr sz="2900" b="1">
                <a:solidFill>
                  <a:srgbClr val="0078D4"/>
                </a:solidFill>
                <a:latin typeface="Meiryo"/>
                <a:ea typeface="Meiryo"/>
              </a:rPr>
              <a:t>Microsoft公式 Agent Skills を読み解く</a:t>
            </a:r>
          </a:p>
          <a:p>
            <a:pPr>
              <a:spcAft>
                <a:spcPts val="500"/>
              </a:spcAft>
            </a:pPr>
            <a:r>
              <a:rPr sz="2600" b="1">
                <a:solidFill>
                  <a:srgbClr val="323130"/>
                </a:solidFill>
                <a:latin typeface="Meiryo"/>
                <a:ea typeface="Meiryo"/>
              </a:rPr>
              <a:t>HCCJP 第72回勉強会</a:t>
            </a:r>
          </a:p>
          <a:p>
            <a:pPr>
              <a:spcAft>
                <a:spcPts val="500"/>
              </a:spcAft>
            </a:pPr>
            <a:r>
              <a:rPr sz="2600">
                <a:solidFill>
                  <a:srgbClr val="323130"/>
                </a:solidFill>
                <a:latin typeface="Meiryo"/>
                <a:ea typeface="Meiryo"/>
              </a:rPr>
              <a:t>2026年4月10日（金）</a:t>
            </a:r>
          </a:p>
          <a:p>
            <a:pPr>
              <a:spcAft>
                <a:spcPts val="500"/>
              </a:spcAft>
            </a:pPr>
            <a:r>
              <a:rPr sz="2600">
                <a:solidFill>
                  <a:srgbClr val="323130"/>
                </a:solidFill>
                <a:latin typeface="Meiryo"/>
                <a:ea typeface="Meiryo"/>
              </a:rPr>
              <a:t>胡田 昌彦</a:t>
            </a:r>
          </a:p>
          <a:p>
            <a:pPr>
              <a:spcAft>
                <a:spcPts val="500"/>
              </a:spcAft>
            </a:pPr>
            <a:r>
              <a:rPr sz="2600">
                <a:solidFill>
                  <a:srgbClr val="323130"/>
                </a:solidFill>
                <a:latin typeface="Meiryo"/>
                <a:ea typeface="Meiryo"/>
              </a:rPr>
              <a:t>日本ビジネスシステムズ株式会社</a:t>
            </a:r>
          </a:p>
          <a:p>
            <a:pPr>
              <a:spcAft>
                <a:spcPts val="500"/>
              </a:spcAft>
            </a:pPr>
            <a:r>
              <a:rPr sz="2600">
                <a:solidFill>
                  <a:srgbClr val="323130"/>
                </a:solidFill>
                <a:latin typeface="Meiryo"/>
                <a:ea typeface="Meiryo"/>
              </a:rPr>
              <a:t>Microsoft MVP for Cloud and Datacenter Management, Microsoft Azure</a:t>
            </a:r>
          </a:p>
        </p:txBody>
      </p:sp>
      <p:sp>
        <p:nvSpPr>
          <p:cNvPr id="6" name="TextBox 5"/>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1 / 38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本日のアジェンダ</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661160"/>
          <a:ext cx="11183112" cy="4145280"/>
        </p:xfrm>
        <a:graphic>
          <a:graphicData uri="http://schemas.openxmlformats.org/drawingml/2006/table">
            <a:tbl>
              <a:tblPr firstRow="1" bandRow="1">
                <a:tableStyleId>{5C22544A-7EE6-4342-B048-85BDC9FD1C3A}</a:tableStyleId>
              </a:tblPr>
              <a:tblGrid>
                <a:gridCol w="3727704"/>
                <a:gridCol w="3727704"/>
                <a:gridCol w="3727704"/>
              </a:tblGrid>
              <a:tr h="690880">
                <a:tc>
                  <a:txBody>
                    <a:bodyPr/>
                    <a:lstStyle/>
                    <a:p>
                      <a:r>
                        <a:rPr sz="2100" b="1">
                          <a:solidFill>
                            <a:srgbClr val="243A5E"/>
                          </a:solidFill>
                          <a:latin typeface="Meiryo"/>
                          <a:ea typeface="Meiryo"/>
                        </a:rPr>
                        <a:t>時刻</a:t>
                      </a:r>
                    </a:p>
                  </a:txBody>
                  <a:tcPr>
                    <a:solidFill>
                      <a:srgbClr val="E8F0FE"/>
                    </a:solidFill>
                  </a:tcPr>
                </a:tc>
                <a:tc>
                  <a:txBody>
                    <a:bodyPr/>
                    <a:lstStyle/>
                    <a:p>
                      <a:r>
                        <a:rPr sz="2100" b="1">
                          <a:solidFill>
                            <a:srgbClr val="243A5E"/>
                          </a:solidFill>
                          <a:latin typeface="Meiryo"/>
                          <a:ea typeface="Meiryo"/>
                        </a:rPr>
                        <a:t>セッション</a:t>
                      </a:r>
                    </a:p>
                  </a:txBody>
                  <a:tcPr>
                    <a:solidFill>
                      <a:srgbClr val="E8F0FE"/>
                    </a:solidFill>
                  </a:tcPr>
                </a:tc>
                <a:tc>
                  <a:txBody>
                    <a:bodyPr/>
                    <a:lstStyle/>
                    <a:p>
                      <a:r>
                        <a:rPr sz="2100" b="1">
                          <a:solidFill>
                            <a:srgbClr val="243A5E"/>
                          </a:solidFill>
                          <a:latin typeface="Meiryo"/>
                          <a:ea typeface="Meiryo"/>
                        </a:rPr>
                        <a:t>スピーカー</a:t>
                      </a:r>
                    </a:p>
                  </a:txBody>
                  <a:tcPr>
                    <a:solidFill>
                      <a:srgbClr val="E8F0FE"/>
                    </a:solidFill>
                  </a:tcPr>
                </a:tc>
              </a:tr>
              <a:tr h="690880">
                <a:tc>
                  <a:txBody>
                    <a:bodyPr/>
                    <a:lstStyle/>
                    <a:p>
                      <a:r>
                        <a:rPr sz="2100">
                          <a:solidFill>
                            <a:srgbClr val="323130"/>
                          </a:solidFill>
                          <a:latin typeface="Meiryo"/>
                          <a:ea typeface="Meiryo"/>
                        </a:rPr>
                        <a:t>14:00</a:t>
                      </a:r>
                    </a:p>
                  </a:txBody>
                  <a:tcPr/>
                </a:tc>
                <a:tc>
                  <a:txBody>
                    <a:bodyPr/>
                    <a:lstStyle/>
                    <a:p>
                      <a:r>
                        <a:rPr sz="2100">
                          <a:solidFill>
                            <a:srgbClr val="323130"/>
                          </a:solidFill>
                          <a:latin typeface="Meiryo"/>
                          <a:ea typeface="Meiryo"/>
                        </a:rPr>
                        <a:t>オープニング</a:t>
                      </a:r>
                    </a:p>
                  </a:txBody>
                  <a:tcPr/>
                </a:tc>
                <a:tc>
                  <a:txBody>
                    <a:bodyPr/>
                    <a:lstStyle/>
                    <a:p>
                      <a:r>
                        <a:rPr sz="2100">
                          <a:solidFill>
                            <a:srgbClr val="323130"/>
                          </a:solidFill>
                          <a:latin typeface="Meiryo"/>
                          <a:ea typeface="Meiryo"/>
                        </a:rPr>
                        <a:t>胡田</a:t>
                      </a:r>
                    </a:p>
                  </a:txBody>
                  <a:tcPr/>
                </a:tc>
              </a:tr>
              <a:tr h="690880">
                <a:tc>
                  <a:txBody>
                    <a:bodyPr/>
                    <a:lstStyle/>
                    <a:p>
                      <a:r>
                        <a:rPr sz="2100">
                          <a:solidFill>
                            <a:srgbClr val="323130"/>
                          </a:solidFill>
                          <a:latin typeface="Meiryo"/>
                          <a:ea typeface="Meiryo"/>
                        </a:rPr>
                        <a:t>14:05</a:t>
                      </a:r>
                    </a:p>
                  </a:txBody>
                  <a:tcPr/>
                </a:tc>
                <a:tc>
                  <a:txBody>
                    <a:bodyPr/>
                    <a:lstStyle/>
                    <a:p>
                      <a:r>
                        <a:rPr sz="2100">
                          <a:solidFill>
                            <a:srgbClr val="323130"/>
                          </a:solidFill>
                          <a:latin typeface="Meiryo"/>
                          <a:ea typeface="Meiryo"/>
                        </a:rPr>
                        <a:t>AIエージェントに Azure を教える</a:t>
                      </a:r>
                    </a:p>
                  </a:txBody>
                  <a:tcPr/>
                </a:tc>
                <a:tc>
                  <a:txBody>
                    <a:bodyPr/>
                    <a:lstStyle/>
                    <a:p>
                      <a:r>
                        <a:rPr sz="2100">
                          <a:solidFill>
                            <a:srgbClr val="323130"/>
                          </a:solidFill>
                          <a:latin typeface="Meiryo"/>
                          <a:ea typeface="Meiryo"/>
                        </a:rPr>
                        <a:t>胡田</a:t>
                      </a:r>
                    </a:p>
                  </a:txBody>
                  <a:tcPr/>
                </a:tc>
              </a:tr>
              <a:tr h="690880">
                <a:tc>
                  <a:txBody>
                    <a:bodyPr/>
                    <a:lstStyle/>
                    <a:p>
                      <a:r>
                        <a:rPr sz="2100">
                          <a:solidFill>
                            <a:srgbClr val="323130"/>
                          </a:solidFill>
                          <a:latin typeface="Meiryo"/>
                          <a:ea typeface="Meiryo"/>
                        </a:rPr>
                        <a:t>14:45</a:t>
                      </a:r>
                    </a:p>
                  </a:txBody>
                  <a:tcPr/>
                </a:tc>
                <a:tc>
                  <a:txBody>
                    <a:bodyPr/>
                    <a:lstStyle/>
                    <a:p>
                      <a:r>
                        <a:rPr sz="2100">
                          <a:solidFill>
                            <a:srgbClr val="323130"/>
                          </a:solidFill>
                          <a:latin typeface="Meiryo"/>
                          <a:ea typeface="Meiryo"/>
                        </a:rPr>
                        <a:t>Q&amp;A</a:t>
                      </a:r>
                    </a:p>
                  </a:txBody>
                  <a:tcPr/>
                </a:tc>
                <a:tc>
                  <a:txBody>
                    <a:bodyPr/>
                    <a:lstStyle/>
                    <a:p>
                      <a:r>
                        <a:rPr sz="2100">
                          <a:solidFill>
                            <a:srgbClr val="323130"/>
                          </a:solidFill>
                          <a:latin typeface="Meiryo"/>
                          <a:ea typeface="Meiryo"/>
                        </a:rPr>
                        <a:t>全員</a:t>
                      </a:r>
                    </a:p>
                  </a:txBody>
                  <a:tcPr/>
                </a:tc>
              </a:tr>
              <a:tr h="690880">
                <a:tc>
                  <a:txBody>
                    <a:bodyPr/>
                    <a:lstStyle/>
                    <a:p>
                      <a:r>
                        <a:rPr sz="2100">
                          <a:solidFill>
                            <a:srgbClr val="323130"/>
                          </a:solidFill>
                          <a:latin typeface="Meiryo"/>
                          <a:ea typeface="Meiryo"/>
                        </a:rPr>
                        <a:t>14:55</a:t>
                      </a:r>
                    </a:p>
                  </a:txBody>
                  <a:tcPr/>
                </a:tc>
                <a:tc>
                  <a:txBody>
                    <a:bodyPr/>
                    <a:lstStyle/>
                    <a:p>
                      <a:r>
                        <a:rPr sz="2100">
                          <a:solidFill>
                            <a:srgbClr val="323130"/>
                          </a:solidFill>
                          <a:latin typeface="Meiryo"/>
                          <a:ea typeface="Meiryo"/>
                        </a:rPr>
                        <a:t>Microsoft "Adaptive Cloud" Updates</a:t>
                      </a:r>
                    </a:p>
                  </a:txBody>
                  <a:tcPr/>
                </a:tc>
                <a:tc>
                  <a:txBody>
                    <a:bodyPr/>
                    <a:lstStyle/>
                    <a:p>
                      <a:r>
                        <a:rPr sz="2100">
                          <a:solidFill>
                            <a:srgbClr val="323130"/>
                          </a:solidFill>
                          <a:latin typeface="Meiryo"/>
                          <a:ea typeface="Meiryo"/>
                        </a:rPr>
                        <a:t>高添 氏</a:t>
                      </a:r>
                    </a:p>
                  </a:txBody>
                  <a:tcPr/>
                </a:tc>
              </a:tr>
              <a:tr h="690880">
                <a:tc>
                  <a:txBody>
                    <a:bodyPr/>
                    <a:lstStyle/>
                    <a:p>
                      <a:r>
                        <a:rPr sz="2100">
                          <a:solidFill>
                            <a:srgbClr val="323130"/>
                          </a:solidFill>
                          <a:latin typeface="Meiryo"/>
                          <a:ea typeface="Meiryo"/>
                        </a:rPr>
                        <a:t>15:15</a:t>
                      </a:r>
                    </a:p>
                  </a:txBody>
                  <a:tcPr/>
                </a:tc>
                <a:tc>
                  <a:txBody>
                    <a:bodyPr/>
                    <a:lstStyle/>
                    <a:p>
                      <a:r>
                        <a:rPr sz="2100">
                          <a:solidFill>
                            <a:srgbClr val="323130"/>
                          </a:solidFill>
                          <a:latin typeface="Meiryo"/>
                          <a:ea typeface="Meiryo"/>
                        </a:rPr>
                        <a:t>Q&amp;A → クロージング</a:t>
                      </a:r>
                    </a:p>
                  </a:txBody>
                  <a:tcPr/>
                </a:tc>
                <a:tc>
                  <a:txBody>
                    <a:bodyPr/>
                    <a:lstStyle/>
                    <a:p>
                      <a:r>
                        <a:rPr sz="2100">
                          <a:solidFill>
                            <a:srgbClr val="323130"/>
                          </a:solidFill>
                          <a:latin typeface="Meiryo"/>
                          <a:ea typeface="Meiryo"/>
                        </a:rPr>
                        <a:t>全員</a:t>
                      </a:r>
                    </a:p>
                  </a:txBody>
                  <a:tcPr/>
                </a:tc>
              </a:tr>
            </a:tbl>
          </a:graphicData>
        </a:graphic>
      </p:graphicFrame>
      <p:sp>
        <p:nvSpPr>
          <p:cNvPr id="6" name="TextBox 5"/>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2 / 38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HCCJPとは</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4328160"/>
          </a:xfrm>
          <a:prstGeom prst="rect">
            <a:avLst/>
          </a:prstGeom>
          <a:noFill/>
        </p:spPr>
        <p:txBody>
          <a:bodyPr wrap="square">
            <a:normAutofit/>
          </a:bodyPr>
          <a:lstStyle/>
          <a:p>
            <a:pPr>
              <a:spcAft>
                <a:spcPts val="700"/>
              </a:spcAft>
            </a:pPr>
            <a:r>
              <a:rPr sz="2800">
                <a:solidFill>
                  <a:srgbClr val="323130"/>
                </a:solidFill>
                <a:latin typeface="Meiryo"/>
                <a:ea typeface="Meiryo"/>
              </a:rPr>
              <a:t>• </a:t>
            </a:r>
            <a:r>
              <a:rPr sz="2800" b="1">
                <a:solidFill>
                  <a:srgbClr val="323130"/>
                </a:solidFill>
                <a:latin typeface="Meiryo"/>
                <a:ea typeface="Meiryo"/>
              </a:rPr>
              <a:t>Hybrid Cloud Community Japan</a:t>
            </a:r>
          </a:p>
          <a:p>
            <a:pPr>
              <a:spcAft>
                <a:spcPts val="700"/>
              </a:spcAft>
            </a:pPr>
            <a:r>
              <a:rPr sz="2800">
                <a:solidFill>
                  <a:srgbClr val="323130"/>
                </a:solidFill>
                <a:latin typeface="Meiryo"/>
                <a:ea typeface="Meiryo"/>
              </a:rPr>
              <a:t>• 2018年から続く勉強会コミュニティ</a:t>
            </a:r>
          </a:p>
          <a:p>
            <a:pPr>
              <a:spcAft>
                <a:spcPts val="700"/>
              </a:spcAft>
            </a:pPr>
            <a:r>
              <a:rPr sz="2800">
                <a:solidFill>
                  <a:srgbClr val="323130"/>
                </a:solidFill>
                <a:latin typeface="Meiryo"/>
                <a:ea typeface="Meiryo"/>
              </a:rPr>
              <a:t>• ハイブリッドクラウドに関する知見を共有</a:t>
            </a:r>
          </a:p>
          <a:p>
            <a:pPr>
              <a:spcAft>
                <a:spcPts val="700"/>
              </a:spcAft>
            </a:pPr>
            <a:r>
              <a:rPr sz="2800">
                <a:solidFill>
                  <a:srgbClr val="323130"/>
                </a:solidFill>
                <a:latin typeface="Meiryo"/>
                <a:ea typeface="Meiryo"/>
              </a:rPr>
              <a:t>• 毎月第2金曜日 14:00〜 オンライン開催</a:t>
            </a:r>
          </a:p>
          <a:p>
            <a:pPr>
              <a:spcAft>
                <a:spcPts val="500"/>
              </a:spcAft>
            </a:pPr>
            <a:r>
              <a:rPr sz="2800" b="1">
                <a:solidFill>
                  <a:srgbClr val="323130"/>
                </a:solidFill>
                <a:latin typeface="Meiryo"/>
                <a:ea typeface="Meiryo"/>
              </a:rPr>
              <a:t>主幹事:</a:t>
            </a:r>
            <a:r>
              <a:rPr sz="2800">
                <a:solidFill>
                  <a:srgbClr val="323130"/>
                </a:solidFill>
                <a:latin typeface="Meiryo"/>
                <a:ea typeface="Meiryo"/>
              </a:rPr>
              <a:t> 日本ビジネスシステムズ株式会社</a:t>
            </a:r>
          </a:p>
          <a:p>
            <a:pPr>
              <a:spcAft>
                <a:spcPts val="500"/>
              </a:spcAft>
            </a:pPr>
            <a:r>
              <a:rPr sz="2800" b="1">
                <a:solidFill>
                  <a:srgbClr val="323130"/>
                </a:solidFill>
                <a:latin typeface="Meiryo"/>
                <a:ea typeface="Meiryo"/>
              </a:rPr>
              <a:t>幹事:</a:t>
            </a:r>
            <a:r>
              <a:rPr sz="2800">
                <a:solidFill>
                  <a:srgbClr val="323130"/>
                </a:solidFill>
                <a:latin typeface="Meiryo"/>
                <a:ea typeface="Meiryo"/>
              </a:rPr>
              <a:t> NTTコミュニケーションズ、日商エレクトロニクス、日本HP、日本マイクロソフト、VistaNet、ネットワールド、三井情報、レノボ</a:t>
            </a:r>
          </a:p>
        </p:txBody>
      </p:sp>
      <p:sp>
        <p:nvSpPr>
          <p:cNvPr id="6" name="TextBox 5"/>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3 / 38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77240"/>
            <a:ext cx="11183112" cy="5486400"/>
          </a:xfrm>
          <a:prstGeom prst="rect">
            <a:avLst/>
          </a:prstGeom>
          <a:noFill/>
        </p:spPr>
        <p:txBody>
          <a:bodyPr wrap="square" anchor="ctr">
            <a:normAutofit/>
          </a:bodyPr>
          <a:lstStyle/>
          <a:p>
            <a:pPr algn="ctr">
              <a:spcAft>
                <a:spcPts val="800"/>
              </a:spcAft>
            </a:pPr>
            <a:r>
              <a:rPr sz="4800" b="1">
                <a:solidFill>
                  <a:srgbClr val="0078D4"/>
                </a:solidFill>
                <a:latin typeface="Meiryo"/>
                <a:ea typeface="Meiryo"/>
              </a:rPr>
              <a:t>セッション①</a:t>
            </a:r>
          </a:p>
          <a:p>
            <a:pPr algn="ctr">
              <a:spcAft>
                <a:spcPts val="800"/>
              </a:spcAft>
            </a:pPr>
            <a:r>
              <a:rPr sz="3300">
                <a:solidFill>
                  <a:srgbClr val="0078D4"/>
                </a:solidFill>
                <a:latin typeface="Meiryo"/>
                <a:ea typeface="Meiryo"/>
              </a:rPr>
              <a:t>AIエージェントに Azure を教える</a:t>
            </a:r>
          </a:p>
          <a:p>
            <a:pPr algn="ctr">
              <a:spcAft>
                <a:spcPts val="800"/>
              </a:spcAft>
            </a:pPr>
            <a:r>
              <a:rPr sz="3300">
                <a:solidFill>
                  <a:srgbClr val="0078D4"/>
                </a:solidFill>
                <a:latin typeface="Meiryo"/>
                <a:ea typeface="Meiryo"/>
              </a:rPr>
              <a:t>— Microsoft公式 Agent Skills を読み解く</a:t>
            </a:r>
          </a:p>
        </p:txBody>
      </p:sp>
      <p:sp>
        <p:nvSpPr>
          <p:cNvPr id="4" name="TextBox 3"/>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4 / 38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77240"/>
            <a:ext cx="11183112" cy="5486400"/>
          </a:xfrm>
          <a:prstGeom prst="rect">
            <a:avLst/>
          </a:prstGeom>
          <a:noFill/>
        </p:spPr>
        <p:txBody>
          <a:bodyPr wrap="square" anchor="ctr">
            <a:normAutofit/>
          </a:bodyPr>
          <a:lstStyle/>
          <a:p>
            <a:pPr algn="ctr">
              <a:spcAft>
                <a:spcPts val="800"/>
              </a:spcAft>
            </a:pPr>
            <a:r>
              <a:rPr sz="4800" b="1">
                <a:solidFill>
                  <a:srgbClr val="0078D4"/>
                </a:solidFill>
                <a:latin typeface="Meiryo"/>
                <a:ea typeface="Meiryo"/>
              </a:rPr>
              <a:t>まず、見てください</a:t>
            </a:r>
          </a:p>
        </p:txBody>
      </p:sp>
      <p:sp>
        <p:nvSpPr>
          <p:cNvPr id="4" name="TextBox 3"/>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5 / 38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1524000"/>
          </a:xfrm>
          <a:prstGeom prst="rect">
            <a:avLst/>
          </a:prstGeom>
          <a:noFill/>
        </p:spPr>
        <p:txBody>
          <a:bodyPr wrap="square">
            <a:normAutofit/>
          </a:bodyPr>
          <a:lstStyle/>
          <a:p>
            <a:r>
              <a:rPr sz="4000" b="1">
                <a:solidFill>
                  <a:srgbClr val="0078D4"/>
                </a:solidFill>
                <a:latin typeface="Meiryo"/>
                <a:ea typeface="Meiryo"/>
              </a:rPr>
              <a:t>デモ① Before: 素の Claude Code に Azure 操作を頼む</a:t>
            </a:r>
          </a:p>
        </p:txBody>
      </p:sp>
      <p:sp>
        <p:nvSpPr>
          <p:cNvPr id="4" name="Rectangle 3"/>
          <p:cNvSpPr/>
          <p:nvPr/>
        </p:nvSpPr>
        <p:spPr>
          <a:xfrm>
            <a:off x="502920" y="22098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346960"/>
            <a:ext cx="11183112" cy="3642360"/>
          </a:xfrm>
          <a:prstGeom prst="rect">
            <a:avLst/>
          </a:prstGeom>
          <a:noFill/>
        </p:spPr>
        <p:txBody>
          <a:bodyPr wrap="square">
            <a:normAutofit/>
          </a:bodyPr>
          <a:lstStyle/>
          <a:p>
            <a:pPr>
              <a:spcAft>
                <a:spcPts val="500"/>
              </a:spcAft>
            </a:pPr>
            <a:r>
              <a:rPr sz="2500" b="1">
                <a:solidFill>
                  <a:srgbClr val="323130"/>
                </a:solidFill>
                <a:latin typeface="Meiryo"/>
                <a:ea typeface="Meiryo"/>
              </a:rPr>
              <a:t>Claude Code（スキル・MCP なし）</a:t>
            </a:r>
          </a:p>
          <a:p>
            <a:pPr>
              <a:spcAft>
                <a:spcPts val="500"/>
              </a:spcAft>
            </a:pPr>
            <a:r>
              <a:rPr sz="2500">
                <a:solidFill>
                  <a:srgbClr val="323130"/>
                </a:solidFill>
                <a:latin typeface="Meiryo"/>
                <a:ea typeface="Meiryo"/>
              </a:rPr>
              <a:t>&gt; 「HCCJP 第72回勉強会のウェルカムページを作って、Azure Static Web Apps にデプロイして」</a:t>
            </a:r>
          </a:p>
          <a:p>
            <a:pPr>
              <a:spcAft>
                <a:spcPts val="500"/>
              </a:spcAft>
            </a:pPr>
            <a:r>
              <a:rPr sz="2500" b="1">
                <a:solidFill>
                  <a:srgbClr val="323130"/>
                </a:solidFill>
                <a:latin typeface="Meiryo"/>
                <a:ea typeface="Meiryo"/>
              </a:rPr>
              <a:t>→ 実演します（画面共有）</a:t>
            </a:r>
          </a:p>
          <a:p>
            <a:pPr>
              <a:spcAft>
                <a:spcPts val="500"/>
              </a:spcAft>
            </a:pPr>
            <a:r>
              <a:rPr sz="2500">
                <a:solidFill>
                  <a:srgbClr val="323130"/>
                </a:solidFill>
                <a:latin typeface="Meiryo"/>
                <a:ea typeface="Meiryo"/>
              </a:rPr>
              <a:t>予想される結果:</a:t>
            </a:r>
          </a:p>
          <a:p>
            <a:pPr>
              <a:spcAft>
                <a:spcPts val="600"/>
              </a:spcAft>
            </a:pPr>
            <a:r>
              <a:rPr sz="2500">
                <a:solidFill>
                  <a:srgbClr val="323130"/>
                </a:solidFill>
                <a:latin typeface="Meiryo"/>
                <a:ea typeface="Meiryo"/>
              </a:rPr>
              <a:t>• それなりにうまくこなしてくれる。</a:t>
            </a:r>
          </a:p>
        </p:txBody>
      </p:sp>
      <p:sp>
        <p:nvSpPr>
          <p:cNvPr id="6" name="TextBox 5"/>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6 / 38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1524000"/>
          </a:xfrm>
          <a:prstGeom prst="rect">
            <a:avLst/>
          </a:prstGeom>
          <a:noFill/>
        </p:spPr>
        <p:txBody>
          <a:bodyPr wrap="square">
            <a:normAutofit/>
          </a:bodyPr>
          <a:lstStyle/>
          <a:p>
            <a:r>
              <a:rPr sz="4000" b="1">
                <a:solidFill>
                  <a:srgbClr val="0078D4"/>
                </a:solidFill>
                <a:latin typeface="Meiryo"/>
                <a:ea typeface="Meiryo"/>
              </a:rPr>
              <a:t>デモ② After: スキル＋MCP を入れた Claude に同じことを頼む</a:t>
            </a:r>
          </a:p>
        </p:txBody>
      </p:sp>
      <p:sp>
        <p:nvSpPr>
          <p:cNvPr id="4" name="Rectangle 3"/>
          <p:cNvSpPr/>
          <p:nvPr/>
        </p:nvSpPr>
        <p:spPr>
          <a:xfrm>
            <a:off x="502920" y="22098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346960"/>
            <a:ext cx="11183112" cy="3642360"/>
          </a:xfrm>
          <a:prstGeom prst="rect">
            <a:avLst/>
          </a:prstGeom>
          <a:noFill/>
        </p:spPr>
        <p:txBody>
          <a:bodyPr wrap="square">
            <a:normAutofit/>
          </a:bodyPr>
          <a:lstStyle/>
          <a:p>
            <a:pPr>
              <a:spcAft>
                <a:spcPts val="400"/>
              </a:spcAft>
            </a:pPr>
            <a:r>
              <a:rPr sz="2200" b="1">
                <a:solidFill>
                  <a:srgbClr val="323130"/>
                </a:solidFill>
                <a:latin typeface="Meiryo"/>
                <a:ea typeface="Meiryo"/>
              </a:rPr>
              <a:t>Claude Codeに Agent Skills + Azure MCP Server を導入したうえで実行</a:t>
            </a:r>
          </a:p>
          <a:p>
            <a:pPr>
              <a:spcAft>
                <a:spcPts val="500"/>
              </a:spcAft>
            </a:pPr>
            <a:r>
              <a:rPr sz="2200">
                <a:solidFill>
                  <a:srgbClr val="323130"/>
                </a:solidFill>
                <a:latin typeface="Meiryo"/>
                <a:ea typeface="Meiryo"/>
              </a:rPr>
              <a:t>• /plugin marketplace add microsoft/azure-skills</a:t>
            </a:r>
          </a:p>
          <a:p>
            <a:pPr>
              <a:spcAft>
                <a:spcPts val="500"/>
              </a:spcAft>
            </a:pPr>
            <a:r>
              <a:rPr sz="2200">
                <a:solidFill>
                  <a:srgbClr val="323130"/>
                </a:solidFill>
                <a:latin typeface="Meiryo"/>
                <a:ea typeface="Meiryo"/>
              </a:rPr>
              <a:t>• /plugin install azure@azure-skills</a:t>
            </a:r>
          </a:p>
          <a:p>
            <a:pPr>
              <a:spcAft>
                <a:spcPts val="500"/>
              </a:spcAft>
            </a:pPr>
            <a:r>
              <a:rPr sz="2200">
                <a:solidFill>
                  <a:srgbClr val="323130"/>
                </a:solidFill>
                <a:latin typeface="Meiryo"/>
                <a:ea typeface="Meiryo"/>
              </a:rPr>
              <a:t>• /reload-plugins</a:t>
            </a:r>
          </a:p>
          <a:p>
            <a:pPr>
              <a:spcAft>
                <a:spcPts val="400"/>
              </a:spcAft>
            </a:pPr>
            <a:r>
              <a:rPr sz="2200">
                <a:solidFill>
                  <a:srgbClr val="323130"/>
                </a:solidFill>
                <a:latin typeface="Meiryo"/>
                <a:ea typeface="Meiryo"/>
              </a:rPr>
              <a:t>&gt; 「HCCJP 第72回勉強会のウェルカムページを作って、Azure Static Web Apps にデプロイして」</a:t>
            </a:r>
          </a:p>
          <a:p>
            <a:pPr>
              <a:spcAft>
                <a:spcPts val="400"/>
              </a:spcAft>
            </a:pPr>
            <a:r>
              <a:rPr sz="2200" b="1">
                <a:solidFill>
                  <a:srgbClr val="323130"/>
                </a:solidFill>
                <a:latin typeface="Meiryo"/>
                <a:ea typeface="Meiryo"/>
              </a:rPr>
              <a:t>→ 実演します（画面共有）</a:t>
            </a:r>
          </a:p>
        </p:txBody>
      </p:sp>
      <p:sp>
        <p:nvSpPr>
          <p:cNvPr id="6" name="TextBox 5"/>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7 / 38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77240"/>
            <a:ext cx="11183112" cy="5486400"/>
          </a:xfrm>
          <a:prstGeom prst="rect">
            <a:avLst/>
          </a:prstGeom>
          <a:noFill/>
        </p:spPr>
        <p:txBody>
          <a:bodyPr wrap="square" anchor="ctr">
            <a:normAutofit/>
          </a:bodyPr>
          <a:lstStyle/>
          <a:p>
            <a:pPr algn="ctr">
              <a:spcAft>
                <a:spcPts val="800"/>
              </a:spcAft>
            </a:pPr>
            <a:r>
              <a:rPr sz="4800" b="1">
                <a:solidFill>
                  <a:srgbClr val="0078D4"/>
                </a:solidFill>
                <a:latin typeface="Meiryo"/>
                <a:ea typeface="Meiryo"/>
              </a:rPr>
              <a:t>何が起きたのか？</a:t>
            </a:r>
          </a:p>
          <a:p>
            <a:pPr algn="ctr">
              <a:spcAft>
                <a:spcPts val="800"/>
              </a:spcAft>
            </a:pPr>
            <a:r>
              <a:rPr sz="3300">
                <a:solidFill>
                  <a:srgbClr val="0078D4"/>
                </a:solidFill>
                <a:latin typeface="Meiryo"/>
                <a:ea typeface="Meiryo"/>
              </a:rPr>
              <a:t>ここからは「種明かし」です</a:t>
            </a:r>
          </a:p>
        </p:txBody>
      </p:sp>
      <p:sp>
        <p:nvSpPr>
          <p:cNvPr id="4" name="TextBox 3"/>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8 / 38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AIコーディングエージェントの現在地</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4328160"/>
          </a:xfrm>
          <a:prstGeom prst="rect">
            <a:avLst/>
          </a:prstGeom>
          <a:noFill/>
        </p:spPr>
        <p:txBody>
          <a:bodyPr wrap="square">
            <a:normAutofit/>
          </a:bodyPr>
          <a:lstStyle/>
          <a:p>
            <a:pPr>
              <a:spcAft>
                <a:spcPts val="700"/>
              </a:spcAft>
            </a:pPr>
            <a:r>
              <a:rPr sz="3000">
                <a:solidFill>
                  <a:srgbClr val="323130"/>
                </a:solidFill>
                <a:latin typeface="Meiryo"/>
                <a:ea typeface="Meiryo"/>
              </a:rPr>
              <a:t>• </a:t>
            </a:r>
            <a:r>
              <a:rPr sz="3000" b="1">
                <a:solidFill>
                  <a:srgbClr val="323130"/>
                </a:solidFill>
                <a:latin typeface="Meiryo"/>
                <a:ea typeface="Meiryo"/>
              </a:rPr>
              <a:t>Claude Code</a:t>
            </a:r>
            <a:r>
              <a:rPr sz="3000">
                <a:solidFill>
                  <a:srgbClr val="323130"/>
                </a:solidFill>
                <a:latin typeface="Meiryo"/>
                <a:ea typeface="Meiryo"/>
              </a:rPr>
              <a:t> / </a:t>
            </a:r>
            <a:r>
              <a:rPr sz="3000" b="1">
                <a:solidFill>
                  <a:srgbClr val="323130"/>
                </a:solidFill>
                <a:latin typeface="Meiryo"/>
                <a:ea typeface="Meiryo"/>
              </a:rPr>
              <a:t>GitHub Copilot</a:t>
            </a:r>
            <a:r>
              <a:rPr sz="3000">
                <a:solidFill>
                  <a:srgbClr val="323130"/>
                </a:solidFill>
                <a:latin typeface="Meiryo"/>
                <a:ea typeface="Meiryo"/>
              </a:rPr>
              <a:t> / </a:t>
            </a:r>
            <a:r>
              <a:rPr sz="3000" b="1">
                <a:solidFill>
                  <a:srgbClr val="323130"/>
                </a:solidFill>
                <a:latin typeface="Meiryo"/>
                <a:ea typeface="Meiryo"/>
              </a:rPr>
              <a:t>OpenAI Codex</a:t>
            </a:r>
            <a:r>
              <a:rPr sz="3000">
                <a:solidFill>
                  <a:srgbClr val="323130"/>
                </a:solidFill>
                <a:latin typeface="Meiryo"/>
                <a:ea typeface="Meiryo"/>
              </a:rPr>
              <a:t> ...</a:t>
            </a:r>
          </a:p>
          <a:p>
            <a:pPr>
              <a:spcAft>
                <a:spcPts val="700"/>
              </a:spcAft>
            </a:pPr>
            <a:r>
              <a:rPr sz="3000">
                <a:solidFill>
                  <a:srgbClr val="323130"/>
                </a:solidFill>
                <a:latin typeface="Meiryo"/>
                <a:ea typeface="Meiryo"/>
              </a:rPr>
              <a:t>• コードを書くだけでなく、</a:t>
            </a:r>
            <a:r>
              <a:rPr sz="3000" b="1">
                <a:solidFill>
                  <a:srgbClr val="323130"/>
                </a:solidFill>
                <a:latin typeface="Meiryo"/>
                <a:ea typeface="Meiryo"/>
              </a:rPr>
              <a:t>インフラの設計・構築・運用</a:t>
            </a:r>
            <a:r>
              <a:rPr sz="3000">
                <a:solidFill>
                  <a:srgbClr val="323130"/>
                </a:solidFill>
                <a:latin typeface="Meiryo"/>
                <a:ea typeface="Meiryo"/>
              </a:rPr>
              <a:t>まで</a:t>
            </a:r>
          </a:p>
          <a:p>
            <a:pPr>
              <a:spcAft>
                <a:spcPts val="700"/>
              </a:spcAft>
            </a:pPr>
            <a:r>
              <a:rPr sz="3000">
                <a:solidFill>
                  <a:srgbClr val="323130"/>
                </a:solidFill>
                <a:latin typeface="Meiryo"/>
                <a:ea typeface="Meiryo"/>
              </a:rPr>
              <a:t>• でも「Azure の正しい使い方」を知らないと...</a:t>
            </a:r>
          </a:p>
          <a:p>
            <a:pPr>
              <a:spcAft>
                <a:spcPts val="700"/>
              </a:spcAft>
            </a:pPr>
            <a:r>
              <a:rPr sz="3000">
                <a:solidFill>
                  <a:srgbClr val="323130"/>
                </a:solidFill>
                <a:latin typeface="Meiryo"/>
                <a:ea typeface="Meiryo"/>
              </a:rPr>
              <a:t>    • 古いAPIを使う、ベストプラクティスに反する、セキュリティリスク</a:t>
            </a:r>
          </a:p>
          <a:p>
            <a:pPr>
              <a:spcAft>
                <a:spcPts val="600"/>
              </a:spcAft>
            </a:pPr>
            <a:r>
              <a:rPr sz="3000" b="1">
                <a:solidFill>
                  <a:srgbClr val="323130"/>
                </a:solidFill>
                <a:latin typeface="Meiryo"/>
                <a:ea typeface="Meiryo"/>
              </a:rPr>
              <a:t>→ AIエージェントに「正しいAzureの知識」を教える必要がある</a:t>
            </a:r>
          </a:p>
        </p:txBody>
      </p:sp>
      <p:sp>
        <p:nvSpPr>
          <p:cNvPr id="6" name="TextBox 5"/>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9 / 38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Agent Skills とは？（30秒で）</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3314700"/>
          </a:xfrm>
          <a:prstGeom prst="rect">
            <a:avLst/>
          </a:prstGeom>
          <a:noFill/>
        </p:spPr>
        <p:txBody>
          <a:bodyPr wrap="square">
            <a:normAutofit/>
          </a:bodyPr>
          <a:lstStyle/>
          <a:p>
            <a:pPr>
              <a:spcAft>
                <a:spcPts val="600"/>
              </a:spcAft>
            </a:pPr>
            <a:r>
              <a:rPr sz="2600">
                <a:solidFill>
                  <a:srgbClr val="323130"/>
                </a:solidFill>
                <a:latin typeface="Meiryo"/>
                <a:ea typeface="Meiryo"/>
              </a:rPr>
              <a:t>• </a:t>
            </a:r>
            <a:r>
              <a:rPr sz="2600" b="1">
                <a:solidFill>
                  <a:srgbClr val="323130"/>
                </a:solidFill>
                <a:latin typeface="Meiryo"/>
                <a:ea typeface="Meiryo"/>
              </a:rPr>
              <a:t>AIエージェントに専門知識を与えるmarkdownファイル群</a:t>
            </a:r>
          </a:p>
          <a:p>
            <a:pPr>
              <a:spcAft>
                <a:spcPts val="600"/>
              </a:spcAft>
            </a:pPr>
            <a:r>
              <a:rPr sz="2600">
                <a:solidFill>
                  <a:srgbClr val="323130"/>
                </a:solidFill>
                <a:latin typeface="Meiryo"/>
                <a:ea typeface="Meiryo"/>
              </a:rPr>
              <a:t>• LLMは事前学習でAzureの知識を持っている。でも古い・不正確・ベストプラクティスの欠如・hallucinationのリスク</a:t>
            </a:r>
          </a:p>
          <a:p>
            <a:pPr>
              <a:spcAft>
                <a:spcPts val="600"/>
              </a:spcAft>
            </a:pPr>
            <a:r>
              <a:rPr sz="2600">
                <a:solidFill>
                  <a:srgbClr val="323130"/>
                </a:solidFill>
                <a:latin typeface="Meiryo"/>
                <a:ea typeface="Meiryo"/>
              </a:rPr>
              <a:t>• スキル = </a:t>
            </a:r>
            <a:r>
              <a:rPr sz="2600" b="1">
                <a:solidFill>
                  <a:srgbClr val="323130"/>
                </a:solidFill>
                <a:latin typeface="Meiryo"/>
                <a:ea typeface="Meiryo"/>
              </a:rPr>
              <a:t>最新で正確な公式知識をコンテキストとして注入する仕組み</a:t>
            </a:r>
          </a:p>
        </p:txBody>
      </p:sp>
      <p:sp>
        <p:nvSpPr>
          <p:cNvPr id="6" name="Rectangle 5"/>
          <p:cNvSpPr/>
          <p:nvPr/>
        </p:nvSpPr>
        <p:spPr>
          <a:xfrm>
            <a:off x="502920" y="5067299"/>
            <a:ext cx="11183112" cy="9220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500">
                <a:solidFill>
                  <a:srgbClr val="323130"/>
                </a:solidFill>
                <a:latin typeface="Consolas"/>
                <a:ea typeface="Consolas"/>
              </a:rPr>
              <a:t>plugins/marketplaces/azure-skills/skills/
├── appinsights-instrumentation/
│   └── SKILL.md          ← これがスキル本体
├── azure-ai/
│   └── SKILL.md
└── ...</a:t>
            </a:r>
          </a:p>
        </p:txBody>
      </p:sp>
      <p:sp>
        <p:nvSpPr>
          <p:cNvPr id="7" name="TextBox 6"/>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10 / 38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Microsoft公式: 3つのリポジトリ</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661160"/>
          <a:ext cx="11183112" cy="1757680"/>
        </p:xfrm>
        <a:graphic>
          <a:graphicData uri="http://schemas.openxmlformats.org/drawingml/2006/table">
            <a:tbl>
              <a:tblPr firstRow="1" bandRow="1">
                <a:tableStyleId>{5C22544A-7EE6-4342-B048-85BDC9FD1C3A}</a:tableStyleId>
              </a:tblPr>
              <a:tblGrid>
                <a:gridCol w="3727704"/>
                <a:gridCol w="3727704"/>
                <a:gridCol w="3727704"/>
              </a:tblGrid>
              <a:tr h="439420">
                <a:tc>
                  <a:txBody>
                    <a:bodyPr/>
                    <a:lstStyle/>
                    <a:p>
                      <a:r>
                        <a:rPr sz="1400" b="1">
                          <a:solidFill>
                            <a:srgbClr val="243A5E"/>
                          </a:solidFill>
                          <a:latin typeface="Meiryo"/>
                          <a:ea typeface="Meiryo"/>
                        </a:rPr>
                        <a:t>リポジトリ</a:t>
                      </a:r>
                    </a:p>
                  </a:txBody>
                  <a:tcPr>
                    <a:solidFill>
                      <a:srgbClr val="E8F0FE"/>
                    </a:solidFill>
                  </a:tcPr>
                </a:tc>
                <a:tc>
                  <a:txBody>
                    <a:bodyPr/>
                    <a:lstStyle/>
                    <a:p>
                      <a:r>
                        <a:rPr sz="1400" b="1">
                          <a:solidFill>
                            <a:srgbClr val="243A5E"/>
                          </a:solidFill>
                          <a:latin typeface="Meiryo"/>
                          <a:ea typeface="Meiryo"/>
                        </a:rPr>
                        <a:t>役割</a:t>
                      </a:r>
                    </a:p>
                  </a:txBody>
                  <a:tcPr>
                    <a:solidFill>
                      <a:srgbClr val="E8F0FE"/>
                    </a:solidFill>
                  </a:tcPr>
                </a:tc>
                <a:tc>
                  <a:txBody>
                    <a:bodyPr/>
                    <a:lstStyle/>
                    <a:p>
                      <a:r>
                        <a:rPr sz="1400" b="1">
                          <a:solidFill>
                            <a:srgbClr val="243A5E"/>
                          </a:solidFill>
                          <a:latin typeface="Meiryo"/>
                          <a:ea typeface="Meiryo"/>
                        </a:rPr>
                        <a:t>スキル数</a:t>
                      </a:r>
                    </a:p>
                  </a:txBody>
                  <a:tcPr>
                    <a:solidFill>
                      <a:srgbClr val="E8F0FE"/>
                    </a:solidFill>
                  </a:tcPr>
                </a:tc>
              </a:tr>
              <a:tr h="439420">
                <a:tc>
                  <a:txBody>
                    <a:bodyPr/>
                    <a:lstStyle/>
                    <a:p>
                      <a:r>
                        <a:rPr sz="1400">
                          <a:solidFill>
                            <a:srgbClr val="323130"/>
                          </a:solidFill>
                          <a:latin typeface="Meiryo"/>
                          <a:ea typeface="Meiryo"/>
                        </a:rPr>
                        <a:t>microsoft/skills</a:t>
                      </a:r>
                    </a:p>
                  </a:txBody>
                  <a:tcPr/>
                </a:tc>
                <a:tc>
                  <a:txBody>
                    <a:bodyPr/>
                    <a:lstStyle/>
                    <a:p>
                      <a:r>
                        <a:rPr sz="1400">
                          <a:solidFill>
                            <a:srgbClr val="323130"/>
                          </a:solidFill>
                          <a:latin typeface="Meiryo"/>
                          <a:ea typeface="Meiryo"/>
                        </a:rPr>
                        <a:t>SDK開発支援（コードの書き方）</a:t>
                      </a:r>
                    </a:p>
                  </a:txBody>
                  <a:tcPr/>
                </a:tc>
                <a:tc>
                  <a:txBody>
                    <a:bodyPr/>
                    <a:lstStyle/>
                    <a:p>
                      <a:r>
                        <a:rPr sz="1400">
                          <a:solidFill>
                            <a:srgbClr val="323130"/>
                          </a:solidFill>
                          <a:latin typeface="Meiryo"/>
                          <a:ea typeface="Meiryo"/>
                        </a:rPr>
                        <a:t>132</a:t>
                      </a:r>
                    </a:p>
                  </a:txBody>
                  <a:tcPr/>
                </a:tc>
              </a:tr>
              <a:tr h="439420">
                <a:tc>
                  <a:txBody>
                    <a:bodyPr/>
                    <a:lstStyle/>
                    <a:p>
                      <a:r>
                        <a:rPr sz="1400">
                          <a:solidFill>
                            <a:srgbClr val="323130"/>
                          </a:solidFill>
                          <a:latin typeface="Meiryo"/>
                          <a:ea typeface="Meiryo"/>
                        </a:rPr>
                        <a:t>microsoft/azure-skills</a:t>
                      </a:r>
                    </a:p>
                  </a:txBody>
                  <a:tcPr/>
                </a:tc>
                <a:tc>
                  <a:txBody>
                    <a:bodyPr/>
                    <a:lstStyle/>
                    <a:p>
                      <a:r>
                        <a:rPr sz="1400">
                          <a:solidFill>
                            <a:srgbClr val="323130"/>
                          </a:solidFill>
                          <a:latin typeface="Meiryo"/>
                          <a:ea typeface="Meiryo"/>
                        </a:rPr>
                        <a:t>運用支援（リソースの操作）</a:t>
                      </a:r>
                    </a:p>
                  </a:txBody>
                  <a:tcPr/>
                </a:tc>
                <a:tc>
                  <a:txBody>
                    <a:bodyPr/>
                    <a:lstStyle/>
                    <a:p>
                      <a:r>
                        <a:rPr sz="1400">
                          <a:solidFill>
                            <a:srgbClr val="323130"/>
                          </a:solidFill>
                          <a:latin typeface="Meiryo"/>
                          <a:ea typeface="Meiryo"/>
                        </a:rPr>
                        <a:t>24 + 2 MCP</a:t>
                      </a:r>
                    </a:p>
                  </a:txBody>
                  <a:tcPr/>
                </a:tc>
              </a:tr>
              <a:tr h="439420">
                <a:tc>
                  <a:txBody>
                    <a:bodyPr/>
                    <a:lstStyle/>
                    <a:p>
                      <a:r>
                        <a:rPr sz="1400">
                          <a:solidFill>
                            <a:srgbClr val="323130"/>
                          </a:solidFill>
                          <a:latin typeface="Meiryo"/>
                          <a:ea typeface="Meiryo"/>
                        </a:rPr>
                        <a:t>MicrosoftDocs/Agent-Skills</a:t>
                      </a:r>
                    </a:p>
                  </a:txBody>
                  <a:tcPr/>
                </a:tc>
                <a:tc>
                  <a:txBody>
                    <a:bodyPr/>
                    <a:lstStyle/>
                    <a:p>
                      <a:r>
                        <a:rPr sz="1400">
                          <a:solidFill>
                            <a:srgbClr val="323130"/>
                          </a:solidFill>
                          <a:latin typeface="Meiryo"/>
                          <a:ea typeface="Meiryo"/>
                        </a:rPr>
                        <a:t>サービス知識の百科事典</a:t>
                      </a:r>
                    </a:p>
                  </a:txBody>
                  <a:tcPr/>
                </a:tc>
                <a:tc>
                  <a:txBody>
                    <a:bodyPr/>
                    <a:lstStyle/>
                    <a:p>
                      <a:r>
                        <a:rPr sz="1400">
                          <a:solidFill>
                            <a:srgbClr val="323130"/>
                          </a:solidFill>
                          <a:latin typeface="Meiryo"/>
                          <a:ea typeface="Meiryo"/>
                        </a:rPr>
                        <a:t>192</a:t>
                      </a:r>
                    </a:p>
                  </a:txBody>
                  <a:tcPr/>
                </a:tc>
              </a:tr>
            </a:tbl>
          </a:graphicData>
        </a:graphic>
      </p:graphicFrame>
      <p:sp>
        <p:nvSpPr>
          <p:cNvPr id="6" name="TextBox 5"/>
          <p:cNvSpPr txBox="1"/>
          <p:nvPr/>
        </p:nvSpPr>
        <p:spPr>
          <a:xfrm>
            <a:off x="502920" y="3510280"/>
            <a:ext cx="11183112" cy="2397759"/>
          </a:xfrm>
          <a:prstGeom prst="rect">
            <a:avLst/>
          </a:prstGeom>
          <a:noFill/>
        </p:spPr>
        <p:txBody>
          <a:bodyPr wrap="square">
            <a:normAutofit/>
          </a:bodyPr>
          <a:lstStyle/>
          <a:p>
            <a:pPr>
              <a:spcAft>
                <a:spcPts val="400"/>
              </a:spcAft>
            </a:pPr>
            <a:r>
              <a:rPr sz="2100" b="1">
                <a:solidFill>
                  <a:srgbClr val="323130"/>
                </a:solidFill>
                <a:latin typeface="Meiryo"/>
                <a:ea typeface="Meiryo"/>
              </a:rPr>
              <a:t>3つは「レイヤーが違う」</a:t>
            </a:r>
          </a:p>
          <a:p>
            <a:pPr>
              <a:spcAft>
                <a:spcPts val="500"/>
              </a:spcAft>
            </a:pPr>
            <a:r>
              <a:rPr sz="2100">
                <a:solidFill>
                  <a:srgbClr val="323130"/>
                </a:solidFill>
                <a:latin typeface="Meiryo"/>
                <a:ea typeface="Meiryo"/>
              </a:rPr>
              <a:t>• skills = SDK開発支援—「Azure SDKを使ってどうコードを書くか」</a:t>
            </a:r>
          </a:p>
          <a:p>
            <a:pPr>
              <a:spcAft>
                <a:spcPts val="500"/>
              </a:spcAft>
            </a:pPr>
            <a:r>
              <a:rPr sz="2100">
                <a:solidFill>
                  <a:srgbClr val="323130"/>
                </a:solidFill>
                <a:latin typeface="Meiryo"/>
                <a:ea typeface="Meiryo"/>
              </a:rPr>
              <a:t>• azure-skills = 運用支援—「Azureリソースをどう設計・デプロイ・管理するか」</a:t>
            </a:r>
          </a:p>
          <a:p>
            <a:pPr>
              <a:spcAft>
                <a:spcPts val="500"/>
              </a:spcAft>
            </a:pPr>
            <a:r>
              <a:rPr sz="2100">
                <a:solidFill>
                  <a:srgbClr val="323130"/>
                </a:solidFill>
                <a:latin typeface="Meiryo"/>
                <a:ea typeface="Meiryo"/>
              </a:rPr>
              <a:t>• Agent-Skills = サービス知識—「各Azureサービスについて何を知るべきか」</a:t>
            </a:r>
          </a:p>
        </p:txBody>
      </p:sp>
      <p:sp>
        <p:nvSpPr>
          <p:cNvPr id="7" name="TextBox 6"/>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11 / 38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なぜ3つに分かれているのか？</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699770"/>
          </a:xfrm>
          <a:prstGeom prst="rect">
            <a:avLst/>
          </a:prstGeom>
          <a:noFill/>
        </p:spPr>
        <p:txBody>
          <a:bodyPr wrap="square">
            <a:normAutofit/>
          </a:bodyPr>
          <a:lstStyle/>
          <a:p>
            <a:pPr>
              <a:spcAft>
                <a:spcPts val="300"/>
              </a:spcAft>
            </a:pPr>
            <a:r>
              <a:rPr sz="1500" b="1">
                <a:solidFill>
                  <a:srgbClr val="323130"/>
                </a:solidFill>
                <a:latin typeface="Meiryo"/>
                <a:ea typeface="Meiryo"/>
              </a:rPr>
              <a:t>答え: 出自と目的が違う</a:t>
            </a:r>
          </a:p>
        </p:txBody>
      </p:sp>
      <p:graphicFrame>
        <p:nvGraphicFramePr>
          <p:cNvPr id="6" name="Table 5"/>
          <p:cNvGraphicFramePr>
            <a:graphicFrameLocks noGrp="1"/>
          </p:cNvGraphicFramePr>
          <p:nvPr/>
        </p:nvGraphicFramePr>
        <p:xfrm>
          <a:off x="502920" y="2452370"/>
          <a:ext cx="11183112" cy="2214880"/>
        </p:xfrm>
        <a:graphic>
          <a:graphicData uri="http://schemas.openxmlformats.org/drawingml/2006/table">
            <a:tbl>
              <a:tblPr firstRow="1" bandRow="1">
                <a:tableStyleId>{5C22544A-7EE6-4342-B048-85BDC9FD1C3A}</a:tableStyleId>
              </a:tblPr>
              <a:tblGrid>
                <a:gridCol w="2795778"/>
                <a:gridCol w="2795778"/>
                <a:gridCol w="2795778"/>
                <a:gridCol w="2795778"/>
              </a:tblGrid>
              <a:tr h="553720">
                <a:tc>
                  <a:txBody>
                    <a:bodyPr/>
                    <a:lstStyle/>
                    <a:p>
                      <a:r>
                        <a:rPr sz="1000" b="1">
                          <a:solidFill>
                            <a:srgbClr val="243A5E"/>
                          </a:solidFill>
                          <a:latin typeface="Meiryo"/>
                          <a:ea typeface="Meiryo"/>
                        </a:rPr>
                        <a:t>リポジトリ</a:t>
                      </a:r>
                    </a:p>
                  </a:txBody>
                  <a:tcPr>
                    <a:solidFill>
                      <a:srgbClr val="E8F0FE"/>
                    </a:solidFill>
                  </a:tcPr>
                </a:tc>
                <a:tc>
                  <a:txBody>
                    <a:bodyPr/>
                    <a:lstStyle/>
                    <a:p>
                      <a:r>
                        <a:rPr sz="1000" b="1">
                          <a:solidFill>
                            <a:srgbClr val="243A5E"/>
                          </a:solidFill>
                          <a:latin typeface="Meiryo"/>
                          <a:ea typeface="Meiryo"/>
                        </a:rPr>
                        <a:t>GitHub Org</a:t>
                      </a:r>
                    </a:p>
                  </a:txBody>
                  <a:tcPr>
                    <a:solidFill>
                      <a:srgbClr val="E8F0FE"/>
                    </a:solidFill>
                  </a:tcPr>
                </a:tc>
                <a:tc>
                  <a:txBody>
                    <a:bodyPr/>
                    <a:lstStyle/>
                    <a:p>
                      <a:r>
                        <a:rPr sz="1000" b="1">
                          <a:solidFill>
                            <a:srgbClr val="243A5E"/>
                          </a:solidFill>
                          <a:latin typeface="Meiryo"/>
                          <a:ea typeface="Meiryo"/>
                        </a:rPr>
                        <a:t>作成日</a:t>
                      </a:r>
                    </a:p>
                  </a:txBody>
                  <a:tcPr>
                    <a:solidFill>
                      <a:srgbClr val="E8F0FE"/>
                    </a:solidFill>
                  </a:tcPr>
                </a:tc>
                <a:tc>
                  <a:txBody>
                    <a:bodyPr/>
                    <a:lstStyle/>
                    <a:p>
                      <a:r>
                        <a:rPr sz="1000" b="1">
                          <a:solidFill>
                            <a:srgbClr val="243A5E"/>
                          </a:solidFill>
                          <a:latin typeface="Meiryo"/>
                          <a:ea typeface="Meiryo"/>
                        </a:rPr>
                        <a:t>確認できた出自</a:t>
                      </a:r>
                    </a:p>
                  </a:txBody>
                  <a:tcPr>
                    <a:solidFill>
                      <a:srgbClr val="E8F0FE"/>
                    </a:solidFill>
                  </a:tcPr>
                </a:tc>
              </a:tr>
              <a:tr h="553720">
                <a:tc>
                  <a:txBody>
                    <a:bodyPr/>
                    <a:lstStyle/>
                    <a:p>
                      <a:r>
                        <a:rPr sz="1000">
                          <a:solidFill>
                            <a:srgbClr val="323130"/>
                          </a:solidFill>
                          <a:latin typeface="Meiryo"/>
                          <a:ea typeface="Meiryo"/>
                        </a:rPr>
                        <a:t>microsoft/skills</a:t>
                      </a:r>
                    </a:p>
                  </a:txBody>
                  <a:tcPr/>
                </a:tc>
                <a:tc>
                  <a:txBody>
                    <a:bodyPr/>
                    <a:lstStyle/>
                    <a:p>
                      <a:r>
                        <a:rPr sz="1000">
                          <a:solidFill>
                            <a:srgbClr val="323130"/>
                          </a:solidFill>
                          <a:latin typeface="Meiryo"/>
                          <a:ea typeface="Meiryo"/>
                        </a:rPr>
                        <a:t>microsoft</a:t>
                      </a:r>
                    </a:p>
                  </a:txBody>
                  <a:tcPr/>
                </a:tc>
                <a:tc>
                  <a:txBody>
                    <a:bodyPr/>
                    <a:lstStyle/>
                    <a:p>
                      <a:r>
                        <a:rPr sz="1000">
                          <a:solidFill>
                            <a:srgbClr val="323130"/>
                          </a:solidFill>
                          <a:latin typeface="Meiryo"/>
                          <a:ea typeface="Meiryo"/>
                        </a:rPr>
                        <a:t>2026-01-16</a:t>
                      </a:r>
                    </a:p>
                  </a:txBody>
                  <a:tcPr/>
                </a:tc>
                <a:tc>
                  <a:txBody>
                    <a:bodyPr/>
                    <a:lstStyle/>
                    <a:p>
                      <a:r>
                        <a:rPr sz="1000">
                          <a:solidFill>
                            <a:srgbClr val="323130"/>
                          </a:solidFill>
                          <a:latin typeface="Meiryo"/>
                          <a:ea typeface="Meiryo"/>
                        </a:rPr>
                        <a:t>Azure SDK / Foundry開発向けの Agent Skills リポジトリ</a:t>
                      </a:r>
                    </a:p>
                  </a:txBody>
                  <a:tcPr/>
                </a:tc>
              </a:tr>
              <a:tr h="553720">
                <a:tc>
                  <a:txBody>
                    <a:bodyPr/>
                    <a:lstStyle/>
                    <a:p>
                      <a:r>
                        <a:rPr sz="1000">
                          <a:solidFill>
                            <a:srgbClr val="323130"/>
                          </a:solidFill>
                          <a:latin typeface="Meiryo"/>
                          <a:ea typeface="Meiryo"/>
                        </a:rPr>
                        <a:t>microsoft/azure-skills</a:t>
                      </a:r>
                    </a:p>
                  </a:txBody>
                  <a:tcPr/>
                </a:tc>
                <a:tc>
                  <a:txBody>
                    <a:bodyPr/>
                    <a:lstStyle/>
                    <a:p>
                      <a:r>
                        <a:rPr sz="1000">
                          <a:solidFill>
                            <a:srgbClr val="323130"/>
                          </a:solidFill>
                          <a:latin typeface="Meiryo"/>
                          <a:ea typeface="Meiryo"/>
                        </a:rPr>
                        <a:t>microsoft</a:t>
                      </a:r>
                    </a:p>
                  </a:txBody>
                  <a:tcPr/>
                </a:tc>
                <a:tc>
                  <a:txBody>
                    <a:bodyPr/>
                    <a:lstStyle/>
                    <a:p>
                      <a:r>
                        <a:rPr sz="1000">
                          <a:solidFill>
                            <a:srgbClr val="323130"/>
                          </a:solidFill>
                          <a:latin typeface="Meiryo"/>
                          <a:ea typeface="Meiryo"/>
                        </a:rPr>
                        <a:t>2026-02-26</a:t>
                      </a:r>
                    </a:p>
                  </a:txBody>
                  <a:tcPr/>
                </a:tc>
                <a:tc>
                  <a:txBody>
                    <a:bodyPr/>
                    <a:lstStyle/>
                    <a:p>
                      <a:r>
                        <a:rPr sz="1000">
                          <a:solidFill>
                            <a:srgbClr val="323130"/>
                          </a:solidFill>
                          <a:latin typeface="Meiryo"/>
                          <a:ea typeface="Meiryo"/>
                        </a:rPr>
                        <a:t>Azure Skills Plugin。GitHub-Copilot-for-Azure から同期される plugin リポジトリ</a:t>
                      </a:r>
                    </a:p>
                  </a:txBody>
                  <a:tcPr/>
                </a:tc>
              </a:tr>
              <a:tr h="553720">
                <a:tc>
                  <a:txBody>
                    <a:bodyPr/>
                    <a:lstStyle/>
                    <a:p>
                      <a:r>
                        <a:rPr sz="1000">
                          <a:solidFill>
                            <a:srgbClr val="323130"/>
                          </a:solidFill>
                          <a:latin typeface="Meiryo"/>
                          <a:ea typeface="Meiryo"/>
                        </a:rPr>
                        <a:t>MicrosoftDocs/Agent-Skills</a:t>
                      </a:r>
                    </a:p>
                  </a:txBody>
                  <a:tcPr/>
                </a:tc>
                <a:tc>
                  <a:txBody>
                    <a:bodyPr/>
                    <a:lstStyle/>
                    <a:p>
                      <a:r>
                        <a:rPr sz="1000">
                          <a:solidFill>
                            <a:srgbClr val="323130"/>
                          </a:solidFill>
                          <a:latin typeface="Meiryo"/>
                          <a:ea typeface="Meiryo"/>
                        </a:rPr>
                        <a:t>MicrosoftDocs</a:t>
                      </a:r>
                    </a:p>
                  </a:txBody>
                  <a:tcPr/>
                </a:tc>
                <a:tc>
                  <a:txBody>
                    <a:bodyPr/>
                    <a:lstStyle/>
                    <a:p>
                      <a:r>
                        <a:rPr sz="1000">
                          <a:solidFill>
                            <a:srgbClr val="323130"/>
                          </a:solidFill>
                          <a:latin typeface="Meiryo"/>
                          <a:ea typeface="Meiryo"/>
                        </a:rPr>
                        <a:t>2026-01-27</a:t>
                      </a:r>
                    </a:p>
                  </a:txBody>
                  <a:tcPr/>
                </a:tc>
                <a:tc>
                  <a:txBody>
                    <a:bodyPr/>
                    <a:lstStyle/>
                    <a:p>
                      <a:r>
                        <a:rPr sz="1000">
                          <a:solidFill>
                            <a:srgbClr val="323130"/>
                          </a:solidFill>
                          <a:latin typeface="Meiryo"/>
                          <a:ea typeface="Meiryo"/>
                        </a:rPr>
                        <a:t>Microsoft Learn ドキュメントを事前コンパイルした skill 群</a:t>
                      </a:r>
                    </a:p>
                  </a:txBody>
                  <a:tcPr/>
                </a:tc>
              </a:tr>
            </a:tbl>
          </a:graphicData>
        </a:graphic>
      </p:graphicFrame>
      <p:sp>
        <p:nvSpPr>
          <p:cNvPr id="7" name="TextBox 6"/>
          <p:cNvSpPr txBox="1"/>
          <p:nvPr/>
        </p:nvSpPr>
        <p:spPr>
          <a:xfrm>
            <a:off x="502920" y="4758690"/>
            <a:ext cx="11183112" cy="1230630"/>
          </a:xfrm>
          <a:prstGeom prst="rect">
            <a:avLst/>
          </a:prstGeom>
          <a:noFill/>
        </p:spPr>
        <p:txBody>
          <a:bodyPr wrap="square">
            <a:normAutofit/>
          </a:bodyPr>
          <a:lstStyle/>
          <a:p>
            <a:pPr>
              <a:spcAft>
                <a:spcPts val="300"/>
              </a:spcAft>
            </a:pPr>
            <a:r>
              <a:rPr sz="1500">
                <a:solidFill>
                  <a:srgbClr val="323130"/>
                </a:solidFill>
                <a:latin typeface="Meiryo"/>
                <a:ea typeface="Meiryo"/>
              </a:rPr>
              <a:t>• 1月 — SDK/Foundry開発の skill catalog として登場</a:t>
            </a:r>
          </a:p>
          <a:p>
            <a:pPr>
              <a:spcAft>
                <a:spcPts val="300"/>
              </a:spcAft>
            </a:pPr>
            <a:r>
              <a:rPr sz="1500">
                <a:solidFill>
                  <a:srgbClr val="323130"/>
                </a:solidFill>
                <a:latin typeface="Meiryo"/>
                <a:ea typeface="Meiryo"/>
              </a:rPr>
              <a:t>• 1月末 — Learn の知識を service skill として再構成</a:t>
            </a:r>
          </a:p>
          <a:p>
            <a:pPr>
              <a:spcAft>
                <a:spcPts val="300"/>
              </a:spcAft>
            </a:pPr>
            <a:r>
              <a:rPr sz="1500">
                <a:solidFill>
                  <a:srgbClr val="323130"/>
                </a:solidFill>
                <a:latin typeface="Meiryo"/>
                <a:ea typeface="Meiryo"/>
              </a:rPr>
              <a:t>• 2月末 — skills + Azure MCP + Foundry MCP を束ねる plugin として公開</a:t>
            </a:r>
          </a:p>
          <a:p>
            <a:pPr>
              <a:spcAft>
                <a:spcPts val="300"/>
              </a:spcAft>
            </a:pPr>
            <a:r>
              <a:rPr sz="1500" b="1">
                <a:solidFill>
                  <a:srgbClr val="323130"/>
                </a:solidFill>
                <a:latin typeface="Meiryo"/>
                <a:ea typeface="Meiryo"/>
              </a:rPr>
              <a:t>→ 少なくとも公開情報から言えるのは、3つは別の目的と配布導線から生まれている、ということ</a:t>
            </a:r>
          </a:p>
        </p:txBody>
      </p:sp>
      <p:sp>
        <p:nvSpPr>
          <p:cNvPr id="8" name="TextBox 7"/>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12 / 38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① microsoft/skills（⭐1,900+）</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742950"/>
          </a:xfrm>
          <a:prstGeom prst="rect">
            <a:avLst/>
          </a:prstGeom>
          <a:noFill/>
        </p:spPr>
        <p:txBody>
          <a:bodyPr wrap="square">
            <a:normAutofit/>
          </a:bodyPr>
          <a:lstStyle/>
          <a:p>
            <a:pPr>
              <a:spcAft>
                <a:spcPts val="300"/>
              </a:spcAft>
            </a:pPr>
            <a:r>
              <a:rPr sz="1700" b="1">
                <a:solidFill>
                  <a:srgbClr val="323130"/>
                </a:solidFill>
                <a:latin typeface="Meiryo"/>
                <a:ea typeface="Meiryo"/>
              </a:rPr>
              <a:t>SDK開発支援 —「Azure SDKを使ってどうコードを書くか」を教える132 skills</a:t>
            </a:r>
          </a:p>
        </p:txBody>
      </p:sp>
      <p:graphicFrame>
        <p:nvGraphicFramePr>
          <p:cNvPr id="6" name="Table 5"/>
          <p:cNvGraphicFramePr>
            <a:graphicFrameLocks noGrp="1"/>
          </p:cNvGraphicFramePr>
          <p:nvPr/>
        </p:nvGraphicFramePr>
        <p:xfrm>
          <a:off x="502920" y="2495550"/>
          <a:ext cx="11183112" cy="2957830"/>
        </p:xfrm>
        <a:graphic>
          <a:graphicData uri="http://schemas.openxmlformats.org/drawingml/2006/table">
            <a:tbl>
              <a:tblPr firstRow="1" bandRow="1">
                <a:tableStyleId>{5C22544A-7EE6-4342-B048-85BDC9FD1C3A}</a:tableStyleId>
              </a:tblPr>
              <a:tblGrid>
                <a:gridCol w="3727704"/>
                <a:gridCol w="3727704"/>
                <a:gridCol w="3727704"/>
              </a:tblGrid>
              <a:tr h="422547">
                <a:tc>
                  <a:txBody>
                    <a:bodyPr/>
                    <a:lstStyle/>
                    <a:p>
                      <a:r>
                        <a:rPr sz="1100" b="1">
                          <a:solidFill>
                            <a:srgbClr val="243A5E"/>
                          </a:solidFill>
                          <a:latin typeface="Meiryo"/>
                          <a:ea typeface="Meiryo"/>
                        </a:rPr>
                        <a:t>言語</a:t>
                      </a:r>
                    </a:p>
                  </a:txBody>
                  <a:tcPr>
                    <a:solidFill>
                      <a:srgbClr val="E8F0FE"/>
                    </a:solidFill>
                  </a:tcPr>
                </a:tc>
                <a:tc>
                  <a:txBody>
                    <a:bodyPr/>
                    <a:lstStyle/>
                    <a:p>
                      <a:r>
                        <a:rPr sz="1100" b="1">
                          <a:solidFill>
                            <a:srgbClr val="243A5E"/>
                          </a:solidFill>
                          <a:latin typeface="Meiryo"/>
                          <a:ea typeface="Meiryo"/>
                        </a:rPr>
                        <a:t>数</a:t>
                      </a:r>
                    </a:p>
                  </a:txBody>
                  <a:tcPr>
                    <a:solidFill>
                      <a:srgbClr val="E8F0FE"/>
                    </a:solidFill>
                  </a:tcPr>
                </a:tc>
                <a:tc>
                  <a:txBody>
                    <a:bodyPr/>
                    <a:lstStyle/>
                    <a:p>
                      <a:r>
                        <a:rPr sz="1100" b="1">
                          <a:solidFill>
                            <a:srgbClr val="243A5E"/>
                          </a:solidFill>
                          <a:latin typeface="Meiryo"/>
                          <a:ea typeface="Meiryo"/>
                        </a:rPr>
                        <a:t>例</a:t>
                      </a:r>
                    </a:p>
                  </a:txBody>
                  <a:tcPr>
                    <a:solidFill>
                      <a:srgbClr val="E8F0FE"/>
                    </a:solidFill>
                  </a:tcPr>
                </a:tc>
              </a:tr>
              <a:tr h="422547">
                <a:tc>
                  <a:txBody>
                    <a:bodyPr/>
                    <a:lstStyle/>
                    <a:p>
                      <a:r>
                        <a:rPr sz="1100">
                          <a:solidFill>
                            <a:srgbClr val="323130"/>
                          </a:solidFill>
                          <a:latin typeface="Meiryo"/>
                          <a:ea typeface="Meiryo"/>
                        </a:rPr>
                        <a:t>Core（共通）</a:t>
                      </a:r>
                    </a:p>
                  </a:txBody>
                  <a:tcPr/>
                </a:tc>
                <a:tc>
                  <a:txBody>
                    <a:bodyPr/>
                    <a:lstStyle/>
                    <a:p>
                      <a:r>
                        <a:rPr sz="1100">
                          <a:solidFill>
                            <a:srgbClr val="323130"/>
                          </a:solidFill>
                          <a:latin typeface="Meiryo"/>
                          <a:ea typeface="Meiryo"/>
                        </a:rPr>
                        <a:t>9</a:t>
                      </a:r>
                    </a:p>
                  </a:txBody>
                  <a:tcPr/>
                </a:tc>
                <a:tc>
                  <a:txBody>
                    <a:bodyPr/>
                    <a:lstStyle/>
                    <a:p>
                      <a:r>
                        <a:rPr sz="1100">
                          <a:solidFill>
                            <a:srgbClr val="323130"/>
                          </a:solidFill>
                          <a:latin typeface="Meiryo"/>
                          <a:ea typeface="Meiryo"/>
                        </a:rPr>
                        <a:t>cloud-solution-architect, mcp-builder, entra-agent-id</a:t>
                      </a:r>
                    </a:p>
                  </a:txBody>
                  <a:tcPr/>
                </a:tc>
              </a:tr>
              <a:tr h="422547">
                <a:tc>
                  <a:txBody>
                    <a:bodyPr/>
                    <a:lstStyle/>
                    <a:p>
                      <a:r>
                        <a:rPr sz="1100">
                          <a:solidFill>
                            <a:srgbClr val="323130"/>
                          </a:solidFill>
                          <a:latin typeface="Meiryo"/>
                          <a:ea typeface="Meiryo"/>
                        </a:rPr>
                        <a:t>Python</a:t>
                      </a:r>
                    </a:p>
                  </a:txBody>
                  <a:tcPr/>
                </a:tc>
                <a:tc>
                  <a:txBody>
                    <a:bodyPr/>
                    <a:lstStyle/>
                    <a:p>
                      <a:r>
                        <a:rPr sz="1100">
                          <a:solidFill>
                            <a:srgbClr val="323130"/>
                          </a:solidFill>
                          <a:latin typeface="Meiryo"/>
                          <a:ea typeface="Meiryo"/>
                        </a:rPr>
                        <a:t>41</a:t>
                      </a:r>
                    </a:p>
                  </a:txBody>
                  <a:tcPr/>
                </a:tc>
                <a:tc>
                  <a:txBody>
                    <a:bodyPr/>
                    <a:lstStyle/>
                    <a:p>
                      <a:r>
                        <a:rPr sz="1100">
                          <a:solidFill>
                            <a:srgbClr val="323130"/>
                          </a:solidFill>
                          <a:latin typeface="Meiryo"/>
                          <a:ea typeface="Meiryo"/>
                        </a:rPr>
                        <a:t>azure-ai-projects-py, azure-cosmos-py</a:t>
                      </a:r>
                    </a:p>
                  </a:txBody>
                  <a:tcPr/>
                </a:tc>
              </a:tr>
              <a:tr h="422547">
                <a:tc>
                  <a:txBody>
                    <a:bodyPr/>
                    <a:lstStyle/>
                    <a:p>
                      <a:r>
                        <a:rPr sz="1100">
                          <a:solidFill>
                            <a:srgbClr val="323130"/>
                          </a:solidFill>
                          <a:latin typeface="Meiryo"/>
                          <a:ea typeface="Meiryo"/>
                        </a:rPr>
                        <a:t>.NET</a:t>
                      </a:r>
                    </a:p>
                  </a:txBody>
                  <a:tcPr/>
                </a:tc>
                <a:tc>
                  <a:txBody>
                    <a:bodyPr/>
                    <a:lstStyle/>
                    <a:p>
                      <a:r>
                        <a:rPr sz="1100">
                          <a:solidFill>
                            <a:srgbClr val="323130"/>
                          </a:solidFill>
                          <a:latin typeface="Meiryo"/>
                          <a:ea typeface="Meiryo"/>
                        </a:rPr>
                        <a:t>28</a:t>
                      </a:r>
                    </a:p>
                  </a:txBody>
                  <a:tcPr/>
                </a:tc>
                <a:tc>
                  <a:txBody>
                    <a:bodyPr/>
                    <a:lstStyle/>
                    <a:p>
                      <a:r>
                        <a:rPr sz="1100">
                          <a:solidFill>
                            <a:srgbClr val="323130"/>
                          </a:solidFill>
                          <a:latin typeface="Meiryo"/>
                          <a:ea typeface="Meiryo"/>
                        </a:rPr>
                        <a:t>azure-ai-openai-dotnet, azure-search-documents-dotnet</a:t>
                      </a:r>
                    </a:p>
                  </a:txBody>
                  <a:tcPr/>
                </a:tc>
              </a:tr>
              <a:tr h="422547">
                <a:tc>
                  <a:txBody>
                    <a:bodyPr/>
                    <a:lstStyle/>
                    <a:p>
                      <a:r>
                        <a:rPr sz="1100">
                          <a:solidFill>
                            <a:srgbClr val="323130"/>
                          </a:solidFill>
                          <a:latin typeface="Meiryo"/>
                          <a:ea typeface="Meiryo"/>
                        </a:rPr>
                        <a:t>TypeScript</a:t>
                      </a:r>
                    </a:p>
                  </a:txBody>
                  <a:tcPr/>
                </a:tc>
                <a:tc>
                  <a:txBody>
                    <a:bodyPr/>
                    <a:lstStyle/>
                    <a:p>
                      <a:r>
                        <a:rPr sz="1100">
                          <a:solidFill>
                            <a:srgbClr val="323130"/>
                          </a:solidFill>
                          <a:latin typeface="Meiryo"/>
                          <a:ea typeface="Meiryo"/>
                        </a:rPr>
                        <a:t>25</a:t>
                      </a:r>
                    </a:p>
                  </a:txBody>
                  <a:tcPr/>
                </a:tc>
                <a:tc>
                  <a:txBody>
                    <a:bodyPr/>
                    <a:lstStyle/>
                    <a:p>
                      <a:r>
                        <a:rPr sz="1100">
                          <a:solidFill>
                            <a:srgbClr val="323130"/>
                          </a:solidFill>
                          <a:latin typeface="Meiryo"/>
                          <a:ea typeface="Meiryo"/>
                        </a:rPr>
                        <a:t>azure-ai-projects-ts, azure-storage-blob-ts</a:t>
                      </a:r>
                    </a:p>
                  </a:txBody>
                  <a:tcPr/>
                </a:tc>
              </a:tr>
              <a:tr h="422547">
                <a:tc>
                  <a:txBody>
                    <a:bodyPr/>
                    <a:lstStyle/>
                    <a:p>
                      <a:r>
                        <a:rPr sz="1100">
                          <a:solidFill>
                            <a:srgbClr val="323130"/>
                          </a:solidFill>
                          <a:latin typeface="Meiryo"/>
                          <a:ea typeface="Meiryo"/>
                        </a:rPr>
                        <a:t>Java</a:t>
                      </a:r>
                    </a:p>
                  </a:txBody>
                  <a:tcPr/>
                </a:tc>
                <a:tc>
                  <a:txBody>
                    <a:bodyPr/>
                    <a:lstStyle/>
                    <a:p>
                      <a:r>
                        <a:rPr sz="1100">
                          <a:solidFill>
                            <a:srgbClr val="323130"/>
                          </a:solidFill>
                          <a:latin typeface="Meiryo"/>
                          <a:ea typeface="Meiryo"/>
                        </a:rPr>
                        <a:t>25</a:t>
                      </a:r>
                    </a:p>
                  </a:txBody>
                  <a:tcPr/>
                </a:tc>
                <a:tc>
                  <a:txBody>
                    <a:bodyPr/>
                    <a:lstStyle/>
                    <a:p>
                      <a:r>
                        <a:rPr sz="1100">
                          <a:solidFill>
                            <a:srgbClr val="323130"/>
                          </a:solidFill>
                          <a:latin typeface="Meiryo"/>
                          <a:ea typeface="Meiryo"/>
                        </a:rPr>
                        <a:t>azure-ai-projects-java, azure-cosmos-java</a:t>
                      </a:r>
                    </a:p>
                  </a:txBody>
                  <a:tcPr/>
                </a:tc>
              </a:tr>
              <a:tr h="422548">
                <a:tc>
                  <a:txBody>
                    <a:bodyPr/>
                    <a:lstStyle/>
                    <a:p>
                      <a:r>
                        <a:rPr sz="1100">
                          <a:solidFill>
                            <a:srgbClr val="323130"/>
                          </a:solidFill>
                          <a:latin typeface="Meiryo"/>
                          <a:ea typeface="Meiryo"/>
                        </a:rPr>
                        <a:t>Rust</a:t>
                      </a:r>
                    </a:p>
                  </a:txBody>
                  <a:tcPr/>
                </a:tc>
                <a:tc>
                  <a:txBody>
                    <a:bodyPr/>
                    <a:lstStyle/>
                    <a:p>
                      <a:r>
                        <a:rPr sz="1100">
                          <a:solidFill>
                            <a:srgbClr val="323130"/>
                          </a:solidFill>
                          <a:latin typeface="Meiryo"/>
                          <a:ea typeface="Meiryo"/>
                        </a:rPr>
                        <a:t>7</a:t>
                      </a:r>
                    </a:p>
                  </a:txBody>
                  <a:tcPr/>
                </a:tc>
                <a:tc>
                  <a:txBody>
                    <a:bodyPr/>
                    <a:lstStyle/>
                    <a:p>
                      <a:r>
                        <a:rPr sz="1100">
                          <a:solidFill>
                            <a:srgbClr val="323130"/>
                          </a:solidFill>
                          <a:latin typeface="Meiryo"/>
                          <a:ea typeface="Meiryo"/>
                        </a:rPr>
                        <a:t>（新規追加中）</a:t>
                      </a:r>
                    </a:p>
                  </a:txBody>
                  <a:tcPr/>
                </a:tc>
              </a:tr>
            </a:tbl>
          </a:graphicData>
        </a:graphic>
      </p:graphicFrame>
      <p:sp>
        <p:nvSpPr>
          <p:cNvPr id="7" name="TextBox 6"/>
          <p:cNvSpPr txBox="1"/>
          <p:nvPr/>
        </p:nvSpPr>
        <p:spPr>
          <a:xfrm>
            <a:off x="502920" y="5544819"/>
            <a:ext cx="11183112" cy="444500"/>
          </a:xfrm>
          <a:prstGeom prst="rect">
            <a:avLst/>
          </a:prstGeom>
          <a:noFill/>
        </p:spPr>
        <p:txBody>
          <a:bodyPr wrap="square">
            <a:normAutofit/>
          </a:bodyPr>
          <a:lstStyle/>
          <a:p>
            <a:pPr>
              <a:spcAft>
                <a:spcPts val="300"/>
              </a:spcAft>
            </a:pPr>
            <a:r>
              <a:rPr sz="1700" b="1">
                <a:solidFill>
                  <a:srgbClr val="323130"/>
                </a:solidFill>
                <a:latin typeface="Meiryo"/>
                <a:ea typeface="Meiryo"/>
              </a:rPr>
              <a:t>`npx skills add microsoft/skills` で選択して入るのは、この132個の individual skill</a:t>
            </a:r>
          </a:p>
        </p:txBody>
      </p:sp>
      <p:sp>
        <p:nvSpPr>
          <p:cNvPr id="8" name="TextBox 7"/>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13 / 38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① npx skills add の実行画面</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4328160"/>
          </a:xfrm>
          <a:prstGeom prst="rect">
            <a:avLst/>
          </a:prstGeom>
          <a:noFill/>
        </p:spPr>
        <p:txBody>
          <a:bodyPr wrap="square">
            <a:normAutofit/>
          </a:bodyPr>
          <a:lstStyle/>
          <a:p>
            <a:pPr>
              <a:spcAft>
                <a:spcPts val="700"/>
              </a:spcAft>
            </a:pPr>
            <a:r>
              <a:rPr sz="3600">
                <a:solidFill>
                  <a:srgbClr val="323130"/>
                </a:solidFill>
                <a:latin typeface="Meiryo"/>
                <a:ea typeface="Meiryo"/>
              </a:rPr>
              <a:t>!</a:t>
            </a:r>
            <a:r>
              <a:rPr sz="3600">
                <a:solidFill>
                  <a:srgbClr val="323130"/>
                </a:solidFill>
                <a:latin typeface="Meiryo"/>
                <a:ea typeface="Meiryo"/>
              </a:rPr>
              <a:t>w:850</a:t>
            </a:r>
          </a:p>
          <a:p>
            <a:pPr>
              <a:spcAft>
                <a:spcPts val="700"/>
              </a:spcAft>
            </a:pPr>
            <a:r>
              <a:rPr sz="3600" b="1">
                <a:solidFill>
                  <a:srgbClr val="323130"/>
                </a:solidFill>
                <a:latin typeface="Meiryo"/>
                <a:ea typeface="Meiryo"/>
              </a:rPr>
              <a:t>→ Core 10個から必要なものだけ選んでインストール</a:t>
            </a:r>
          </a:p>
          <a:p>
            <a:pPr>
              <a:spcAft>
                <a:spcPts val="700"/>
              </a:spcAft>
            </a:pPr>
            <a:r>
              <a:rPr sz="3600">
                <a:solidFill>
                  <a:srgbClr val="323130"/>
                </a:solidFill>
                <a:latin typeface="Meiryo"/>
                <a:ea typeface="Meiryo"/>
              </a:rPr>
              <a:t>（言語別skillは </a:t>
            </a:r>
            <a:r>
              <a:rPr sz="3000">
                <a:solidFill>
                  <a:srgbClr val="C7254E"/>
                </a:solidFill>
                <a:latin typeface="Consolas"/>
                <a:ea typeface="Consolas"/>
              </a:rPr>
              <a:t>npx skills add microsoft/skills --language python</a:t>
            </a:r>
            <a:r>
              <a:rPr sz="3600">
                <a:solidFill>
                  <a:srgbClr val="323130"/>
                </a:solidFill>
                <a:latin typeface="Meiryo"/>
                <a:ea typeface="Meiryo"/>
              </a:rPr>
              <a:t> 等で絞り込み）</a:t>
            </a:r>
          </a:p>
        </p:txBody>
      </p:sp>
      <p:sp>
        <p:nvSpPr>
          <p:cNvPr id="6" name="TextBox 5"/>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14 / 38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① microsoft/skills — SDK開発支援の詳細</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661160"/>
          <a:ext cx="11183112" cy="4183380"/>
        </p:xfrm>
        <a:graphic>
          <a:graphicData uri="http://schemas.openxmlformats.org/drawingml/2006/table">
            <a:tbl>
              <a:tblPr firstRow="1" bandRow="1">
                <a:tableStyleId>{5C22544A-7EE6-4342-B048-85BDC9FD1C3A}</a:tableStyleId>
              </a:tblPr>
              <a:tblGrid>
                <a:gridCol w="5591556"/>
                <a:gridCol w="5591556"/>
              </a:tblGrid>
              <a:tr h="697230">
                <a:tc>
                  <a:txBody>
                    <a:bodyPr/>
                    <a:lstStyle/>
                    <a:p>
                      <a:r>
                        <a:rPr sz="1700" b="1">
                          <a:solidFill>
                            <a:srgbClr val="243A5E"/>
                          </a:solidFill>
                          <a:latin typeface="Meiryo"/>
                          <a:ea typeface="Meiryo"/>
                        </a:rPr>
                        <a:t>構成要素</a:t>
                      </a:r>
                    </a:p>
                  </a:txBody>
                  <a:tcPr>
                    <a:solidFill>
                      <a:srgbClr val="E8F0FE"/>
                    </a:solidFill>
                  </a:tcPr>
                </a:tc>
                <a:tc>
                  <a:txBody>
                    <a:bodyPr/>
                    <a:lstStyle/>
                    <a:p>
                      <a:r>
                        <a:rPr sz="1700" b="1">
                          <a:solidFill>
                            <a:srgbClr val="243A5E"/>
                          </a:solidFill>
                          <a:latin typeface="Meiryo"/>
                          <a:ea typeface="Meiryo"/>
                        </a:rPr>
                        <a:t>中身</a:t>
                      </a:r>
                    </a:p>
                  </a:txBody>
                  <a:tcPr>
                    <a:solidFill>
                      <a:srgbClr val="E8F0FE"/>
                    </a:solidFill>
                  </a:tcPr>
                </a:tc>
              </a:tr>
              <a:tr h="697230">
                <a:tc>
                  <a:txBody>
                    <a:bodyPr/>
                    <a:lstStyle/>
                    <a:p>
                      <a:r>
                        <a:rPr sz="1700">
                          <a:solidFill>
                            <a:srgbClr val="323130"/>
                          </a:solidFill>
                          <a:latin typeface="Meiryo"/>
                          <a:ea typeface="Meiryo"/>
                        </a:rPr>
                        <a:t>Skills</a:t>
                      </a:r>
                    </a:p>
                  </a:txBody>
                  <a:tcPr/>
                </a:tc>
                <a:tc>
                  <a:txBody>
                    <a:bodyPr/>
                    <a:lstStyle/>
                    <a:p>
                      <a:r>
                        <a:rPr sz="1700">
                          <a:solidFill>
                            <a:srgbClr val="323130"/>
                          </a:solidFill>
                          <a:latin typeface="Meiryo"/>
                          <a:ea typeface="Meiryo"/>
                        </a:rPr>
                        <a:t>132個の個別skill。SDK/Foundry開発パターンを注入</a:t>
                      </a:r>
                    </a:p>
                  </a:txBody>
                  <a:tcPr/>
                </a:tc>
              </a:tr>
              <a:tr h="697230">
                <a:tc>
                  <a:txBody>
                    <a:bodyPr/>
                    <a:lstStyle/>
                    <a:p>
                      <a:r>
                        <a:rPr sz="1700">
                          <a:solidFill>
                            <a:srgbClr val="323130"/>
                          </a:solidFill>
                          <a:latin typeface="Meiryo"/>
                          <a:ea typeface="Meiryo"/>
                        </a:rPr>
                        <a:t>Marketplace</a:t>
                      </a:r>
                    </a:p>
                  </a:txBody>
                  <a:tcPr/>
                </a:tc>
                <a:tc>
                  <a:txBody>
                    <a:bodyPr/>
                    <a:lstStyle/>
                    <a:p>
                      <a:r>
                        <a:rPr sz="1700">
                          <a:solidFill>
                            <a:srgbClr val="323130"/>
                          </a:solidFill>
                          <a:latin typeface="Meiryo"/>
                          <a:ea typeface="Meiryo"/>
                        </a:rPr>
                        <a:t>plugin名のカタログ。実体は各pluginリポジトリにある</a:t>
                      </a:r>
                    </a:p>
                  </a:txBody>
                  <a:tcPr/>
                </a:tc>
              </a:tr>
              <a:tr h="697230">
                <a:tc>
                  <a:txBody>
                    <a:bodyPr/>
                    <a:lstStyle/>
                    <a:p>
                      <a:r>
                        <a:rPr sz="1700">
                          <a:solidFill>
                            <a:srgbClr val="323130"/>
                          </a:solidFill>
                          <a:latin typeface="Meiryo"/>
                          <a:ea typeface="Meiryo"/>
                        </a:rPr>
                        <a:t>Agents</a:t>
                      </a:r>
                    </a:p>
                  </a:txBody>
                  <a:tcPr/>
                </a:tc>
                <a:tc>
                  <a:txBody>
                    <a:bodyPr/>
                    <a:lstStyle/>
                    <a:p>
                      <a:r>
                        <a:rPr sz="1700">
                          <a:solidFill>
                            <a:srgbClr val="323130"/>
                          </a:solidFill>
                          <a:latin typeface="Meiryo"/>
                          <a:ea typeface="Meiryo"/>
                        </a:rPr>
                        <a:t>backend / frontend / infrastructure / planner など</a:t>
                      </a:r>
                    </a:p>
                  </a:txBody>
                  <a:tcPr/>
                </a:tc>
              </a:tr>
              <a:tr h="697230">
                <a:tc>
                  <a:txBody>
                    <a:bodyPr/>
                    <a:lstStyle/>
                    <a:p>
                      <a:r>
                        <a:rPr sz="1700">
                          <a:solidFill>
                            <a:srgbClr val="323130"/>
                          </a:solidFill>
                          <a:latin typeface="Meiryo"/>
                          <a:ea typeface="Meiryo"/>
                        </a:rPr>
                        <a:t>Prompts</a:t>
                      </a:r>
                    </a:p>
                  </a:txBody>
                  <a:tcPr/>
                </a:tc>
                <a:tc>
                  <a:txBody>
                    <a:bodyPr/>
                    <a:lstStyle/>
                    <a:p>
                      <a:r>
                        <a:rPr sz="1700">
                          <a:solidFill>
                            <a:srgbClr val="323130"/>
                          </a:solidFill>
                          <a:latin typeface="Meiryo"/>
                          <a:ea typeface="Meiryo"/>
                        </a:rPr>
                        <a:t>code review、endpoint追加など再利用テンプレート</a:t>
                      </a:r>
                    </a:p>
                  </a:txBody>
                  <a:tcPr/>
                </a:tc>
              </a:tr>
              <a:tr h="697230">
                <a:tc>
                  <a:txBody>
                    <a:bodyPr/>
                    <a:lstStyle/>
                    <a:p>
                      <a:r>
                        <a:rPr sz="1700">
                          <a:solidFill>
                            <a:srgbClr val="323130"/>
                          </a:solidFill>
                          <a:latin typeface="Meiryo"/>
                          <a:ea typeface="Meiryo"/>
                        </a:rPr>
                        <a:t>MCP configs</a:t>
                      </a:r>
                    </a:p>
                  </a:txBody>
                  <a:tcPr/>
                </a:tc>
                <a:tc>
                  <a:txBody>
                    <a:bodyPr/>
                    <a:lstStyle/>
                    <a:p>
                      <a:r>
                        <a:rPr sz="1700">
                          <a:solidFill>
                            <a:srgbClr val="323130"/>
                          </a:solidFill>
                          <a:latin typeface="Meiryo"/>
                          <a:ea typeface="Meiryo"/>
                        </a:rPr>
                        <a:t>docs、GitHub、Playwrightなどの設定例</a:t>
                      </a:r>
                    </a:p>
                  </a:txBody>
                  <a:tcPr/>
                </a:tc>
              </a:tr>
            </a:tbl>
          </a:graphicData>
        </a:graphic>
      </p:graphicFrame>
      <p:sp>
        <p:nvSpPr>
          <p:cNvPr id="6" name="TextBox 5"/>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15 / 38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② microsoft/azure-skills（⭐560+）</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2056383"/>
          </a:xfrm>
          <a:prstGeom prst="rect">
            <a:avLst/>
          </a:prstGeom>
          <a:noFill/>
        </p:spPr>
        <p:txBody>
          <a:bodyPr wrap="square">
            <a:normAutofit/>
          </a:bodyPr>
          <a:lstStyle/>
          <a:p>
            <a:pPr>
              <a:spcAft>
                <a:spcPts val="400"/>
              </a:spcAft>
            </a:pPr>
            <a:r>
              <a:rPr sz="2100" b="1">
                <a:solidFill>
                  <a:srgbClr val="323130"/>
                </a:solidFill>
                <a:latin typeface="Meiryo"/>
                <a:ea typeface="Meiryo"/>
              </a:rPr>
              <a:t>運用支援 —「Azureリソースをどう設計・デプロイ・管理するか」を教える統合プラグイン</a:t>
            </a:r>
          </a:p>
          <a:p>
            <a:pPr>
              <a:spcAft>
                <a:spcPts val="700"/>
              </a:spcAft>
            </a:pPr>
            <a:r>
              <a:rPr sz="2400" b="1">
                <a:solidFill>
                  <a:srgbClr val="0078D4"/>
                </a:solidFill>
                <a:latin typeface="Meiryo"/>
                <a:ea typeface="Meiryo"/>
              </a:rPr>
              <a:t>3層構造</a:t>
            </a:r>
          </a:p>
        </p:txBody>
      </p:sp>
      <p:graphicFrame>
        <p:nvGraphicFramePr>
          <p:cNvPr id="6" name="Table 5"/>
          <p:cNvGraphicFramePr>
            <a:graphicFrameLocks noGrp="1"/>
          </p:cNvGraphicFramePr>
          <p:nvPr/>
        </p:nvGraphicFramePr>
        <p:xfrm>
          <a:off x="502920" y="3808983"/>
          <a:ext cx="11183112" cy="2180336"/>
        </p:xfrm>
        <a:graphic>
          <a:graphicData uri="http://schemas.openxmlformats.org/drawingml/2006/table">
            <a:tbl>
              <a:tblPr firstRow="1" bandRow="1">
                <a:tableStyleId>{5C22544A-7EE6-4342-B048-85BDC9FD1C3A}</a:tableStyleId>
              </a:tblPr>
              <a:tblGrid>
                <a:gridCol w="5591556"/>
                <a:gridCol w="5591556"/>
              </a:tblGrid>
              <a:tr h="545084">
                <a:tc>
                  <a:txBody>
                    <a:bodyPr/>
                    <a:lstStyle/>
                    <a:p>
                      <a:r>
                        <a:rPr sz="1400" b="1">
                          <a:solidFill>
                            <a:srgbClr val="243A5E"/>
                          </a:solidFill>
                          <a:latin typeface="Meiryo"/>
                          <a:ea typeface="Meiryo"/>
                        </a:rPr>
                        <a:t>層</a:t>
                      </a:r>
                    </a:p>
                  </a:txBody>
                  <a:tcPr>
                    <a:solidFill>
                      <a:srgbClr val="E8F0FE"/>
                    </a:solidFill>
                  </a:tcPr>
                </a:tc>
                <a:tc>
                  <a:txBody>
                    <a:bodyPr/>
                    <a:lstStyle/>
                    <a:p>
                      <a:r>
                        <a:rPr sz="1400" b="1">
                          <a:solidFill>
                            <a:srgbClr val="243A5E"/>
                          </a:solidFill>
                          <a:latin typeface="Meiryo"/>
                          <a:ea typeface="Meiryo"/>
                        </a:rPr>
                        <a:t>役割</a:t>
                      </a:r>
                    </a:p>
                  </a:txBody>
                  <a:tcPr>
                    <a:solidFill>
                      <a:srgbClr val="E8F0FE"/>
                    </a:solidFill>
                  </a:tcPr>
                </a:tc>
              </a:tr>
              <a:tr h="545084">
                <a:tc>
                  <a:txBody>
                    <a:bodyPr/>
                    <a:lstStyle/>
                    <a:p>
                      <a:r>
                        <a:rPr sz="1400">
                          <a:solidFill>
                            <a:srgbClr val="323130"/>
                          </a:solidFill>
                          <a:latin typeface="Meiryo"/>
                          <a:ea typeface="Meiryo"/>
                        </a:rPr>
                        <a:t>Skills（脳）</a:t>
                      </a:r>
                    </a:p>
                  </a:txBody>
                  <a:tcPr/>
                </a:tc>
                <a:tc>
                  <a:txBody>
                    <a:bodyPr/>
                    <a:lstStyle/>
                    <a:p>
                      <a:r>
                        <a:rPr sz="1400">
                          <a:solidFill>
                            <a:srgbClr val="323130"/>
                          </a:solidFill>
                          <a:latin typeface="Meiryo"/>
                          <a:ea typeface="Meiryo"/>
                        </a:rPr>
                        <a:t>20個のキュレート済みスキル — ワークフロー、判断基準、ガードレール</a:t>
                      </a:r>
                    </a:p>
                  </a:txBody>
                  <a:tcPr/>
                </a:tc>
              </a:tr>
              <a:tr h="545084">
                <a:tc>
                  <a:txBody>
                    <a:bodyPr/>
                    <a:lstStyle/>
                    <a:p>
                      <a:r>
                        <a:rPr sz="1400">
                          <a:solidFill>
                            <a:srgbClr val="323130"/>
                          </a:solidFill>
                          <a:latin typeface="Meiryo"/>
                          <a:ea typeface="Meiryo"/>
                        </a:rPr>
                        <a:t>Azure MCP Server（手）</a:t>
                      </a:r>
                    </a:p>
                  </a:txBody>
                  <a:tcPr/>
                </a:tc>
                <a:tc>
                  <a:txBody>
                    <a:bodyPr/>
                    <a:lstStyle/>
                    <a:p>
                      <a:r>
                        <a:rPr sz="1400">
                          <a:solidFill>
                            <a:srgbClr val="323130"/>
                          </a:solidFill>
                          <a:latin typeface="Meiryo"/>
                          <a:ea typeface="Meiryo"/>
                        </a:rPr>
                        <a:t>200+ツール × 40+サービス — リソース操作、価格確認、ログ照会</a:t>
                      </a:r>
                    </a:p>
                  </a:txBody>
                  <a:tcPr/>
                </a:tc>
              </a:tr>
              <a:tr h="545084">
                <a:tc>
                  <a:txBody>
                    <a:bodyPr/>
                    <a:lstStyle/>
                    <a:p>
                      <a:r>
                        <a:rPr sz="1400">
                          <a:solidFill>
                            <a:srgbClr val="323130"/>
                          </a:solidFill>
                          <a:latin typeface="Meiryo"/>
                          <a:ea typeface="Meiryo"/>
                        </a:rPr>
                        <a:t>Foundry MCP（AI専門家）</a:t>
                      </a:r>
                    </a:p>
                  </a:txBody>
                  <a:tcPr/>
                </a:tc>
                <a:tc>
                  <a:txBody>
                    <a:bodyPr/>
                    <a:lstStyle/>
                    <a:p>
                      <a:r>
                        <a:rPr sz="1400">
                          <a:solidFill>
                            <a:srgbClr val="323130"/>
                          </a:solidFill>
                          <a:latin typeface="Meiryo"/>
                          <a:ea typeface="Meiryo"/>
                        </a:rPr>
                        <a:t>モデルカタログ、デプロイ、エージェントワークフロー</a:t>
                      </a:r>
                    </a:p>
                  </a:txBody>
                  <a:tcPr/>
                </a:tc>
              </a:tr>
            </a:tbl>
          </a:graphicData>
        </a:graphic>
      </p:graphicFrame>
      <p:sp>
        <p:nvSpPr>
          <p:cNvPr id="7" name="TextBox 6"/>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16 / 38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② azure-skills の主要スキル</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661160"/>
          <a:ext cx="11183112" cy="3548380"/>
        </p:xfrm>
        <a:graphic>
          <a:graphicData uri="http://schemas.openxmlformats.org/drawingml/2006/table">
            <a:tbl>
              <a:tblPr firstRow="1" bandRow="1">
                <a:tableStyleId>{5C22544A-7EE6-4342-B048-85BDC9FD1C3A}</a:tableStyleId>
              </a:tblPr>
              <a:tblGrid>
                <a:gridCol w="5591556"/>
                <a:gridCol w="5591556"/>
              </a:tblGrid>
              <a:tr h="354838">
                <a:tc>
                  <a:txBody>
                    <a:bodyPr/>
                    <a:lstStyle/>
                    <a:p>
                      <a:r>
                        <a:rPr sz="1100" b="1">
                          <a:solidFill>
                            <a:srgbClr val="243A5E"/>
                          </a:solidFill>
                          <a:latin typeface="Meiryo"/>
                          <a:ea typeface="Meiryo"/>
                        </a:rPr>
                        <a:t>スキル</a:t>
                      </a:r>
                    </a:p>
                  </a:txBody>
                  <a:tcPr>
                    <a:solidFill>
                      <a:srgbClr val="E8F0FE"/>
                    </a:solidFill>
                  </a:tcPr>
                </a:tc>
                <a:tc>
                  <a:txBody>
                    <a:bodyPr/>
                    <a:lstStyle/>
                    <a:p>
                      <a:r>
                        <a:rPr sz="1100" b="1">
                          <a:solidFill>
                            <a:srgbClr val="243A5E"/>
                          </a:solidFill>
                          <a:latin typeface="Meiryo"/>
                          <a:ea typeface="Meiryo"/>
                        </a:rPr>
                        <a:t>役割</a:t>
                      </a:r>
                    </a:p>
                  </a:txBody>
                  <a:tcPr>
                    <a:solidFill>
                      <a:srgbClr val="E8F0FE"/>
                    </a:solidFill>
                  </a:tcPr>
                </a:tc>
              </a:tr>
              <a:tr h="354838">
                <a:tc>
                  <a:txBody>
                    <a:bodyPr/>
                    <a:lstStyle/>
                    <a:p>
                      <a:r>
                        <a:rPr sz="1100">
                          <a:solidFill>
                            <a:srgbClr val="323130"/>
                          </a:solidFill>
                          <a:latin typeface="Meiryo"/>
                          <a:ea typeface="Meiryo"/>
                        </a:rPr>
                        <a:t>azure-prepare</a:t>
                      </a:r>
                    </a:p>
                  </a:txBody>
                  <a:tcPr/>
                </a:tc>
                <a:tc>
                  <a:txBody>
                    <a:bodyPr/>
                    <a:lstStyle/>
                    <a:p>
                      <a:r>
                        <a:rPr sz="1100">
                          <a:solidFill>
                            <a:srgbClr val="323130"/>
                          </a:solidFill>
                          <a:latin typeface="Meiryo"/>
                          <a:ea typeface="Meiryo"/>
                        </a:rPr>
                        <a:t>デプロイ前の設計・準備</a:t>
                      </a:r>
                    </a:p>
                  </a:txBody>
                  <a:tcPr/>
                </a:tc>
              </a:tr>
              <a:tr h="354838">
                <a:tc>
                  <a:txBody>
                    <a:bodyPr/>
                    <a:lstStyle/>
                    <a:p>
                      <a:r>
                        <a:rPr sz="1100">
                          <a:solidFill>
                            <a:srgbClr val="323130"/>
                          </a:solidFill>
                          <a:latin typeface="Meiryo"/>
                          <a:ea typeface="Meiryo"/>
                        </a:rPr>
                        <a:t>azure-validate</a:t>
                      </a:r>
                    </a:p>
                  </a:txBody>
                  <a:tcPr/>
                </a:tc>
                <a:tc>
                  <a:txBody>
                    <a:bodyPr/>
                    <a:lstStyle/>
                    <a:p>
                      <a:r>
                        <a:rPr sz="1100">
                          <a:solidFill>
                            <a:srgbClr val="323130"/>
                          </a:solidFill>
                          <a:latin typeface="Meiryo"/>
                          <a:ea typeface="Meiryo"/>
                        </a:rPr>
                        <a:t>構成の検証・チェック</a:t>
                      </a:r>
                    </a:p>
                  </a:txBody>
                  <a:tcPr/>
                </a:tc>
              </a:tr>
              <a:tr h="354838">
                <a:tc>
                  <a:txBody>
                    <a:bodyPr/>
                    <a:lstStyle/>
                    <a:p>
                      <a:r>
                        <a:rPr sz="1100">
                          <a:solidFill>
                            <a:srgbClr val="323130"/>
                          </a:solidFill>
                          <a:latin typeface="Meiryo"/>
                          <a:ea typeface="Meiryo"/>
                        </a:rPr>
                        <a:t>azure-deploy</a:t>
                      </a:r>
                    </a:p>
                  </a:txBody>
                  <a:tcPr/>
                </a:tc>
                <a:tc>
                  <a:txBody>
                    <a:bodyPr/>
                    <a:lstStyle/>
                    <a:p>
                      <a:r>
                        <a:rPr sz="1100">
                          <a:solidFill>
                            <a:srgbClr val="323130"/>
                          </a:solidFill>
                          <a:latin typeface="Meiryo"/>
                          <a:ea typeface="Meiryo"/>
                        </a:rPr>
                        <a:t>実際のデプロイ実行</a:t>
                      </a:r>
                    </a:p>
                  </a:txBody>
                  <a:tcPr/>
                </a:tc>
              </a:tr>
              <a:tr h="354838">
                <a:tc>
                  <a:txBody>
                    <a:bodyPr/>
                    <a:lstStyle/>
                    <a:p>
                      <a:r>
                        <a:rPr sz="1100">
                          <a:solidFill>
                            <a:srgbClr val="323130"/>
                          </a:solidFill>
                          <a:latin typeface="Meiryo"/>
                          <a:ea typeface="Meiryo"/>
                        </a:rPr>
                        <a:t>azure-diagnostics</a:t>
                      </a:r>
                    </a:p>
                  </a:txBody>
                  <a:tcPr/>
                </a:tc>
                <a:tc>
                  <a:txBody>
                    <a:bodyPr/>
                    <a:lstStyle/>
                    <a:p>
                      <a:r>
                        <a:rPr sz="1100">
                          <a:solidFill>
                            <a:srgbClr val="323130"/>
                          </a:solidFill>
                          <a:latin typeface="Meiryo"/>
                          <a:ea typeface="Meiryo"/>
                        </a:rPr>
                        <a:t>トラブルシューティング</a:t>
                      </a:r>
                    </a:p>
                  </a:txBody>
                  <a:tcPr/>
                </a:tc>
              </a:tr>
              <a:tr h="354838">
                <a:tc>
                  <a:txBody>
                    <a:bodyPr/>
                    <a:lstStyle/>
                    <a:p>
                      <a:r>
                        <a:rPr sz="1100">
                          <a:solidFill>
                            <a:srgbClr val="323130"/>
                          </a:solidFill>
                          <a:latin typeface="Meiryo"/>
                          <a:ea typeface="Meiryo"/>
                        </a:rPr>
                        <a:t>azure-cost-optimization</a:t>
                      </a:r>
                    </a:p>
                  </a:txBody>
                  <a:tcPr/>
                </a:tc>
                <a:tc>
                  <a:txBody>
                    <a:bodyPr/>
                    <a:lstStyle/>
                    <a:p>
                      <a:r>
                        <a:rPr sz="1100">
                          <a:solidFill>
                            <a:srgbClr val="323130"/>
                          </a:solidFill>
                          <a:latin typeface="Meiryo"/>
                          <a:ea typeface="Meiryo"/>
                        </a:rPr>
                        <a:t>コスト最適化</a:t>
                      </a:r>
                    </a:p>
                  </a:txBody>
                  <a:tcPr/>
                </a:tc>
              </a:tr>
              <a:tr h="354838">
                <a:tc>
                  <a:txBody>
                    <a:bodyPr/>
                    <a:lstStyle/>
                    <a:p>
                      <a:r>
                        <a:rPr sz="1100">
                          <a:solidFill>
                            <a:srgbClr val="323130"/>
                          </a:solidFill>
                          <a:latin typeface="Meiryo"/>
                          <a:ea typeface="Meiryo"/>
                        </a:rPr>
                        <a:t>azure-compliance</a:t>
                      </a:r>
                    </a:p>
                  </a:txBody>
                  <a:tcPr/>
                </a:tc>
                <a:tc>
                  <a:txBody>
                    <a:bodyPr/>
                    <a:lstStyle/>
                    <a:p>
                      <a:r>
                        <a:rPr sz="1100">
                          <a:solidFill>
                            <a:srgbClr val="323130"/>
                          </a:solidFill>
                          <a:latin typeface="Meiryo"/>
                          <a:ea typeface="Meiryo"/>
                        </a:rPr>
                        <a:t>コンプライアンスチェック</a:t>
                      </a:r>
                    </a:p>
                  </a:txBody>
                  <a:tcPr/>
                </a:tc>
              </a:tr>
              <a:tr h="354838">
                <a:tc>
                  <a:txBody>
                    <a:bodyPr/>
                    <a:lstStyle/>
                    <a:p>
                      <a:r>
                        <a:rPr sz="1100">
                          <a:solidFill>
                            <a:srgbClr val="323130"/>
                          </a:solidFill>
                          <a:latin typeface="Meiryo"/>
                          <a:ea typeface="Meiryo"/>
                        </a:rPr>
                        <a:t>azure-rbac</a:t>
                      </a:r>
                    </a:p>
                  </a:txBody>
                  <a:tcPr/>
                </a:tc>
                <a:tc>
                  <a:txBody>
                    <a:bodyPr/>
                    <a:lstStyle/>
                    <a:p>
                      <a:r>
                        <a:rPr sz="1100">
                          <a:solidFill>
                            <a:srgbClr val="323130"/>
                          </a:solidFill>
                          <a:latin typeface="Meiryo"/>
                          <a:ea typeface="Meiryo"/>
                        </a:rPr>
                        <a:t>権限管理</a:t>
                      </a:r>
                    </a:p>
                  </a:txBody>
                  <a:tcPr/>
                </a:tc>
              </a:tr>
              <a:tr h="354838">
                <a:tc>
                  <a:txBody>
                    <a:bodyPr/>
                    <a:lstStyle/>
                    <a:p>
                      <a:r>
                        <a:rPr sz="1100">
                          <a:solidFill>
                            <a:srgbClr val="323130"/>
                          </a:solidFill>
                          <a:latin typeface="Meiryo"/>
                          <a:ea typeface="Meiryo"/>
                        </a:rPr>
                        <a:t>microsoft-foundry</a:t>
                      </a:r>
                    </a:p>
                  </a:txBody>
                  <a:tcPr/>
                </a:tc>
                <a:tc>
                  <a:txBody>
                    <a:bodyPr/>
                    <a:lstStyle/>
                    <a:p>
                      <a:r>
                        <a:rPr sz="1100">
                          <a:solidFill>
                            <a:srgbClr val="323130"/>
                          </a:solidFill>
                          <a:latin typeface="Meiryo"/>
                          <a:ea typeface="Meiryo"/>
                        </a:rPr>
                        <a:t>AI Foundry統合</a:t>
                      </a:r>
                    </a:p>
                  </a:txBody>
                  <a:tcPr/>
                </a:tc>
              </a:tr>
              <a:tr h="354838">
                <a:tc>
                  <a:txBody>
                    <a:bodyPr/>
                    <a:lstStyle/>
                    <a:p>
                      <a:r>
                        <a:rPr sz="1100">
                          <a:solidFill>
                            <a:srgbClr val="323130"/>
                          </a:solidFill>
                          <a:latin typeface="Meiryo"/>
                          <a:ea typeface="Meiryo"/>
                        </a:rPr>
                        <a:t>entra-app-registration</a:t>
                      </a:r>
                    </a:p>
                  </a:txBody>
                  <a:tcPr/>
                </a:tc>
                <a:tc>
                  <a:txBody>
                    <a:bodyPr/>
                    <a:lstStyle/>
                    <a:p>
                      <a:r>
                        <a:rPr sz="1100">
                          <a:solidFill>
                            <a:srgbClr val="323130"/>
                          </a:solidFill>
                          <a:latin typeface="Meiryo"/>
                          <a:ea typeface="Meiryo"/>
                        </a:rPr>
                        <a:t>アプリ登録</a:t>
                      </a:r>
                    </a:p>
                  </a:txBody>
                  <a:tcPr/>
                </a:tc>
              </a:tr>
            </a:tbl>
          </a:graphicData>
        </a:graphic>
      </p:graphicFrame>
      <p:sp>
        <p:nvSpPr>
          <p:cNvPr id="6" name="TextBox 5"/>
          <p:cNvSpPr txBox="1"/>
          <p:nvPr/>
        </p:nvSpPr>
        <p:spPr>
          <a:xfrm>
            <a:off x="502920" y="5300979"/>
            <a:ext cx="11183112" cy="688340"/>
          </a:xfrm>
          <a:prstGeom prst="rect">
            <a:avLst/>
          </a:prstGeom>
          <a:noFill/>
        </p:spPr>
        <p:txBody>
          <a:bodyPr wrap="square">
            <a:normAutofit/>
          </a:bodyPr>
          <a:lstStyle/>
          <a:p>
            <a:pPr>
              <a:spcAft>
                <a:spcPts val="300"/>
              </a:spcAft>
            </a:pPr>
            <a:r>
              <a:rPr sz="1700" b="1">
                <a:solidFill>
                  <a:srgbClr val="323130"/>
                </a:solidFill>
                <a:latin typeface="Meiryo"/>
                <a:ea typeface="Meiryo"/>
              </a:rPr>
              <a:t>→ prepare → validate → deploy の3ステップが設計されている</a:t>
            </a:r>
          </a:p>
        </p:txBody>
      </p:sp>
      <p:sp>
        <p:nvSpPr>
          <p:cNvPr id="7" name="TextBox 6"/>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17 / 38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② ワンクリックインストール</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661160"/>
            <a:ext cx="11183112" cy="282193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900">
                <a:solidFill>
                  <a:srgbClr val="323130"/>
                </a:solidFill>
                <a:latin typeface="Consolas"/>
                <a:ea typeface="Consolas"/>
              </a:rPr>
              <a:t># GitHub Copilot CLI
/plugin marketplace add microsoft/azure-skills
/plugin install azure@azure-skills
# Claude Code
/plugin marketplace add microsoft/azure-skills
/plugin install azure@azure-skills</a:t>
            </a:r>
          </a:p>
        </p:txBody>
      </p:sp>
      <p:sp>
        <p:nvSpPr>
          <p:cNvPr id="6" name="TextBox 5"/>
          <p:cNvSpPr txBox="1"/>
          <p:nvPr/>
        </p:nvSpPr>
        <p:spPr>
          <a:xfrm>
            <a:off x="502920" y="4574540"/>
            <a:ext cx="11183112" cy="1414780"/>
          </a:xfrm>
          <a:prstGeom prst="rect">
            <a:avLst/>
          </a:prstGeom>
          <a:noFill/>
        </p:spPr>
        <p:txBody>
          <a:bodyPr wrap="square">
            <a:normAutofit/>
          </a:bodyPr>
          <a:lstStyle/>
          <a:p>
            <a:pPr>
              <a:spcAft>
                <a:spcPts val="600"/>
              </a:spcAft>
            </a:pPr>
            <a:r>
              <a:rPr sz="3300" b="1">
                <a:solidFill>
                  <a:srgbClr val="323130"/>
                </a:solidFill>
                <a:latin typeface="Meiryo"/>
                <a:ea typeface="Meiryo"/>
              </a:rPr>
              <a:t>エージェントを選ばない。同じスキルが Copilot でも Claude Code でも動く。</a:t>
            </a:r>
          </a:p>
        </p:txBody>
      </p:sp>
      <p:sp>
        <p:nvSpPr>
          <p:cNvPr id="7" name="TextBox 6"/>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18 / 38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③ MicrosoftDocs/Agent-Skills（⭐450+）</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1297940"/>
          </a:xfrm>
          <a:prstGeom prst="rect">
            <a:avLst/>
          </a:prstGeom>
          <a:noFill/>
        </p:spPr>
        <p:txBody>
          <a:bodyPr wrap="square">
            <a:normAutofit/>
          </a:bodyPr>
          <a:lstStyle/>
          <a:p>
            <a:pPr>
              <a:spcAft>
                <a:spcPts val="300"/>
              </a:spcAft>
            </a:pPr>
            <a:r>
              <a:rPr sz="1900" b="1">
                <a:solidFill>
                  <a:srgbClr val="323130"/>
                </a:solidFill>
                <a:latin typeface="Meiryo"/>
                <a:ea typeface="Meiryo"/>
              </a:rPr>
              <a:t>「Azureの各サービスについて何を知るべきか」の百科事典</a:t>
            </a:r>
          </a:p>
          <a:p>
            <a:pPr>
              <a:spcAft>
                <a:spcPts val="300"/>
              </a:spcAft>
            </a:pPr>
            <a:r>
              <a:rPr sz="1900">
                <a:solidFill>
                  <a:srgbClr val="323130"/>
                </a:solidFill>
                <a:latin typeface="Meiryo"/>
                <a:ea typeface="Meiryo"/>
              </a:rPr>
              <a:t>192個のスキルが </a:t>
            </a:r>
            <a:r>
              <a:rPr sz="1900" b="1">
                <a:solidFill>
                  <a:srgbClr val="323130"/>
                </a:solidFill>
                <a:latin typeface="Meiryo"/>
                <a:ea typeface="Meiryo"/>
              </a:rPr>
              <a:t>19カテゴリ</a:t>
            </a:r>
            <a:r>
              <a:rPr sz="1900">
                <a:solidFill>
                  <a:srgbClr val="323130"/>
                </a:solidFill>
                <a:latin typeface="Meiryo"/>
                <a:ea typeface="Meiryo"/>
              </a:rPr>
              <a:t> に分類:</a:t>
            </a:r>
          </a:p>
        </p:txBody>
      </p:sp>
      <p:graphicFrame>
        <p:nvGraphicFramePr>
          <p:cNvPr id="6" name="Table 5"/>
          <p:cNvGraphicFramePr>
            <a:graphicFrameLocks noGrp="1"/>
          </p:cNvGraphicFramePr>
          <p:nvPr/>
        </p:nvGraphicFramePr>
        <p:xfrm>
          <a:off x="502920" y="3050540"/>
          <a:ext cx="11183112" cy="2805430"/>
        </p:xfrm>
        <a:graphic>
          <a:graphicData uri="http://schemas.openxmlformats.org/drawingml/2006/table">
            <a:tbl>
              <a:tblPr firstRow="1" bandRow="1">
                <a:tableStyleId>{5C22544A-7EE6-4342-B048-85BDC9FD1C3A}</a:tableStyleId>
              </a:tblPr>
              <a:tblGrid>
                <a:gridCol w="5591556"/>
                <a:gridCol w="5591556"/>
              </a:tblGrid>
              <a:tr h="400775">
                <a:tc>
                  <a:txBody>
                    <a:bodyPr/>
                    <a:lstStyle/>
                    <a:p>
                      <a:r>
                        <a:rPr sz="1300" b="1">
                          <a:solidFill>
                            <a:srgbClr val="243A5E"/>
                          </a:solidFill>
                          <a:latin typeface="Meiryo"/>
                          <a:ea typeface="Meiryo"/>
                        </a:rPr>
                        <a:t>カテゴリ</a:t>
                      </a:r>
                    </a:p>
                  </a:txBody>
                  <a:tcPr>
                    <a:solidFill>
                      <a:srgbClr val="E8F0FE"/>
                    </a:solidFill>
                  </a:tcPr>
                </a:tc>
                <a:tc>
                  <a:txBody>
                    <a:bodyPr/>
                    <a:lstStyle/>
                    <a:p>
                      <a:r>
                        <a:rPr sz="1300" b="1">
                          <a:solidFill>
                            <a:srgbClr val="243A5E"/>
                          </a:solidFill>
                          <a:latin typeface="Meiryo"/>
                          <a:ea typeface="Meiryo"/>
                        </a:rPr>
                        <a:t>例</a:t>
                      </a:r>
                    </a:p>
                  </a:txBody>
                  <a:tcPr>
                    <a:solidFill>
                      <a:srgbClr val="E8F0FE"/>
                    </a:solidFill>
                  </a:tcPr>
                </a:tc>
              </a:tr>
              <a:tr h="400775">
                <a:tc>
                  <a:txBody>
                    <a:bodyPr/>
                    <a:lstStyle/>
                    <a:p>
                      <a:r>
                        <a:rPr sz="1300">
                          <a:solidFill>
                            <a:srgbClr val="323130"/>
                          </a:solidFill>
                          <a:latin typeface="Meiryo"/>
                          <a:ea typeface="Meiryo"/>
                        </a:rPr>
                        <a:t>🤖 AI + ML</a:t>
                      </a:r>
                    </a:p>
                  </a:txBody>
                  <a:tcPr/>
                </a:tc>
                <a:tc>
                  <a:txBody>
                    <a:bodyPr/>
                    <a:lstStyle/>
                    <a:p>
                      <a:r>
                        <a:rPr sz="1300">
                          <a:solidFill>
                            <a:srgbClr val="323130"/>
                          </a:solidFill>
                          <a:latin typeface="Meiryo"/>
                          <a:ea typeface="Meiryo"/>
                        </a:rPr>
                        <a:t>Azure AI Foundry, AI Search, Document Intelligence, Speech</a:t>
                      </a:r>
                    </a:p>
                  </a:txBody>
                  <a:tcPr/>
                </a:tc>
              </a:tr>
              <a:tr h="400775">
                <a:tc>
                  <a:txBody>
                    <a:bodyPr/>
                    <a:lstStyle/>
                    <a:p>
                      <a:r>
                        <a:rPr sz="1300">
                          <a:solidFill>
                            <a:srgbClr val="323130"/>
                          </a:solidFill>
                          <a:latin typeface="Meiryo"/>
                          <a:ea typeface="Meiryo"/>
                        </a:rPr>
                        <a:t>☁️ Compute</a:t>
                      </a:r>
                    </a:p>
                  </a:txBody>
                  <a:tcPr/>
                </a:tc>
                <a:tc>
                  <a:txBody>
                    <a:bodyPr/>
                    <a:lstStyle/>
                    <a:p>
                      <a:r>
                        <a:rPr sz="1300">
                          <a:solidFill>
                            <a:srgbClr val="323130"/>
                          </a:solidFill>
                          <a:latin typeface="Meiryo"/>
                          <a:ea typeface="Meiryo"/>
                        </a:rPr>
                        <a:t>Functions, VM, Container Apps, AKS</a:t>
                      </a:r>
                    </a:p>
                  </a:txBody>
                  <a:tcPr/>
                </a:tc>
              </a:tr>
              <a:tr h="400775">
                <a:tc>
                  <a:txBody>
                    <a:bodyPr/>
                    <a:lstStyle/>
                    <a:p>
                      <a:r>
                        <a:rPr sz="1300">
                          <a:solidFill>
                            <a:srgbClr val="323130"/>
                          </a:solidFill>
                          <a:latin typeface="Meiryo"/>
                          <a:ea typeface="Meiryo"/>
                        </a:rPr>
                        <a:t>🗄️ Databases</a:t>
                      </a:r>
                    </a:p>
                  </a:txBody>
                  <a:tcPr/>
                </a:tc>
                <a:tc>
                  <a:txBody>
                    <a:bodyPr/>
                    <a:lstStyle/>
                    <a:p>
                      <a:r>
                        <a:rPr sz="1300">
                          <a:solidFill>
                            <a:srgbClr val="323130"/>
                          </a:solidFill>
                          <a:latin typeface="Meiryo"/>
                          <a:ea typeface="Meiryo"/>
                        </a:rPr>
                        <a:t>Cosmos DB, SQL Database, PostgreSQL</a:t>
                      </a:r>
                    </a:p>
                  </a:txBody>
                  <a:tcPr/>
                </a:tc>
              </a:tr>
              <a:tr h="400775">
                <a:tc>
                  <a:txBody>
                    <a:bodyPr/>
                    <a:lstStyle/>
                    <a:p>
                      <a:r>
                        <a:rPr sz="1300">
                          <a:solidFill>
                            <a:srgbClr val="323130"/>
                          </a:solidFill>
                          <a:latin typeface="Meiryo"/>
                          <a:ea typeface="Meiryo"/>
                        </a:rPr>
                        <a:t>🔒 Security</a:t>
                      </a:r>
                    </a:p>
                  </a:txBody>
                  <a:tcPr/>
                </a:tc>
                <a:tc>
                  <a:txBody>
                    <a:bodyPr/>
                    <a:lstStyle/>
                    <a:p>
                      <a:r>
                        <a:rPr sz="1300">
                          <a:solidFill>
                            <a:srgbClr val="323130"/>
                          </a:solidFill>
                          <a:latin typeface="Meiryo"/>
                          <a:ea typeface="Meiryo"/>
                        </a:rPr>
                        <a:t>Key Vault, DDoS Protection, Firewall</a:t>
                      </a:r>
                    </a:p>
                  </a:txBody>
                  <a:tcPr/>
                </a:tc>
              </a:tr>
              <a:tr h="400775">
                <a:tc>
                  <a:txBody>
                    <a:bodyPr/>
                    <a:lstStyle/>
                    <a:p>
                      <a:r>
                        <a:rPr sz="1300">
                          <a:solidFill>
                            <a:srgbClr val="323130"/>
                          </a:solidFill>
                          <a:latin typeface="Meiryo"/>
                          <a:ea typeface="Meiryo"/>
                        </a:rPr>
                        <a:t>🌐 Networking</a:t>
                      </a:r>
                    </a:p>
                  </a:txBody>
                  <a:tcPr/>
                </a:tc>
                <a:tc>
                  <a:txBody>
                    <a:bodyPr/>
                    <a:lstStyle/>
                    <a:p>
                      <a:r>
                        <a:rPr sz="1300">
                          <a:solidFill>
                            <a:srgbClr val="323130"/>
                          </a:solidFill>
                          <a:latin typeface="Meiryo"/>
                          <a:ea typeface="Meiryo"/>
                        </a:rPr>
                        <a:t>VNet, Load Balancer, Front Door</a:t>
                      </a:r>
                    </a:p>
                  </a:txBody>
                  <a:tcPr/>
                </a:tc>
              </a:tr>
              <a:tr h="400780">
                <a:tc>
                  <a:txBody>
                    <a:bodyPr/>
                    <a:lstStyle/>
                    <a:p>
                      <a:r>
                        <a:rPr sz="1300">
                          <a:solidFill>
                            <a:srgbClr val="323130"/>
                          </a:solidFill>
                          <a:latin typeface="Meiryo"/>
                          <a:ea typeface="Meiryo"/>
                        </a:rPr>
                        <a:t>🌍 Hybrid + Multicloud</a:t>
                      </a:r>
                    </a:p>
                  </a:txBody>
                  <a:tcPr/>
                </a:tc>
                <a:tc>
                  <a:txBody>
                    <a:bodyPr/>
                    <a:lstStyle/>
                    <a:p>
                      <a:r>
                        <a:rPr sz="1300">
                          <a:solidFill>
                            <a:srgbClr val="323130"/>
                          </a:solidFill>
                          <a:latin typeface="Meiryo"/>
                          <a:ea typeface="Meiryo"/>
                        </a:rPr>
                        <a:t>Azure Arc, Azure Local, Stack HCI</a:t>
                      </a:r>
                    </a:p>
                  </a:txBody>
                  <a:tcPr/>
                </a:tc>
              </a:tr>
            </a:tbl>
          </a:graphicData>
        </a:graphic>
      </p:graphicFrame>
      <p:sp>
        <p:nvSpPr>
          <p:cNvPr id="7" name="TextBox 6"/>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19 / 38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③ 各スキルに含まれる知識</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4328160"/>
          </a:xfrm>
          <a:prstGeom prst="rect">
            <a:avLst/>
          </a:prstGeom>
          <a:noFill/>
        </p:spPr>
        <p:txBody>
          <a:bodyPr wrap="square">
            <a:normAutofit/>
          </a:bodyPr>
          <a:lstStyle/>
          <a:p>
            <a:pPr>
              <a:spcAft>
                <a:spcPts val="400"/>
              </a:spcAft>
            </a:pPr>
            <a:r>
              <a:rPr sz="2000">
                <a:solidFill>
                  <a:srgbClr val="323130"/>
                </a:solidFill>
                <a:latin typeface="Meiryo"/>
                <a:ea typeface="Meiryo"/>
              </a:rPr>
              <a:t>1つのスキルに含まれる情報カテゴリ:</a:t>
            </a:r>
          </a:p>
          <a:p>
            <a:pPr>
              <a:spcAft>
                <a:spcPts val="500"/>
              </a:spcAft>
            </a:pPr>
            <a:r>
              <a:rPr sz="2000">
                <a:solidFill>
                  <a:srgbClr val="323130"/>
                </a:solidFill>
                <a:latin typeface="Meiryo"/>
                <a:ea typeface="Meiryo"/>
              </a:rPr>
              <a:t>• </a:t>
            </a:r>
            <a:r>
              <a:rPr sz="2000" b="1">
                <a:solidFill>
                  <a:srgbClr val="323130"/>
                </a:solidFill>
                <a:latin typeface="Meiryo"/>
                <a:ea typeface="Meiryo"/>
              </a:rPr>
              <a:t>Troubleshooting</a:t>
            </a:r>
            <a:r>
              <a:rPr sz="2000">
                <a:solidFill>
                  <a:srgbClr val="323130"/>
                </a:solidFill>
                <a:latin typeface="Meiryo"/>
                <a:ea typeface="Meiryo"/>
              </a:rPr>
              <a:t> — よくある問題と解決策</a:t>
            </a:r>
          </a:p>
          <a:p>
            <a:pPr>
              <a:spcAft>
                <a:spcPts val="500"/>
              </a:spcAft>
            </a:pPr>
            <a:r>
              <a:rPr sz="2000">
                <a:solidFill>
                  <a:srgbClr val="323130"/>
                </a:solidFill>
                <a:latin typeface="Meiryo"/>
                <a:ea typeface="Meiryo"/>
              </a:rPr>
              <a:t>• </a:t>
            </a:r>
            <a:r>
              <a:rPr sz="2000" b="1">
                <a:solidFill>
                  <a:srgbClr val="323130"/>
                </a:solidFill>
                <a:latin typeface="Meiryo"/>
                <a:ea typeface="Meiryo"/>
              </a:rPr>
              <a:t>Best Practices</a:t>
            </a:r>
            <a:r>
              <a:rPr sz="2000">
                <a:solidFill>
                  <a:srgbClr val="323130"/>
                </a:solidFill>
                <a:latin typeface="Meiryo"/>
                <a:ea typeface="Meiryo"/>
              </a:rPr>
              <a:t> — 推奨パターン</a:t>
            </a:r>
          </a:p>
          <a:p>
            <a:pPr>
              <a:spcAft>
                <a:spcPts val="500"/>
              </a:spcAft>
            </a:pPr>
            <a:r>
              <a:rPr sz="2000">
                <a:solidFill>
                  <a:srgbClr val="323130"/>
                </a:solidFill>
                <a:latin typeface="Meiryo"/>
                <a:ea typeface="Meiryo"/>
              </a:rPr>
              <a:t>• </a:t>
            </a:r>
            <a:r>
              <a:rPr sz="2000" b="1">
                <a:solidFill>
                  <a:srgbClr val="323130"/>
                </a:solidFill>
                <a:latin typeface="Meiryo"/>
                <a:ea typeface="Meiryo"/>
              </a:rPr>
              <a:t>Decision Making</a:t>
            </a:r>
            <a:r>
              <a:rPr sz="2000">
                <a:solidFill>
                  <a:srgbClr val="323130"/>
                </a:solidFill>
                <a:latin typeface="Meiryo"/>
                <a:ea typeface="Meiryo"/>
              </a:rPr>
              <a:t> — 「どんな時にこのサービスを選ぶか」</a:t>
            </a:r>
          </a:p>
          <a:p>
            <a:pPr>
              <a:spcAft>
                <a:spcPts val="500"/>
              </a:spcAft>
            </a:pPr>
            <a:r>
              <a:rPr sz="2000">
                <a:solidFill>
                  <a:srgbClr val="323130"/>
                </a:solidFill>
                <a:latin typeface="Meiryo"/>
                <a:ea typeface="Meiryo"/>
              </a:rPr>
              <a:t>• </a:t>
            </a:r>
            <a:r>
              <a:rPr sz="2000" b="1">
                <a:solidFill>
                  <a:srgbClr val="323130"/>
                </a:solidFill>
                <a:latin typeface="Meiryo"/>
                <a:ea typeface="Meiryo"/>
              </a:rPr>
              <a:t>Architecture &amp; Design Patterns</a:t>
            </a:r>
            <a:r>
              <a:rPr sz="2000">
                <a:solidFill>
                  <a:srgbClr val="323130"/>
                </a:solidFill>
                <a:latin typeface="Meiryo"/>
                <a:ea typeface="Meiryo"/>
              </a:rPr>
              <a:t> — 設計パターン</a:t>
            </a:r>
          </a:p>
          <a:p>
            <a:pPr>
              <a:spcAft>
                <a:spcPts val="500"/>
              </a:spcAft>
            </a:pPr>
            <a:r>
              <a:rPr sz="2000">
                <a:solidFill>
                  <a:srgbClr val="323130"/>
                </a:solidFill>
                <a:latin typeface="Meiryo"/>
                <a:ea typeface="Meiryo"/>
              </a:rPr>
              <a:t>• </a:t>
            </a:r>
            <a:r>
              <a:rPr sz="2000" b="1">
                <a:solidFill>
                  <a:srgbClr val="323130"/>
                </a:solidFill>
                <a:latin typeface="Meiryo"/>
                <a:ea typeface="Meiryo"/>
              </a:rPr>
              <a:t>Limits &amp; Quotas</a:t>
            </a:r>
            <a:r>
              <a:rPr sz="2000">
                <a:solidFill>
                  <a:srgbClr val="323130"/>
                </a:solidFill>
                <a:latin typeface="Meiryo"/>
                <a:ea typeface="Meiryo"/>
              </a:rPr>
              <a:t> — 制限事項（これ重要！）</a:t>
            </a:r>
          </a:p>
          <a:p>
            <a:pPr>
              <a:spcAft>
                <a:spcPts val="500"/>
              </a:spcAft>
            </a:pPr>
            <a:r>
              <a:rPr sz="2000">
                <a:solidFill>
                  <a:srgbClr val="323130"/>
                </a:solidFill>
                <a:latin typeface="Meiryo"/>
                <a:ea typeface="Meiryo"/>
              </a:rPr>
              <a:t>• </a:t>
            </a:r>
            <a:r>
              <a:rPr sz="2000" b="1">
                <a:solidFill>
                  <a:srgbClr val="323130"/>
                </a:solidFill>
                <a:latin typeface="Meiryo"/>
                <a:ea typeface="Meiryo"/>
              </a:rPr>
              <a:t>Security</a:t>
            </a:r>
            <a:r>
              <a:rPr sz="2000">
                <a:solidFill>
                  <a:srgbClr val="323130"/>
                </a:solidFill>
                <a:latin typeface="Meiryo"/>
                <a:ea typeface="Meiryo"/>
              </a:rPr>
              <a:t> — セキュリティ考慮事項</a:t>
            </a:r>
          </a:p>
          <a:p>
            <a:pPr>
              <a:spcAft>
                <a:spcPts val="500"/>
              </a:spcAft>
            </a:pPr>
            <a:r>
              <a:rPr sz="2000">
                <a:solidFill>
                  <a:srgbClr val="323130"/>
                </a:solidFill>
                <a:latin typeface="Meiryo"/>
                <a:ea typeface="Meiryo"/>
              </a:rPr>
              <a:t>• </a:t>
            </a:r>
            <a:r>
              <a:rPr sz="2000" b="1">
                <a:solidFill>
                  <a:srgbClr val="323130"/>
                </a:solidFill>
                <a:latin typeface="Meiryo"/>
                <a:ea typeface="Meiryo"/>
              </a:rPr>
              <a:t>Configuration</a:t>
            </a:r>
            <a:r>
              <a:rPr sz="2000">
                <a:solidFill>
                  <a:srgbClr val="323130"/>
                </a:solidFill>
                <a:latin typeface="Meiryo"/>
                <a:ea typeface="Meiryo"/>
              </a:rPr>
              <a:t> — 設定のベストプラクティス</a:t>
            </a:r>
          </a:p>
          <a:p>
            <a:pPr>
              <a:spcAft>
                <a:spcPts val="500"/>
              </a:spcAft>
            </a:pPr>
            <a:r>
              <a:rPr sz="2000">
                <a:solidFill>
                  <a:srgbClr val="323130"/>
                </a:solidFill>
                <a:latin typeface="Meiryo"/>
                <a:ea typeface="Meiryo"/>
              </a:rPr>
              <a:t>• </a:t>
            </a:r>
            <a:r>
              <a:rPr sz="2000" b="1">
                <a:solidFill>
                  <a:srgbClr val="323130"/>
                </a:solidFill>
                <a:latin typeface="Meiryo"/>
                <a:ea typeface="Meiryo"/>
              </a:rPr>
              <a:t>Integrations &amp; Coding Patterns</a:t>
            </a:r>
            <a:r>
              <a:rPr sz="2000">
                <a:solidFill>
                  <a:srgbClr val="323130"/>
                </a:solidFill>
                <a:latin typeface="Meiryo"/>
                <a:ea typeface="Meiryo"/>
              </a:rPr>
              <a:t> — 連携パターン</a:t>
            </a:r>
          </a:p>
          <a:p>
            <a:pPr>
              <a:spcAft>
                <a:spcPts val="500"/>
              </a:spcAft>
            </a:pPr>
            <a:r>
              <a:rPr sz="2000">
                <a:solidFill>
                  <a:srgbClr val="323130"/>
                </a:solidFill>
                <a:latin typeface="Meiryo"/>
                <a:ea typeface="Meiryo"/>
              </a:rPr>
              <a:t>• </a:t>
            </a:r>
            <a:r>
              <a:rPr sz="2000" b="1">
                <a:solidFill>
                  <a:srgbClr val="323130"/>
                </a:solidFill>
                <a:latin typeface="Meiryo"/>
                <a:ea typeface="Meiryo"/>
              </a:rPr>
              <a:t>Deployment</a:t>
            </a:r>
            <a:r>
              <a:rPr sz="2000">
                <a:solidFill>
                  <a:srgbClr val="323130"/>
                </a:solidFill>
                <a:latin typeface="Meiryo"/>
                <a:ea typeface="Meiryo"/>
              </a:rPr>
              <a:t> — デプロイ手順</a:t>
            </a:r>
          </a:p>
        </p:txBody>
      </p:sp>
      <p:sp>
        <p:nvSpPr>
          <p:cNvPr id="6" name="TextBox 5"/>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20 / 38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③ HCCJPメンバー注目: Hybrid + Multicloud</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661160"/>
          <a:ext cx="11183112" cy="2875280"/>
        </p:xfrm>
        <a:graphic>
          <a:graphicData uri="http://schemas.openxmlformats.org/drawingml/2006/table">
            <a:tbl>
              <a:tblPr firstRow="1" bandRow="1">
                <a:tableStyleId>{5C22544A-7EE6-4342-B048-85BDC9FD1C3A}</a:tableStyleId>
              </a:tblPr>
              <a:tblGrid>
                <a:gridCol w="5591556"/>
                <a:gridCol w="5591556"/>
              </a:tblGrid>
              <a:tr h="575056">
                <a:tc>
                  <a:txBody>
                    <a:bodyPr/>
                    <a:lstStyle/>
                    <a:p>
                      <a:r>
                        <a:rPr sz="1800" b="1">
                          <a:solidFill>
                            <a:srgbClr val="243A5E"/>
                          </a:solidFill>
                          <a:latin typeface="Meiryo"/>
                          <a:ea typeface="Meiryo"/>
                        </a:rPr>
                        <a:t>スキル</a:t>
                      </a:r>
                    </a:p>
                  </a:txBody>
                  <a:tcPr>
                    <a:solidFill>
                      <a:srgbClr val="E8F0FE"/>
                    </a:solidFill>
                  </a:tcPr>
                </a:tc>
                <a:tc>
                  <a:txBody>
                    <a:bodyPr/>
                    <a:lstStyle/>
                    <a:p>
                      <a:r>
                        <a:rPr sz="1800" b="1">
                          <a:solidFill>
                            <a:srgbClr val="243A5E"/>
                          </a:solidFill>
                          <a:latin typeface="Meiryo"/>
                          <a:ea typeface="Meiryo"/>
                        </a:rPr>
                        <a:t>説明</a:t>
                      </a:r>
                    </a:p>
                  </a:txBody>
                  <a:tcPr>
                    <a:solidFill>
                      <a:srgbClr val="E8F0FE"/>
                    </a:solidFill>
                  </a:tcPr>
                </a:tc>
              </a:tr>
              <a:tr h="575056">
                <a:tc>
                  <a:txBody>
                    <a:bodyPr/>
                    <a:lstStyle/>
                    <a:p>
                      <a:r>
                        <a:rPr sz="1800">
                          <a:solidFill>
                            <a:srgbClr val="323130"/>
                          </a:solidFill>
                          <a:latin typeface="Meiryo"/>
                          <a:ea typeface="Meiryo"/>
                        </a:rPr>
                        <a:t>azure-arc</a:t>
                      </a:r>
                    </a:p>
                  </a:txBody>
                  <a:tcPr/>
                </a:tc>
                <a:tc>
                  <a:txBody>
                    <a:bodyPr/>
                    <a:lstStyle/>
                    <a:p>
                      <a:r>
                        <a:rPr sz="1800">
                          <a:solidFill>
                            <a:srgbClr val="323130"/>
                          </a:solidFill>
                          <a:latin typeface="Meiryo"/>
                          <a:ea typeface="Meiryo"/>
                        </a:rPr>
                        <a:t>Azure Arc でマルチクラウド/オンプレを統合管理</a:t>
                      </a:r>
                    </a:p>
                  </a:txBody>
                  <a:tcPr/>
                </a:tc>
              </a:tr>
              <a:tr h="575056">
                <a:tc>
                  <a:txBody>
                    <a:bodyPr/>
                    <a:lstStyle/>
                    <a:p>
                      <a:r>
                        <a:rPr sz="1800">
                          <a:solidFill>
                            <a:srgbClr val="323130"/>
                          </a:solidFill>
                          <a:latin typeface="Meiryo"/>
                          <a:ea typeface="Meiryo"/>
                        </a:rPr>
                        <a:t>azure-aks-edge-essentials</a:t>
                      </a:r>
                    </a:p>
                  </a:txBody>
                  <a:tcPr/>
                </a:tc>
                <a:tc>
                  <a:txBody>
                    <a:bodyPr/>
                    <a:lstStyle/>
                    <a:p>
                      <a:r>
                        <a:rPr sz="1800">
                          <a:solidFill>
                            <a:srgbClr val="323130"/>
                          </a:solidFill>
                          <a:latin typeface="Meiryo"/>
                          <a:ea typeface="Meiryo"/>
                        </a:rPr>
                        <a:t>エッジでのKubernetes</a:t>
                      </a:r>
                    </a:p>
                  </a:txBody>
                  <a:tcPr/>
                </a:tc>
              </a:tr>
              <a:tr h="575056">
                <a:tc>
                  <a:txBody>
                    <a:bodyPr/>
                    <a:lstStyle/>
                    <a:p>
                      <a:r>
                        <a:rPr sz="1800">
                          <a:solidFill>
                            <a:srgbClr val="323130"/>
                          </a:solidFill>
                          <a:latin typeface="Meiryo"/>
                          <a:ea typeface="Meiryo"/>
                        </a:rPr>
                        <a:t>azure-stack-edge</a:t>
                      </a:r>
                    </a:p>
                  </a:txBody>
                  <a:tcPr/>
                </a:tc>
                <a:tc>
                  <a:txBody>
                    <a:bodyPr/>
                    <a:lstStyle/>
                    <a:p>
                      <a:r>
                        <a:rPr sz="1800">
                          <a:solidFill>
                            <a:srgbClr val="323130"/>
                          </a:solidFill>
                          <a:latin typeface="Meiryo"/>
                          <a:ea typeface="Meiryo"/>
                        </a:rPr>
                        <a:t>Azure Stack Edge デバイス</a:t>
                      </a:r>
                    </a:p>
                  </a:txBody>
                  <a:tcPr/>
                </a:tc>
              </a:tr>
              <a:tr h="575056">
                <a:tc>
                  <a:txBody>
                    <a:bodyPr/>
                    <a:lstStyle/>
                    <a:p>
                      <a:r>
                        <a:rPr sz="1800">
                          <a:solidFill>
                            <a:srgbClr val="323130"/>
                          </a:solidFill>
                          <a:latin typeface="Meiryo"/>
                          <a:ea typeface="Meiryo"/>
                        </a:rPr>
                        <a:t>microsoft-foundry-local</a:t>
                      </a:r>
                    </a:p>
                  </a:txBody>
                  <a:tcPr/>
                </a:tc>
                <a:tc>
                  <a:txBody>
                    <a:bodyPr/>
                    <a:lstStyle/>
                    <a:p>
                      <a:r>
                        <a:rPr sz="1800">
                          <a:solidFill>
                            <a:srgbClr val="323130"/>
                          </a:solidFill>
                          <a:latin typeface="Meiryo"/>
                          <a:ea typeface="Meiryo"/>
                        </a:rPr>
                        <a:t>Foundry をローカルで実行</a:t>
                      </a:r>
                    </a:p>
                  </a:txBody>
                  <a:tcPr/>
                </a:tc>
              </a:tr>
            </a:tbl>
          </a:graphicData>
        </a:graphic>
      </p:graphicFrame>
      <p:sp>
        <p:nvSpPr>
          <p:cNvPr id="6" name="TextBox 5"/>
          <p:cNvSpPr txBox="1"/>
          <p:nvPr/>
        </p:nvSpPr>
        <p:spPr>
          <a:xfrm>
            <a:off x="502920" y="4627880"/>
            <a:ext cx="11183112" cy="1361440"/>
          </a:xfrm>
          <a:prstGeom prst="rect">
            <a:avLst/>
          </a:prstGeom>
          <a:noFill/>
        </p:spPr>
        <p:txBody>
          <a:bodyPr wrap="square">
            <a:normAutofit/>
          </a:bodyPr>
          <a:lstStyle/>
          <a:p>
            <a:pPr>
              <a:spcAft>
                <a:spcPts val="500"/>
              </a:spcAft>
            </a:pPr>
            <a:r>
              <a:rPr sz="2700" b="1">
                <a:solidFill>
                  <a:srgbClr val="323130"/>
                </a:solidFill>
                <a:latin typeface="Meiryo"/>
                <a:ea typeface="Meiryo"/>
              </a:rPr>
              <a:t>→ 前回（第71回）のテーマ「AI時代のハイブリッドクラウド」の延長線上にある</a:t>
            </a:r>
          </a:p>
        </p:txBody>
      </p:sp>
      <p:sp>
        <p:nvSpPr>
          <p:cNvPr id="7" name="TextBox 6"/>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21 / 38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③ azure-arc スキルの深さ（実例）</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829309"/>
          </a:xfrm>
          <a:prstGeom prst="rect">
            <a:avLst/>
          </a:prstGeom>
          <a:noFill/>
        </p:spPr>
        <p:txBody>
          <a:bodyPr wrap="square">
            <a:normAutofit/>
          </a:bodyPr>
          <a:lstStyle/>
          <a:p>
            <a:pPr>
              <a:spcAft>
                <a:spcPts val="400"/>
              </a:spcAft>
            </a:pPr>
            <a:r>
              <a:rPr sz="2100" b="1">
                <a:solidFill>
                  <a:srgbClr val="323130"/>
                </a:solidFill>
                <a:latin typeface="Meiryo"/>
                <a:ea typeface="Meiryo"/>
              </a:rPr>
              <a:t>9カテゴリ × 数十トピック</a:t>
            </a:r>
            <a:r>
              <a:rPr sz="2100">
                <a:solidFill>
                  <a:srgbClr val="323130"/>
                </a:solidFill>
                <a:latin typeface="Meiryo"/>
                <a:ea typeface="Meiryo"/>
              </a:rPr>
              <a:t> が1つのスキルに凝縮:</a:t>
            </a:r>
          </a:p>
        </p:txBody>
      </p:sp>
      <p:graphicFrame>
        <p:nvGraphicFramePr>
          <p:cNvPr id="6" name="Table 5"/>
          <p:cNvGraphicFramePr>
            <a:graphicFrameLocks noGrp="1"/>
          </p:cNvGraphicFramePr>
          <p:nvPr/>
        </p:nvGraphicFramePr>
        <p:xfrm>
          <a:off x="502920" y="2581910"/>
          <a:ext cx="11183112" cy="2684780"/>
        </p:xfrm>
        <a:graphic>
          <a:graphicData uri="http://schemas.openxmlformats.org/drawingml/2006/table">
            <a:tbl>
              <a:tblPr firstRow="1" bandRow="1">
                <a:tableStyleId>{5C22544A-7EE6-4342-B048-85BDC9FD1C3A}</a:tableStyleId>
              </a:tblPr>
              <a:tblGrid>
                <a:gridCol w="3727704"/>
                <a:gridCol w="3727704"/>
                <a:gridCol w="3727704"/>
              </a:tblGrid>
              <a:tr h="536956">
                <a:tc>
                  <a:txBody>
                    <a:bodyPr/>
                    <a:lstStyle/>
                    <a:p>
                      <a:r>
                        <a:rPr sz="1400" b="1">
                          <a:solidFill>
                            <a:srgbClr val="243A5E"/>
                          </a:solidFill>
                          <a:latin typeface="Meiryo"/>
                          <a:ea typeface="Meiryo"/>
                        </a:rPr>
                        <a:t>カテゴリ</a:t>
                      </a:r>
                    </a:p>
                  </a:txBody>
                  <a:tcPr>
                    <a:solidFill>
                      <a:srgbClr val="E8F0FE"/>
                    </a:solidFill>
                  </a:tcPr>
                </a:tc>
                <a:tc>
                  <a:txBody>
                    <a:bodyPr/>
                    <a:lstStyle/>
                    <a:p>
                      <a:r>
                        <a:rPr sz="1400" b="1">
                          <a:solidFill>
                            <a:srgbClr val="243A5E"/>
                          </a:solidFill>
                          <a:latin typeface="Meiryo"/>
                          <a:ea typeface="Meiryo"/>
                        </a:rPr>
                        <a:t>トピック数</a:t>
                      </a:r>
                    </a:p>
                  </a:txBody>
                  <a:tcPr>
                    <a:solidFill>
                      <a:srgbClr val="E8F0FE"/>
                    </a:solidFill>
                  </a:tcPr>
                </a:tc>
                <a:tc>
                  <a:txBody>
                    <a:bodyPr/>
                    <a:lstStyle/>
                    <a:p>
                      <a:r>
                        <a:rPr sz="1400" b="1">
                          <a:solidFill>
                            <a:srgbClr val="243A5E"/>
                          </a:solidFill>
                          <a:latin typeface="Meiryo"/>
                          <a:ea typeface="Meiryo"/>
                        </a:rPr>
                        <a:t>例</a:t>
                      </a:r>
                    </a:p>
                  </a:txBody>
                  <a:tcPr>
                    <a:solidFill>
                      <a:srgbClr val="E8F0FE"/>
                    </a:solidFill>
                  </a:tcPr>
                </a:tc>
              </a:tr>
              <a:tr h="536956">
                <a:tc>
                  <a:txBody>
                    <a:bodyPr/>
                    <a:lstStyle/>
                    <a:p>
                      <a:r>
                        <a:rPr sz="1400">
                          <a:solidFill>
                            <a:srgbClr val="323130"/>
                          </a:solidFill>
                          <a:latin typeface="Meiryo"/>
                          <a:ea typeface="Meiryo"/>
                        </a:rPr>
                        <a:t>Troubleshooting</a:t>
                      </a:r>
                    </a:p>
                  </a:txBody>
                  <a:tcPr/>
                </a:tc>
                <a:tc>
                  <a:txBody>
                    <a:bodyPr/>
                    <a:lstStyle/>
                    <a:p>
                      <a:r>
                        <a:rPr sz="1400">
                          <a:solidFill>
                            <a:srgbClr val="323130"/>
                          </a:solidFill>
                          <a:latin typeface="Meiryo"/>
                          <a:ea typeface="Meiryo"/>
                        </a:rPr>
                        <a:t>20+</a:t>
                      </a:r>
                    </a:p>
                  </a:txBody>
                  <a:tcPr/>
                </a:tc>
                <a:tc>
                  <a:txBody>
                    <a:bodyPr/>
                    <a:lstStyle/>
                    <a:p>
                      <a:r>
                        <a:rPr sz="1400">
                          <a:solidFill>
                            <a:srgbClr val="323130"/>
                          </a:solidFill>
                          <a:latin typeface="Meiryo"/>
                          <a:ea typeface="Meiryo"/>
                        </a:rPr>
                        <a:t>Kubernetes/Servers/SQL MI/Resource Bridge</a:t>
                      </a:r>
                    </a:p>
                  </a:txBody>
                  <a:tcPr/>
                </a:tc>
              </a:tr>
              <a:tr h="536956">
                <a:tc>
                  <a:txBody>
                    <a:bodyPr/>
                    <a:lstStyle/>
                    <a:p>
                      <a:r>
                        <a:rPr sz="1400">
                          <a:solidFill>
                            <a:srgbClr val="323130"/>
                          </a:solidFill>
                          <a:latin typeface="Meiryo"/>
                          <a:ea typeface="Meiryo"/>
                        </a:rPr>
                        <a:t>Security</a:t>
                      </a:r>
                    </a:p>
                  </a:txBody>
                  <a:tcPr/>
                </a:tc>
                <a:tc>
                  <a:txBody>
                    <a:bodyPr/>
                    <a:lstStyle/>
                    <a:p>
                      <a:r>
                        <a:rPr sz="1400">
                          <a:solidFill>
                            <a:srgbClr val="323130"/>
                          </a:solidFill>
                          <a:latin typeface="Meiryo"/>
                          <a:ea typeface="Meiryo"/>
                        </a:rPr>
                        <a:t>59行分</a:t>
                      </a:r>
                    </a:p>
                  </a:txBody>
                  <a:tcPr/>
                </a:tc>
                <a:tc>
                  <a:txBody>
                    <a:bodyPr/>
                    <a:lstStyle/>
                    <a:p>
                      <a:r>
                        <a:rPr sz="1400">
                          <a:solidFill>
                            <a:srgbClr val="323130"/>
                          </a:solidFill>
                          <a:latin typeface="Meiryo"/>
                          <a:ea typeface="Meiryo"/>
                        </a:rPr>
                        <a:t>RBAC, AD/Entra auth, TDE, Private Link</a:t>
                      </a:r>
                    </a:p>
                  </a:txBody>
                  <a:tcPr/>
                </a:tc>
              </a:tr>
              <a:tr h="536956">
                <a:tc>
                  <a:txBody>
                    <a:bodyPr/>
                    <a:lstStyle/>
                    <a:p>
                      <a:r>
                        <a:rPr sz="1400">
                          <a:solidFill>
                            <a:srgbClr val="323130"/>
                          </a:solidFill>
                          <a:latin typeface="Meiryo"/>
                          <a:ea typeface="Meiryo"/>
                        </a:rPr>
                        <a:t>Configuration</a:t>
                      </a:r>
                    </a:p>
                  </a:txBody>
                  <a:tcPr/>
                </a:tc>
                <a:tc>
                  <a:txBody>
                    <a:bodyPr/>
                    <a:lstStyle/>
                    <a:p>
                      <a:r>
                        <a:rPr sz="1400">
                          <a:solidFill>
                            <a:srgbClr val="323130"/>
                          </a:solidFill>
                          <a:latin typeface="Meiryo"/>
                          <a:ea typeface="Meiryo"/>
                        </a:rPr>
                        <a:t>100行分</a:t>
                      </a:r>
                    </a:p>
                  </a:txBody>
                  <a:tcPr/>
                </a:tc>
                <a:tc>
                  <a:txBody>
                    <a:bodyPr/>
                    <a:lstStyle/>
                    <a:p>
                      <a:r>
                        <a:rPr sz="1400">
                          <a:solidFill>
                            <a:srgbClr val="323130"/>
                          </a:solidFill>
                          <a:latin typeface="Meiryo"/>
                          <a:ea typeface="Meiryo"/>
                        </a:rPr>
                        <a:t>GitOps, Extensions, Key Vault, 監視</a:t>
                      </a:r>
                    </a:p>
                  </a:txBody>
                  <a:tcPr/>
                </a:tc>
              </a:tr>
              <a:tr h="536956">
                <a:tc>
                  <a:txBody>
                    <a:bodyPr/>
                    <a:lstStyle/>
                    <a:p>
                      <a:r>
                        <a:rPr sz="1400">
                          <a:solidFill>
                            <a:srgbClr val="323130"/>
                          </a:solidFill>
                          <a:latin typeface="Meiryo"/>
                          <a:ea typeface="Meiryo"/>
                        </a:rPr>
                        <a:t>Deployment</a:t>
                      </a:r>
                    </a:p>
                  </a:txBody>
                  <a:tcPr/>
                </a:tc>
                <a:tc>
                  <a:txBody>
                    <a:bodyPr/>
                    <a:lstStyle/>
                    <a:p>
                      <a:r>
                        <a:rPr sz="1400">
                          <a:solidFill>
                            <a:srgbClr val="323130"/>
                          </a:solidFill>
                          <a:latin typeface="Meiryo"/>
                          <a:ea typeface="Meiryo"/>
                        </a:rPr>
                        <a:t>30行分</a:t>
                      </a:r>
                    </a:p>
                  </a:txBody>
                  <a:tcPr/>
                </a:tc>
                <a:tc>
                  <a:txBody>
                    <a:bodyPr/>
                    <a:lstStyle/>
                    <a:p>
                      <a:r>
                        <a:rPr sz="1400">
                          <a:solidFill>
                            <a:srgbClr val="323130"/>
                          </a:solidFill>
                          <a:latin typeface="Meiryo"/>
                          <a:ea typeface="Meiryo"/>
                        </a:rPr>
                        <a:t>Data controllers, Edge RAG, SCVMM</a:t>
                      </a:r>
                    </a:p>
                  </a:txBody>
                  <a:tcPr/>
                </a:tc>
              </a:tr>
            </a:tbl>
          </a:graphicData>
        </a:graphic>
      </p:graphicFrame>
      <p:sp>
        <p:nvSpPr>
          <p:cNvPr id="7" name="TextBox 6"/>
          <p:cNvSpPr txBox="1"/>
          <p:nvPr/>
        </p:nvSpPr>
        <p:spPr>
          <a:xfrm>
            <a:off x="502920" y="5358130"/>
            <a:ext cx="11183112" cy="631189"/>
          </a:xfrm>
          <a:prstGeom prst="rect">
            <a:avLst/>
          </a:prstGeom>
          <a:noFill/>
        </p:spPr>
        <p:txBody>
          <a:bodyPr wrap="square">
            <a:normAutofit/>
          </a:bodyPr>
          <a:lstStyle/>
          <a:p>
            <a:pPr>
              <a:spcAft>
                <a:spcPts val="400"/>
              </a:spcAft>
            </a:pPr>
            <a:r>
              <a:rPr sz="2100" b="1">
                <a:solidFill>
                  <a:srgbClr val="323130"/>
                </a:solidFill>
                <a:latin typeface="Meiryo"/>
                <a:ea typeface="Meiryo"/>
              </a:rPr>
              <a:t>AIエージェントが「Arcの専門家」になれるだけの知識量</a:t>
            </a:r>
          </a:p>
        </p:txBody>
      </p:sp>
      <p:sp>
        <p:nvSpPr>
          <p:cNvPr id="8" name="TextBox 7"/>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22 / 38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1524000"/>
          </a:xfrm>
          <a:prstGeom prst="rect">
            <a:avLst/>
          </a:prstGeom>
          <a:noFill/>
        </p:spPr>
        <p:txBody>
          <a:bodyPr wrap="square">
            <a:normAutofit/>
          </a:bodyPr>
          <a:lstStyle/>
          <a:p>
            <a:r>
              <a:rPr sz="4000" b="1">
                <a:solidFill>
                  <a:srgbClr val="0078D4"/>
                </a:solidFill>
                <a:latin typeface="Meiryo"/>
                <a:ea typeface="Meiryo"/>
              </a:rPr>
              <a:t>③ 重要な発見: ハイブリッド系のカバー格差 🔴</a:t>
            </a:r>
          </a:p>
        </p:txBody>
      </p:sp>
      <p:sp>
        <p:nvSpPr>
          <p:cNvPr id="4" name="Rectangle 3"/>
          <p:cNvSpPr/>
          <p:nvPr/>
        </p:nvSpPr>
        <p:spPr>
          <a:xfrm>
            <a:off x="502920" y="22098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2346960"/>
          <a:ext cx="11183112" cy="1757680"/>
        </p:xfrm>
        <a:graphic>
          <a:graphicData uri="http://schemas.openxmlformats.org/drawingml/2006/table">
            <a:tbl>
              <a:tblPr firstRow="1" bandRow="1">
                <a:tableStyleId>{5C22544A-7EE6-4342-B048-85BDC9FD1C3A}</a:tableStyleId>
              </a:tblPr>
              <a:tblGrid>
                <a:gridCol w="2795778"/>
                <a:gridCol w="2795778"/>
                <a:gridCol w="2795778"/>
                <a:gridCol w="2795778"/>
              </a:tblGrid>
              <a:tr h="439420">
                <a:tc>
                  <a:txBody>
                    <a:bodyPr/>
                    <a:lstStyle/>
                    <a:p>
                      <a:r>
                        <a:rPr sz="1400" b="1">
                          <a:solidFill>
                            <a:srgbClr val="243A5E"/>
                          </a:solidFill>
                          <a:latin typeface="Meiryo"/>
                          <a:ea typeface="Meiryo"/>
                        </a:rPr>
                        <a:t>リポジトリ</a:t>
                      </a:r>
                    </a:p>
                  </a:txBody>
                  <a:tcPr>
                    <a:solidFill>
                      <a:srgbClr val="E8F0FE"/>
                    </a:solidFill>
                  </a:tcPr>
                </a:tc>
                <a:tc>
                  <a:txBody>
                    <a:bodyPr/>
                    <a:lstStyle/>
                    <a:p>
                      <a:r>
                        <a:rPr sz="1400" b="1">
                          <a:solidFill>
                            <a:srgbClr val="243A5E"/>
                          </a:solidFill>
                          <a:latin typeface="Meiryo"/>
                          <a:ea typeface="Meiryo"/>
                        </a:rPr>
                        <a:t>Arc</a:t>
                      </a:r>
                    </a:p>
                  </a:txBody>
                  <a:tcPr>
                    <a:solidFill>
                      <a:srgbClr val="E8F0FE"/>
                    </a:solidFill>
                  </a:tcPr>
                </a:tc>
                <a:tc>
                  <a:txBody>
                    <a:bodyPr/>
                    <a:lstStyle/>
                    <a:p>
                      <a:r>
                        <a:rPr sz="1400" b="1">
                          <a:solidFill>
                            <a:srgbClr val="243A5E"/>
                          </a:solidFill>
                          <a:latin typeface="Meiryo"/>
                          <a:ea typeface="Meiryo"/>
                        </a:rPr>
                        <a:t>Local</a:t>
                      </a:r>
                    </a:p>
                  </a:txBody>
                  <a:tcPr>
                    <a:solidFill>
                      <a:srgbClr val="E8F0FE"/>
                    </a:solidFill>
                  </a:tcPr>
                </a:tc>
                <a:tc>
                  <a:txBody>
                    <a:bodyPr/>
                    <a:lstStyle/>
                    <a:p>
                      <a:r>
                        <a:rPr sz="1400" b="1">
                          <a:solidFill>
                            <a:srgbClr val="243A5E"/>
                          </a:solidFill>
                          <a:latin typeface="Meiryo"/>
                          <a:ea typeface="Meiryo"/>
                        </a:rPr>
                        <a:t>Foundry Local</a:t>
                      </a:r>
                    </a:p>
                  </a:txBody>
                  <a:tcPr>
                    <a:solidFill>
                      <a:srgbClr val="E8F0FE"/>
                    </a:solidFill>
                  </a:tcPr>
                </a:tc>
              </a:tr>
              <a:tr h="439420">
                <a:tc>
                  <a:txBody>
                    <a:bodyPr/>
                    <a:lstStyle/>
                    <a:p>
                      <a:r>
                        <a:rPr sz="1400">
                          <a:solidFill>
                            <a:srgbClr val="323130"/>
                          </a:solidFill>
                          <a:latin typeface="Meiryo"/>
                          <a:ea typeface="Meiryo"/>
                        </a:rPr>
                        <a:t>microsoft/skills</a:t>
                      </a:r>
                    </a:p>
                  </a:txBody>
                  <a:tcPr/>
                </a:tc>
                <a:tc>
                  <a:txBody>
                    <a:bodyPr/>
                    <a:lstStyle/>
                    <a:p>
                      <a:r>
                        <a:rPr sz="1400">
                          <a:solidFill>
                            <a:srgbClr val="323130"/>
                          </a:solidFill>
                          <a:latin typeface="Meiryo"/>
                          <a:ea typeface="Meiryo"/>
                        </a:rPr>
                        <a:t>❌ なし</a:t>
                      </a:r>
                    </a:p>
                  </a:txBody>
                  <a:tcPr/>
                </a:tc>
                <a:tc>
                  <a:txBody>
                    <a:bodyPr/>
                    <a:lstStyle/>
                    <a:p>
                      <a:r>
                        <a:rPr sz="1400">
                          <a:solidFill>
                            <a:srgbClr val="323130"/>
                          </a:solidFill>
                          <a:latin typeface="Meiryo"/>
                          <a:ea typeface="Meiryo"/>
                        </a:rPr>
                        <a:t>❌ なし</a:t>
                      </a:r>
                    </a:p>
                  </a:txBody>
                  <a:tcPr/>
                </a:tc>
                <a:tc>
                  <a:txBody>
                    <a:bodyPr/>
                    <a:lstStyle/>
                    <a:p>
                      <a:r>
                        <a:rPr sz="1400">
                          <a:solidFill>
                            <a:srgbClr val="323130"/>
                          </a:solidFill>
                          <a:latin typeface="Meiryo"/>
                          <a:ea typeface="Meiryo"/>
                        </a:rPr>
                        <a:t>❌ なし</a:t>
                      </a:r>
                    </a:p>
                  </a:txBody>
                  <a:tcPr/>
                </a:tc>
              </a:tr>
              <a:tr h="439420">
                <a:tc>
                  <a:txBody>
                    <a:bodyPr/>
                    <a:lstStyle/>
                    <a:p>
                      <a:r>
                        <a:rPr sz="1400">
                          <a:solidFill>
                            <a:srgbClr val="323130"/>
                          </a:solidFill>
                          <a:latin typeface="Meiryo"/>
                          <a:ea typeface="Meiryo"/>
                        </a:rPr>
                        <a:t>microsoft/azure-skills</a:t>
                      </a:r>
                    </a:p>
                  </a:txBody>
                  <a:tcPr/>
                </a:tc>
                <a:tc>
                  <a:txBody>
                    <a:bodyPr/>
                    <a:lstStyle/>
                    <a:p>
                      <a:r>
                        <a:rPr sz="1400">
                          <a:solidFill>
                            <a:srgbClr val="323130"/>
                          </a:solidFill>
                          <a:latin typeface="Meiryo"/>
                          <a:ea typeface="Meiryo"/>
                        </a:rPr>
                        <a:t>❌ なし</a:t>
                      </a:r>
                    </a:p>
                  </a:txBody>
                  <a:tcPr/>
                </a:tc>
                <a:tc>
                  <a:txBody>
                    <a:bodyPr/>
                    <a:lstStyle/>
                    <a:p>
                      <a:r>
                        <a:rPr sz="1400">
                          <a:solidFill>
                            <a:srgbClr val="323130"/>
                          </a:solidFill>
                          <a:latin typeface="Meiryo"/>
                          <a:ea typeface="Meiryo"/>
                        </a:rPr>
                        <a:t>❌ なし</a:t>
                      </a:r>
                    </a:p>
                  </a:txBody>
                  <a:tcPr/>
                </a:tc>
                <a:tc>
                  <a:txBody>
                    <a:bodyPr/>
                    <a:lstStyle/>
                    <a:p>
                      <a:r>
                        <a:rPr sz="1400">
                          <a:solidFill>
                            <a:srgbClr val="323130"/>
                          </a:solidFill>
                          <a:latin typeface="Meiryo"/>
                          <a:ea typeface="Meiryo"/>
                        </a:rPr>
                        <a:t>❌ なし</a:t>
                      </a:r>
                    </a:p>
                  </a:txBody>
                  <a:tcPr/>
                </a:tc>
              </a:tr>
              <a:tr h="439420">
                <a:tc>
                  <a:txBody>
                    <a:bodyPr/>
                    <a:lstStyle/>
                    <a:p>
                      <a:r>
                        <a:rPr sz="1400">
                          <a:solidFill>
                            <a:srgbClr val="323130"/>
                          </a:solidFill>
                          <a:latin typeface="Meiryo"/>
                          <a:ea typeface="Meiryo"/>
                        </a:rPr>
                        <a:t>MicrosoftDocs/Agent-Skills</a:t>
                      </a:r>
                    </a:p>
                  </a:txBody>
                  <a:tcPr/>
                </a:tc>
                <a:tc>
                  <a:txBody>
                    <a:bodyPr/>
                    <a:lstStyle/>
                    <a:p>
                      <a:r>
                        <a:rPr sz="1400">
                          <a:solidFill>
                            <a:srgbClr val="323130"/>
                          </a:solidFill>
                          <a:latin typeface="Meiryo"/>
                          <a:ea typeface="Meiryo"/>
                        </a:rPr>
                        <a:t>✅ 充実</a:t>
                      </a:r>
                    </a:p>
                  </a:txBody>
                  <a:tcPr/>
                </a:tc>
                <a:tc>
                  <a:txBody>
                    <a:bodyPr/>
                    <a:lstStyle/>
                    <a:p>
                      <a:r>
                        <a:rPr sz="1400">
                          <a:solidFill>
                            <a:srgbClr val="323130"/>
                          </a:solidFill>
                          <a:latin typeface="Meiryo"/>
                          <a:ea typeface="Meiryo"/>
                        </a:rPr>
                        <a:t>✅ 充実</a:t>
                      </a:r>
                    </a:p>
                  </a:txBody>
                  <a:tcPr/>
                </a:tc>
                <a:tc>
                  <a:txBody>
                    <a:bodyPr/>
                    <a:lstStyle/>
                    <a:p>
                      <a:r>
                        <a:rPr sz="1400">
                          <a:solidFill>
                            <a:srgbClr val="323130"/>
                          </a:solidFill>
                          <a:latin typeface="Meiryo"/>
                          <a:ea typeface="Meiryo"/>
                        </a:rPr>
                        <a:t>✅ あり</a:t>
                      </a:r>
                    </a:p>
                  </a:txBody>
                  <a:tcPr/>
                </a:tc>
              </a:tr>
            </a:tbl>
          </a:graphicData>
        </a:graphic>
      </p:graphicFrame>
      <p:sp>
        <p:nvSpPr>
          <p:cNvPr id="6" name="TextBox 5"/>
          <p:cNvSpPr txBox="1"/>
          <p:nvPr/>
        </p:nvSpPr>
        <p:spPr>
          <a:xfrm>
            <a:off x="502920" y="4196080"/>
            <a:ext cx="11183112" cy="1793240"/>
          </a:xfrm>
          <a:prstGeom prst="rect">
            <a:avLst/>
          </a:prstGeom>
          <a:noFill/>
        </p:spPr>
        <p:txBody>
          <a:bodyPr wrap="square">
            <a:normAutofit/>
          </a:bodyPr>
          <a:lstStyle/>
          <a:p>
            <a:pPr>
              <a:spcAft>
                <a:spcPts val="500"/>
              </a:spcAft>
            </a:pPr>
            <a:r>
              <a:rPr sz="2100">
                <a:solidFill>
                  <a:srgbClr val="323130"/>
                </a:solidFill>
                <a:latin typeface="Meiryo"/>
                <a:ea typeface="Meiryo"/>
              </a:rPr>
              <a:t>• SDK開発スキル・統合プラグインは </a:t>
            </a:r>
            <a:r>
              <a:rPr sz="2100" b="1">
                <a:solidFill>
                  <a:srgbClr val="323130"/>
                </a:solidFill>
                <a:latin typeface="Meiryo"/>
                <a:ea typeface="Meiryo"/>
              </a:rPr>
              <a:t>クラウドネイティブ寄り</a:t>
            </a:r>
          </a:p>
          <a:p>
            <a:pPr>
              <a:spcAft>
                <a:spcPts val="500"/>
              </a:spcAft>
            </a:pPr>
            <a:r>
              <a:rPr sz="2100">
                <a:solidFill>
                  <a:srgbClr val="323130"/>
                </a:solidFill>
                <a:latin typeface="Meiryo"/>
                <a:ea typeface="Meiryo"/>
              </a:rPr>
              <a:t>• ハイブリッド/エッジの知識は </a:t>
            </a:r>
            <a:r>
              <a:rPr sz="2100" b="1">
                <a:solidFill>
                  <a:srgbClr val="323130"/>
                </a:solidFill>
                <a:latin typeface="Meiryo"/>
                <a:ea typeface="Meiryo"/>
              </a:rPr>
              <a:t>MicrosoftDocs/Agent-Skills だけ</a:t>
            </a:r>
          </a:p>
          <a:p>
            <a:pPr>
              <a:spcAft>
                <a:spcPts val="500"/>
              </a:spcAft>
            </a:pPr>
            <a:r>
              <a:rPr sz="2100">
                <a:solidFill>
                  <a:srgbClr val="323130"/>
                </a:solidFill>
                <a:latin typeface="Meiryo"/>
                <a:ea typeface="Meiryo"/>
              </a:rPr>
              <a:t>• → </a:t>
            </a:r>
            <a:r>
              <a:rPr sz="2100" b="1">
                <a:solidFill>
                  <a:srgbClr val="323130"/>
                </a:solidFill>
                <a:latin typeface="Meiryo"/>
                <a:ea typeface="Meiryo"/>
              </a:rPr>
              <a:t>ハイブリッドクラウドの仕事をAIにさせるなら、このリポジトリが必須</a:t>
            </a:r>
          </a:p>
        </p:txBody>
      </p:sp>
      <p:sp>
        <p:nvSpPr>
          <p:cNvPr id="7" name="TextBox 6"/>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23 / 38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公式の使い分けガイドは？</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823976"/>
          </a:xfrm>
          <a:prstGeom prst="rect">
            <a:avLst/>
          </a:prstGeom>
          <a:noFill/>
        </p:spPr>
        <p:txBody>
          <a:bodyPr wrap="square">
            <a:normAutofit/>
          </a:bodyPr>
          <a:lstStyle/>
          <a:p>
            <a:pPr>
              <a:spcAft>
                <a:spcPts val="400"/>
              </a:spcAft>
            </a:pPr>
            <a:r>
              <a:rPr sz="1600" b="1">
                <a:solidFill>
                  <a:srgbClr val="0078D4"/>
                </a:solidFill>
                <a:latin typeface="Meiryo"/>
                <a:ea typeface="Meiryo"/>
              </a:rPr>
              <a:t>存在しない 🤷</a:t>
            </a:r>
          </a:p>
        </p:txBody>
      </p:sp>
      <p:graphicFrame>
        <p:nvGraphicFramePr>
          <p:cNvPr id="6" name="Table 5"/>
          <p:cNvGraphicFramePr>
            <a:graphicFrameLocks noGrp="1"/>
          </p:cNvGraphicFramePr>
          <p:nvPr/>
        </p:nvGraphicFramePr>
        <p:xfrm>
          <a:off x="502920" y="2576576"/>
          <a:ext cx="11183112" cy="1376680"/>
        </p:xfrm>
        <a:graphic>
          <a:graphicData uri="http://schemas.openxmlformats.org/drawingml/2006/table">
            <a:tbl>
              <a:tblPr firstRow="1" bandRow="1">
                <a:tableStyleId>{5C22544A-7EE6-4342-B048-85BDC9FD1C3A}</a:tableStyleId>
              </a:tblPr>
              <a:tblGrid>
                <a:gridCol w="5591556"/>
                <a:gridCol w="5591556"/>
              </a:tblGrid>
              <a:tr h="344170">
                <a:tc>
                  <a:txBody>
                    <a:bodyPr/>
                    <a:lstStyle/>
                    <a:p>
                      <a:r>
                        <a:rPr sz="900" b="1">
                          <a:solidFill>
                            <a:srgbClr val="243A5E"/>
                          </a:solidFill>
                          <a:latin typeface="Meiryo"/>
                          <a:ea typeface="Meiryo"/>
                        </a:rPr>
                        <a:t>公式ブログ記事</a:t>
                      </a:r>
                    </a:p>
                  </a:txBody>
                  <a:tcPr>
                    <a:solidFill>
                      <a:srgbClr val="E8F0FE"/>
                    </a:solidFill>
                  </a:tcPr>
                </a:tc>
                <a:tc>
                  <a:txBody>
                    <a:bodyPr/>
                    <a:lstStyle/>
                    <a:p>
                      <a:r>
                        <a:rPr sz="900" b="1">
                          <a:solidFill>
                            <a:srgbClr val="243A5E"/>
                          </a:solidFill>
                          <a:latin typeface="Meiryo"/>
                          <a:ea typeface="Meiryo"/>
                        </a:rPr>
                        <a:t>他リポジトリへの言及</a:t>
                      </a:r>
                    </a:p>
                  </a:txBody>
                  <a:tcPr>
                    <a:solidFill>
                      <a:srgbClr val="E8F0FE"/>
                    </a:solidFill>
                  </a:tcPr>
                </a:tc>
              </a:tr>
              <a:tr h="344170">
                <a:tc>
                  <a:txBody>
                    <a:bodyPr/>
                    <a:lstStyle/>
                    <a:p>
                      <a:r>
                        <a:rPr sz="900">
                          <a:solidFill>
                            <a:srgbClr val="323130"/>
                          </a:solidFill>
                          <a:latin typeface="Meiryo"/>
                          <a:ea typeface="Meiryo"/>
                        </a:rPr>
                        <a:t>Context-Driven Development</a:t>
                      </a:r>
                    </a:p>
                  </a:txBody>
                  <a:tcPr/>
                </a:tc>
                <a:tc>
                  <a:txBody>
                    <a:bodyPr/>
                    <a:lstStyle/>
                    <a:p>
                      <a:r>
                        <a:rPr sz="900">
                          <a:solidFill>
                            <a:srgbClr val="323130"/>
                          </a:solidFill>
                          <a:latin typeface="Meiryo"/>
                          <a:ea typeface="Meiryo"/>
                        </a:rPr>
                        <a:t>microsoft/skills だけ紹介</a:t>
                      </a:r>
                    </a:p>
                  </a:txBody>
                  <a:tcPr/>
                </a:tc>
              </a:tr>
              <a:tr h="344170">
                <a:tc>
                  <a:txBody>
                    <a:bodyPr/>
                    <a:lstStyle/>
                    <a:p>
                      <a:r>
                        <a:rPr sz="900">
                          <a:solidFill>
                            <a:srgbClr val="323130"/>
                          </a:solidFill>
                          <a:latin typeface="Meiryo"/>
                          <a:ea typeface="Meiryo"/>
                        </a:rPr>
                        <a:t>Announcing Azure Skills Plugin</a:t>
                      </a:r>
                    </a:p>
                  </a:txBody>
                  <a:tcPr/>
                </a:tc>
                <a:tc>
                  <a:txBody>
                    <a:bodyPr/>
                    <a:lstStyle/>
                    <a:p>
                      <a:r>
                        <a:rPr sz="900">
                          <a:solidFill>
                            <a:srgbClr val="323130"/>
                          </a:solidFill>
                          <a:latin typeface="Meiryo"/>
                          <a:ea typeface="Meiryo"/>
                        </a:rPr>
                        <a:t>azure-skills だけ紹介</a:t>
                      </a:r>
                    </a:p>
                  </a:txBody>
                  <a:tcPr/>
                </a:tc>
              </a:tr>
              <a:tr h="344170">
                <a:tc>
                  <a:txBody>
                    <a:bodyPr/>
                    <a:lstStyle/>
                    <a:p>
                      <a:r>
                        <a:rPr sz="900">
                          <a:solidFill>
                            <a:srgbClr val="323130"/>
                          </a:solidFill>
                          <a:latin typeface="Meiryo"/>
                          <a:ea typeface="Meiryo"/>
                        </a:rPr>
                        <a:t>MicrosoftDocs/Agent-Skills README</a:t>
                      </a:r>
                    </a:p>
                  </a:txBody>
                  <a:tcPr/>
                </a:tc>
                <a:tc>
                  <a:txBody>
                    <a:bodyPr/>
                    <a:lstStyle/>
                    <a:p>
                      <a:r>
                        <a:rPr sz="900">
                          <a:solidFill>
                            <a:srgbClr val="323130"/>
                          </a:solidFill>
                          <a:latin typeface="Meiryo"/>
                          <a:ea typeface="Meiryo"/>
                        </a:rPr>
                        <a:t>他リポジトリへの言及なし</a:t>
                      </a:r>
                    </a:p>
                  </a:txBody>
                  <a:tcPr/>
                </a:tc>
              </a:tr>
            </a:tbl>
          </a:graphicData>
        </a:graphic>
      </p:graphicFrame>
      <p:sp>
        <p:nvSpPr>
          <p:cNvPr id="7" name="TextBox 6"/>
          <p:cNvSpPr txBox="1"/>
          <p:nvPr/>
        </p:nvSpPr>
        <p:spPr>
          <a:xfrm>
            <a:off x="502920" y="4044696"/>
            <a:ext cx="11183112" cy="1944623"/>
          </a:xfrm>
          <a:prstGeom prst="rect">
            <a:avLst/>
          </a:prstGeom>
          <a:noFill/>
        </p:spPr>
        <p:txBody>
          <a:bodyPr wrap="square">
            <a:normAutofit/>
          </a:bodyPr>
          <a:lstStyle/>
          <a:p>
            <a:pPr>
              <a:spcAft>
                <a:spcPts val="300"/>
              </a:spcAft>
            </a:pPr>
            <a:r>
              <a:rPr sz="1400">
                <a:solidFill>
                  <a:srgbClr val="323130"/>
                </a:solidFill>
                <a:latin typeface="Meiryo"/>
                <a:ea typeface="Meiryo"/>
              </a:rPr>
              <a:t>• 各チームが</a:t>
            </a:r>
            <a:r>
              <a:rPr sz="1400" b="1">
                <a:solidFill>
                  <a:srgbClr val="323130"/>
                </a:solidFill>
                <a:latin typeface="Meiryo"/>
                <a:ea typeface="Meiryo"/>
              </a:rPr>
              <a:t>自分のリポジトリだけ</a:t>
            </a:r>
            <a:r>
              <a:rPr sz="1400">
                <a:solidFill>
                  <a:srgbClr val="323130"/>
                </a:solidFill>
                <a:latin typeface="Meiryo"/>
                <a:ea typeface="Meiryo"/>
              </a:rPr>
              <a:t>をブログで紹介</a:t>
            </a:r>
          </a:p>
          <a:p>
            <a:pPr>
              <a:spcAft>
                <a:spcPts val="300"/>
              </a:spcAft>
            </a:pPr>
            <a:r>
              <a:rPr sz="1400">
                <a:solidFill>
                  <a:srgbClr val="323130"/>
                </a:solidFill>
                <a:latin typeface="Meiryo"/>
                <a:ea typeface="Meiryo"/>
              </a:rPr>
              <a:t>• 3つの関係を俯瞰的に説明した公式ドキュメントは</a:t>
            </a:r>
            <a:r>
              <a:rPr sz="1400" b="1">
                <a:solidFill>
                  <a:srgbClr val="323130"/>
                </a:solidFill>
                <a:latin typeface="Meiryo"/>
                <a:ea typeface="Meiryo"/>
              </a:rPr>
              <a:t>ゼロ</a:t>
            </a:r>
          </a:p>
          <a:p>
            <a:pPr>
              <a:spcAft>
                <a:spcPts val="300"/>
              </a:spcAft>
            </a:pPr>
            <a:r>
              <a:rPr sz="1400">
                <a:solidFill>
                  <a:srgbClr val="323130"/>
                </a:solidFill>
                <a:latin typeface="Meiryo"/>
                <a:ea typeface="Meiryo"/>
              </a:rPr>
              <a:t>• しかも導線が2本あるので初見で混乱しやすい</a:t>
            </a:r>
          </a:p>
          <a:p>
            <a:pPr>
              <a:spcAft>
                <a:spcPts val="300"/>
              </a:spcAft>
            </a:pPr>
            <a:r>
              <a:rPr sz="1400">
                <a:solidFill>
                  <a:srgbClr val="323130"/>
                </a:solidFill>
                <a:latin typeface="Meiryo"/>
                <a:ea typeface="Meiryo"/>
              </a:rPr>
              <a:t>• </a:t>
            </a:r>
            <a:r>
              <a:rPr sz="1100">
                <a:solidFill>
                  <a:srgbClr val="C7254E"/>
                </a:solidFill>
                <a:latin typeface="Consolas"/>
                <a:ea typeface="Consolas"/>
              </a:rPr>
              <a:t>npx skills add microsoft/skills</a:t>
            </a:r>
            <a:r>
              <a:rPr sz="1400">
                <a:solidFill>
                  <a:srgbClr val="323130"/>
                </a:solidFill>
                <a:latin typeface="Meiryo"/>
                <a:ea typeface="Meiryo"/>
              </a:rPr>
              <a:t> → </a:t>
            </a:r>
            <a:r>
              <a:rPr sz="1400" b="1">
                <a:solidFill>
                  <a:srgbClr val="323130"/>
                </a:solidFill>
                <a:latin typeface="Meiryo"/>
                <a:ea typeface="Meiryo"/>
              </a:rPr>
              <a:t>個別skillの一覧</a:t>
            </a:r>
            <a:r>
              <a:rPr sz="1400">
                <a:solidFill>
                  <a:srgbClr val="323130"/>
                </a:solidFill>
                <a:latin typeface="Meiryo"/>
                <a:ea typeface="Meiryo"/>
              </a:rPr>
              <a:t>が出る</a:t>
            </a:r>
          </a:p>
          <a:p>
            <a:pPr>
              <a:spcAft>
                <a:spcPts val="300"/>
              </a:spcAft>
            </a:pPr>
            <a:r>
              <a:rPr sz="1400">
                <a:solidFill>
                  <a:srgbClr val="323130"/>
                </a:solidFill>
                <a:latin typeface="Meiryo"/>
                <a:ea typeface="Meiryo"/>
              </a:rPr>
              <a:t>• </a:t>
            </a:r>
            <a:r>
              <a:rPr sz="1100">
                <a:solidFill>
                  <a:srgbClr val="C7254E"/>
                </a:solidFill>
                <a:latin typeface="Consolas"/>
                <a:ea typeface="Consolas"/>
              </a:rPr>
              <a:t>/plugin install azure@azure-skills</a:t>
            </a:r>
            <a:r>
              <a:rPr sz="1400">
                <a:solidFill>
                  <a:srgbClr val="323130"/>
                </a:solidFill>
                <a:latin typeface="Meiryo"/>
                <a:ea typeface="Meiryo"/>
              </a:rPr>
              <a:t> → </a:t>
            </a:r>
            <a:r>
              <a:rPr sz="1400" b="1">
                <a:solidFill>
                  <a:srgbClr val="323130"/>
                </a:solidFill>
                <a:latin typeface="Meiryo"/>
                <a:ea typeface="Meiryo"/>
              </a:rPr>
              <a:t>plugin一式</a:t>
            </a:r>
            <a:r>
              <a:rPr sz="1400">
                <a:solidFill>
                  <a:srgbClr val="323130"/>
                </a:solidFill>
                <a:latin typeface="Meiryo"/>
                <a:ea typeface="Meiryo"/>
              </a:rPr>
              <a:t>が入る</a:t>
            </a:r>
          </a:p>
          <a:p>
            <a:pPr>
              <a:spcAft>
                <a:spcPts val="200"/>
              </a:spcAft>
            </a:pPr>
            <a:r>
              <a:rPr sz="1400" b="1">
                <a:solidFill>
                  <a:srgbClr val="323130"/>
                </a:solidFill>
                <a:latin typeface="Meiryo"/>
                <a:ea typeface="Meiryo"/>
              </a:rPr>
              <a:t>→ だからこの勉強会で整理する意味がある</a:t>
            </a:r>
          </a:p>
        </p:txBody>
      </p:sp>
      <p:sp>
        <p:nvSpPr>
          <p:cNvPr id="8" name="TextBox 7"/>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24 / 38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スキルの入れすぎ問題: Context Rot</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887983"/>
          </a:xfrm>
          <a:prstGeom prst="rect">
            <a:avLst/>
          </a:prstGeom>
          <a:noFill/>
        </p:spPr>
        <p:txBody>
          <a:bodyPr wrap="square">
            <a:normAutofit/>
          </a:bodyPr>
          <a:lstStyle/>
          <a:p>
            <a:pPr>
              <a:spcAft>
                <a:spcPts val="500"/>
              </a:spcAft>
            </a:pPr>
            <a:r>
              <a:rPr sz="1800" b="1">
                <a:solidFill>
                  <a:srgbClr val="0078D4"/>
                </a:solidFill>
                <a:latin typeface="Meiryo"/>
                <a:ea typeface="Meiryo"/>
              </a:rPr>
              <a:t>スキルは段階的に読み込まれる（Progressive Disclosure）</a:t>
            </a:r>
          </a:p>
        </p:txBody>
      </p:sp>
      <p:graphicFrame>
        <p:nvGraphicFramePr>
          <p:cNvPr id="6" name="Table 5"/>
          <p:cNvGraphicFramePr>
            <a:graphicFrameLocks noGrp="1"/>
          </p:cNvGraphicFramePr>
          <p:nvPr/>
        </p:nvGraphicFramePr>
        <p:xfrm>
          <a:off x="502920" y="2640584"/>
          <a:ext cx="11183112" cy="1529080"/>
        </p:xfrm>
        <a:graphic>
          <a:graphicData uri="http://schemas.openxmlformats.org/drawingml/2006/table">
            <a:tbl>
              <a:tblPr firstRow="1" bandRow="1">
                <a:tableStyleId>{5C22544A-7EE6-4342-B048-85BDC9FD1C3A}</a:tableStyleId>
              </a:tblPr>
              <a:tblGrid>
                <a:gridCol w="2795778"/>
                <a:gridCol w="2795778"/>
                <a:gridCol w="2795778"/>
                <a:gridCol w="2795778"/>
              </a:tblGrid>
              <a:tr h="382270">
                <a:tc>
                  <a:txBody>
                    <a:bodyPr/>
                    <a:lstStyle/>
                    <a:p>
                      <a:r>
                        <a:rPr sz="1100" b="1">
                          <a:solidFill>
                            <a:srgbClr val="243A5E"/>
                          </a:solidFill>
                          <a:latin typeface="Meiryo"/>
                          <a:ea typeface="Meiryo"/>
                        </a:rPr>
                        <a:t>レベル</a:t>
                      </a:r>
                    </a:p>
                  </a:txBody>
                  <a:tcPr>
                    <a:solidFill>
                      <a:srgbClr val="E8F0FE"/>
                    </a:solidFill>
                  </a:tcPr>
                </a:tc>
                <a:tc>
                  <a:txBody>
                    <a:bodyPr/>
                    <a:lstStyle/>
                    <a:p>
                      <a:r>
                        <a:rPr sz="1100" b="1">
                          <a:solidFill>
                            <a:srgbClr val="243A5E"/>
                          </a:solidFill>
                          <a:latin typeface="Meiryo"/>
                          <a:ea typeface="Meiryo"/>
                        </a:rPr>
                        <a:t>読まれるもの</a:t>
                      </a:r>
                    </a:p>
                  </a:txBody>
                  <a:tcPr>
                    <a:solidFill>
                      <a:srgbClr val="E8F0FE"/>
                    </a:solidFill>
                  </a:tcPr>
                </a:tc>
                <a:tc>
                  <a:txBody>
                    <a:bodyPr/>
                    <a:lstStyle/>
                    <a:p>
                      <a:r>
                        <a:rPr sz="1100" b="1">
                          <a:solidFill>
                            <a:srgbClr val="243A5E"/>
                          </a:solidFill>
                          <a:latin typeface="Meiryo"/>
                          <a:ea typeface="Meiryo"/>
                        </a:rPr>
                        <a:t>いつ</a:t>
                      </a:r>
                    </a:p>
                  </a:txBody>
                  <a:tcPr>
                    <a:solidFill>
                      <a:srgbClr val="E8F0FE"/>
                    </a:solidFill>
                  </a:tcPr>
                </a:tc>
                <a:tc>
                  <a:txBody>
                    <a:bodyPr/>
                    <a:lstStyle/>
                    <a:p>
                      <a:r>
                        <a:rPr sz="1100" b="1">
                          <a:solidFill>
                            <a:srgbClr val="243A5E"/>
                          </a:solidFill>
                          <a:latin typeface="Meiryo"/>
                          <a:ea typeface="Meiryo"/>
                        </a:rPr>
                        <a:t>コスト/スキル</a:t>
                      </a:r>
                    </a:p>
                  </a:txBody>
                  <a:tcPr>
                    <a:solidFill>
                      <a:srgbClr val="E8F0FE"/>
                    </a:solidFill>
                  </a:tcPr>
                </a:tc>
              </a:tr>
              <a:tr h="382270">
                <a:tc>
                  <a:txBody>
                    <a:bodyPr/>
                    <a:lstStyle/>
                    <a:p>
                      <a:r>
                        <a:rPr sz="1100">
                          <a:solidFill>
                            <a:srgbClr val="323130"/>
                          </a:solidFill>
                          <a:latin typeface="Meiryo"/>
                          <a:ea typeface="Meiryo"/>
                        </a:rPr>
                        <a:t>L1: Discovery</a:t>
                      </a:r>
                    </a:p>
                  </a:txBody>
                  <a:tcPr/>
                </a:tc>
                <a:tc>
                  <a:txBody>
                    <a:bodyPr/>
                    <a:lstStyle/>
                    <a:p>
                      <a:r>
                        <a:rPr sz="1100">
                          <a:solidFill>
                            <a:srgbClr val="323130"/>
                          </a:solidFill>
                          <a:latin typeface="Meiryo"/>
                          <a:ea typeface="Meiryo"/>
                        </a:rPr>
                        <a:t>name + description</a:t>
                      </a:r>
                    </a:p>
                  </a:txBody>
                  <a:tcPr/>
                </a:tc>
                <a:tc>
                  <a:txBody>
                    <a:bodyPr/>
                    <a:lstStyle/>
                    <a:p>
                      <a:r>
                        <a:rPr sz="1100">
                          <a:solidFill>
                            <a:srgbClr val="323130"/>
                          </a:solidFill>
                          <a:latin typeface="Meiryo"/>
                          <a:ea typeface="Meiryo"/>
                        </a:rPr>
                        <a:t>常時</a:t>
                      </a:r>
                    </a:p>
                  </a:txBody>
                  <a:tcPr/>
                </a:tc>
                <a:tc>
                  <a:txBody>
                    <a:bodyPr/>
                    <a:lstStyle/>
                    <a:p>
                      <a:r>
                        <a:rPr sz="1100">
                          <a:solidFill>
                            <a:srgbClr val="323130"/>
                          </a:solidFill>
                          <a:latin typeface="Meiryo"/>
                          <a:ea typeface="Meiryo"/>
                        </a:rPr>
                        <a:t>~50-100トークン</a:t>
                      </a:r>
                    </a:p>
                  </a:txBody>
                  <a:tcPr/>
                </a:tc>
              </a:tr>
              <a:tr h="382270">
                <a:tc>
                  <a:txBody>
                    <a:bodyPr/>
                    <a:lstStyle/>
                    <a:p>
                      <a:r>
                        <a:rPr sz="1100">
                          <a:solidFill>
                            <a:srgbClr val="323130"/>
                          </a:solidFill>
                          <a:latin typeface="Meiryo"/>
                          <a:ea typeface="Meiryo"/>
                        </a:rPr>
                        <a:t>L2: Instructions</a:t>
                      </a:r>
                    </a:p>
                  </a:txBody>
                  <a:tcPr/>
                </a:tc>
                <a:tc>
                  <a:txBody>
                    <a:bodyPr/>
                    <a:lstStyle/>
                    <a:p>
                      <a:r>
                        <a:rPr sz="1100">
                          <a:solidFill>
                            <a:srgbClr val="323130"/>
                          </a:solidFill>
                          <a:latin typeface="Meiryo"/>
                          <a:ea typeface="Meiryo"/>
                        </a:rPr>
                        <a:t>SKILL.md 本文</a:t>
                      </a:r>
                    </a:p>
                  </a:txBody>
                  <a:tcPr/>
                </a:tc>
                <a:tc>
                  <a:txBody>
                    <a:bodyPr/>
                    <a:lstStyle/>
                    <a:p>
                      <a:r>
                        <a:rPr sz="1100">
                          <a:solidFill>
                            <a:srgbClr val="323130"/>
                          </a:solidFill>
                          <a:latin typeface="Meiryo"/>
                          <a:ea typeface="Meiryo"/>
                        </a:rPr>
                        <a:t>トリガー時</a:t>
                      </a:r>
                    </a:p>
                  </a:txBody>
                  <a:tcPr/>
                </a:tc>
                <a:tc>
                  <a:txBody>
                    <a:bodyPr/>
                    <a:lstStyle/>
                    <a:p>
                      <a:r>
                        <a:rPr sz="1100">
                          <a:solidFill>
                            <a:srgbClr val="323130"/>
                          </a:solidFill>
                          <a:latin typeface="Meiryo"/>
                          <a:ea typeface="Meiryo"/>
                        </a:rPr>
                        <a:t>~1,000-5,000トークン</a:t>
                      </a:r>
                    </a:p>
                  </a:txBody>
                  <a:tcPr/>
                </a:tc>
              </a:tr>
              <a:tr h="382270">
                <a:tc>
                  <a:txBody>
                    <a:bodyPr/>
                    <a:lstStyle/>
                    <a:p>
                      <a:r>
                        <a:rPr sz="1100">
                          <a:solidFill>
                            <a:srgbClr val="323130"/>
                          </a:solidFill>
                          <a:latin typeface="Meiryo"/>
                          <a:ea typeface="Meiryo"/>
                        </a:rPr>
                        <a:t>L3: Resources</a:t>
                      </a:r>
                    </a:p>
                  </a:txBody>
                  <a:tcPr/>
                </a:tc>
                <a:tc>
                  <a:txBody>
                    <a:bodyPr/>
                    <a:lstStyle/>
                    <a:p>
                      <a:r>
                        <a:rPr sz="1100">
                          <a:solidFill>
                            <a:srgbClr val="323130"/>
                          </a:solidFill>
                          <a:latin typeface="Meiryo"/>
                          <a:ea typeface="Meiryo"/>
                        </a:rPr>
                        <a:t>スクリプト・追加ファイル</a:t>
                      </a:r>
                    </a:p>
                  </a:txBody>
                  <a:tcPr/>
                </a:tc>
                <a:tc>
                  <a:txBody>
                    <a:bodyPr/>
                    <a:lstStyle/>
                    <a:p>
                      <a:r>
                        <a:rPr sz="1100">
                          <a:solidFill>
                            <a:srgbClr val="323130"/>
                          </a:solidFill>
                          <a:latin typeface="Meiryo"/>
                          <a:ea typeface="Meiryo"/>
                        </a:rPr>
                        <a:t>必要時</a:t>
                      </a:r>
                    </a:p>
                  </a:txBody>
                  <a:tcPr/>
                </a:tc>
                <a:tc>
                  <a:txBody>
                    <a:bodyPr/>
                    <a:lstStyle/>
                    <a:p>
                      <a:r>
                        <a:rPr sz="1100">
                          <a:solidFill>
                            <a:srgbClr val="323130"/>
                          </a:solidFill>
                          <a:latin typeface="Meiryo"/>
                          <a:ea typeface="Meiryo"/>
                        </a:rPr>
                        <a:t>可変</a:t>
                      </a:r>
                    </a:p>
                  </a:txBody>
                  <a:tcPr/>
                </a:tc>
              </a:tr>
            </a:tbl>
          </a:graphicData>
        </a:graphic>
      </p:graphicFrame>
      <p:sp>
        <p:nvSpPr>
          <p:cNvPr id="7" name="TextBox 6"/>
          <p:cNvSpPr txBox="1"/>
          <p:nvPr/>
        </p:nvSpPr>
        <p:spPr>
          <a:xfrm>
            <a:off x="502920" y="4261103"/>
            <a:ext cx="11183112" cy="1728216"/>
          </a:xfrm>
          <a:prstGeom prst="rect">
            <a:avLst/>
          </a:prstGeom>
          <a:noFill/>
        </p:spPr>
        <p:txBody>
          <a:bodyPr wrap="square">
            <a:normAutofit/>
          </a:bodyPr>
          <a:lstStyle/>
          <a:p>
            <a:pPr>
              <a:spcAft>
                <a:spcPts val="300"/>
              </a:spcAft>
            </a:pPr>
            <a:r>
              <a:rPr sz="1600" b="1">
                <a:solidFill>
                  <a:srgbClr val="323130"/>
                </a:solidFill>
                <a:latin typeface="Meiryo"/>
                <a:ea typeface="Meiryo"/>
              </a:rPr>
              <a:t>L1 だけでも 300スキル × ~75トークン = ~22,500トークン 常時消費</a:t>
            </a:r>
          </a:p>
          <a:p>
            <a:pPr>
              <a:spcAft>
                <a:spcPts val="300"/>
              </a:spcAft>
            </a:pPr>
            <a:r>
              <a:rPr sz="1600">
                <a:solidFill>
                  <a:srgbClr val="323130"/>
                </a:solidFill>
                <a:latin typeface="Meiryo"/>
                <a:ea typeface="Meiryo"/>
              </a:rPr>
              <a:t>microsoft/skills の README が明確に警告:</a:t>
            </a:r>
          </a:p>
          <a:p>
            <a:pPr>
              <a:spcAft>
                <a:spcPts val="300"/>
              </a:spcAft>
            </a:pPr>
            <a:r>
              <a:rPr sz="1600">
                <a:solidFill>
                  <a:srgbClr val="323130"/>
                </a:solidFill>
                <a:latin typeface="Meiryo"/>
                <a:ea typeface="Meiryo"/>
              </a:rPr>
              <a:t>&gt; "Loading all skills causes </a:t>
            </a:r>
            <a:r>
              <a:rPr sz="1600" b="1">
                <a:solidFill>
                  <a:srgbClr val="323130"/>
                </a:solidFill>
                <a:latin typeface="Meiryo"/>
                <a:ea typeface="Meiryo"/>
              </a:rPr>
              <a:t>context rot</a:t>
            </a:r>
            <a:r>
              <a:rPr sz="1600">
                <a:solidFill>
                  <a:srgbClr val="323130"/>
                </a:solidFill>
                <a:latin typeface="Meiryo"/>
                <a:ea typeface="Meiryo"/>
              </a:rPr>
              <a:t>: diluted attention, wasted tokens, conflated patterns."</a:t>
            </a:r>
          </a:p>
          <a:p>
            <a:pPr>
              <a:spcAft>
                <a:spcPts val="300"/>
              </a:spcAft>
            </a:pPr>
            <a:r>
              <a:rPr sz="1600" b="1">
                <a:solidFill>
                  <a:srgbClr val="323130"/>
                </a:solidFill>
                <a:latin typeface="Meiryo"/>
                <a:ea typeface="Meiryo"/>
              </a:rPr>
              <a:t>→ 全部入れればいいわけではない。でも、いちいち選ぶのも面倒</a:t>
            </a:r>
          </a:p>
        </p:txBody>
      </p:sp>
      <p:sp>
        <p:nvSpPr>
          <p:cNvPr id="8" name="TextBox 7"/>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25 / 38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754380"/>
          </a:xfrm>
          <a:prstGeom prst="rect">
            <a:avLst/>
          </a:prstGeom>
          <a:noFill/>
        </p:spPr>
        <p:txBody>
          <a:bodyPr wrap="square">
            <a:normAutofit/>
          </a:bodyPr>
          <a:lstStyle/>
          <a:p>
            <a:r>
              <a:rPr sz="3600" b="1">
                <a:solidFill>
                  <a:srgbClr val="0078D4"/>
                </a:solidFill>
                <a:latin typeface="Meiryo"/>
                <a:ea typeface="Meiryo"/>
              </a:rPr>
              <a:t>3つのリポジトリを1枚で整理すると</a:t>
            </a:r>
          </a:p>
        </p:txBody>
      </p:sp>
      <p:sp>
        <p:nvSpPr>
          <p:cNvPr id="4" name="Rectangle 3"/>
          <p:cNvSpPr/>
          <p:nvPr/>
        </p:nvSpPr>
        <p:spPr>
          <a:xfrm>
            <a:off x="502920" y="144018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77340"/>
          <a:ext cx="11183112" cy="1757680"/>
        </p:xfrm>
        <a:graphic>
          <a:graphicData uri="http://schemas.openxmlformats.org/drawingml/2006/table">
            <a:tbl>
              <a:tblPr firstRow="1" bandRow="1">
                <a:tableStyleId>{5C22544A-7EE6-4342-B048-85BDC9FD1C3A}</a:tableStyleId>
              </a:tblPr>
              <a:tblGrid>
                <a:gridCol w="2236622"/>
                <a:gridCol w="2236622"/>
                <a:gridCol w="2236622"/>
                <a:gridCol w="2236622"/>
                <a:gridCol w="2236624"/>
              </a:tblGrid>
              <a:tr h="439420">
                <a:tc>
                  <a:txBody>
                    <a:bodyPr/>
                    <a:lstStyle/>
                    <a:p>
                      <a:r>
                        <a:rPr sz="800" b="1">
                          <a:solidFill>
                            <a:srgbClr val="243A5E"/>
                          </a:solidFill>
                          <a:latin typeface="Meiryo"/>
                          <a:ea typeface="Meiryo"/>
                        </a:rPr>
                        <a:t>リポジトリ</a:t>
                      </a:r>
                    </a:p>
                  </a:txBody>
                  <a:tcPr>
                    <a:solidFill>
                      <a:srgbClr val="E8F0FE"/>
                    </a:solidFill>
                  </a:tcPr>
                </a:tc>
                <a:tc>
                  <a:txBody>
                    <a:bodyPr/>
                    <a:lstStyle/>
                    <a:p>
                      <a:r>
                        <a:rPr sz="800" b="1">
                          <a:solidFill>
                            <a:srgbClr val="243A5E"/>
                          </a:solidFill>
                          <a:latin typeface="Meiryo"/>
                          <a:ea typeface="Meiryo"/>
                        </a:rPr>
                        <a:t>スキル数</a:t>
                      </a:r>
                    </a:p>
                  </a:txBody>
                  <a:tcPr>
                    <a:solidFill>
                      <a:srgbClr val="E8F0FE"/>
                    </a:solidFill>
                  </a:tcPr>
                </a:tc>
                <a:tc>
                  <a:txBody>
                    <a:bodyPr/>
                    <a:lstStyle/>
                    <a:p>
                      <a:r>
                        <a:rPr sz="800" b="1">
                          <a:solidFill>
                            <a:srgbClr val="243A5E"/>
                          </a:solidFill>
                          <a:latin typeface="Meiryo"/>
                          <a:ea typeface="Meiryo"/>
                        </a:rPr>
                        <a:t>MCP数</a:t>
                      </a:r>
                    </a:p>
                  </a:txBody>
                  <a:tcPr>
                    <a:solidFill>
                      <a:srgbClr val="E8F0FE"/>
                    </a:solidFill>
                  </a:tcPr>
                </a:tc>
                <a:tc>
                  <a:txBody>
                    <a:bodyPr/>
                    <a:lstStyle/>
                    <a:p>
                      <a:r>
                        <a:rPr sz="800" b="1">
                          <a:solidFill>
                            <a:srgbClr val="243A5E"/>
                          </a:solidFill>
                          <a:latin typeface="Meiryo"/>
                          <a:ea typeface="Meiryo"/>
                        </a:rPr>
                        <a:t>主な導線</a:t>
                      </a:r>
                    </a:p>
                  </a:txBody>
                  <a:tcPr>
                    <a:solidFill>
                      <a:srgbClr val="E8F0FE"/>
                    </a:solidFill>
                  </a:tcPr>
                </a:tc>
                <a:tc>
                  <a:txBody>
                    <a:bodyPr/>
                    <a:lstStyle/>
                    <a:p>
                      <a:r>
                        <a:rPr sz="800" b="1">
                          <a:solidFill>
                            <a:srgbClr val="243A5E"/>
                          </a:solidFill>
                          <a:latin typeface="Meiryo"/>
                          <a:ea typeface="Meiryo"/>
                        </a:rPr>
                        <a:t>一言でいうと</a:t>
                      </a:r>
                    </a:p>
                  </a:txBody>
                  <a:tcPr>
                    <a:solidFill>
                      <a:srgbClr val="E8F0FE"/>
                    </a:solidFill>
                  </a:tcPr>
                </a:tc>
              </a:tr>
              <a:tr h="439420">
                <a:tc>
                  <a:txBody>
                    <a:bodyPr/>
                    <a:lstStyle/>
                    <a:p>
                      <a:r>
                        <a:rPr sz="800">
                          <a:solidFill>
                            <a:srgbClr val="323130"/>
                          </a:solidFill>
                          <a:latin typeface="Meiryo"/>
                          <a:ea typeface="Meiryo"/>
                        </a:rPr>
                        <a:t>microsoft/skills</a:t>
                      </a:r>
                    </a:p>
                  </a:txBody>
                  <a:tcPr/>
                </a:tc>
                <a:tc>
                  <a:txBody>
                    <a:bodyPr/>
                    <a:lstStyle/>
                    <a:p>
                      <a:r>
                        <a:rPr sz="800">
                          <a:solidFill>
                            <a:srgbClr val="323130"/>
                          </a:solidFill>
                          <a:latin typeface="Meiryo"/>
                          <a:ea typeface="Meiryo"/>
                        </a:rPr>
                        <a:t>132</a:t>
                      </a:r>
                    </a:p>
                  </a:txBody>
                  <a:tcPr/>
                </a:tc>
                <a:tc>
                  <a:txBody>
                    <a:bodyPr/>
                    <a:lstStyle/>
                    <a:p>
                      <a:r>
                        <a:rPr sz="800">
                          <a:solidFill>
                            <a:srgbClr val="323130"/>
                          </a:solidFill>
                          <a:latin typeface="Meiryo"/>
                          <a:ea typeface="Meiryo"/>
                        </a:rPr>
                        <a:t>0</a:t>
                      </a:r>
                    </a:p>
                  </a:txBody>
                  <a:tcPr/>
                </a:tc>
                <a:tc>
                  <a:txBody>
                    <a:bodyPr/>
                    <a:lstStyle/>
                    <a:p>
                      <a:r>
                        <a:rPr sz="800">
                          <a:solidFill>
                            <a:srgbClr val="323130"/>
                          </a:solidFill>
                          <a:latin typeface="Meiryo"/>
                          <a:ea typeface="Meiryo"/>
                        </a:rPr>
                        <a:t>npx skills add microsoft/skills で個別skillを選ぶ</a:t>
                      </a:r>
                    </a:p>
                  </a:txBody>
                  <a:tcPr/>
                </a:tc>
                <a:tc>
                  <a:txBody>
                    <a:bodyPr/>
                    <a:lstStyle/>
                    <a:p>
                      <a:r>
                        <a:rPr sz="800">
                          <a:solidFill>
                            <a:srgbClr val="323130"/>
                          </a:solidFill>
                          <a:latin typeface="Meiryo"/>
                          <a:ea typeface="Meiryo"/>
                        </a:rPr>
                        <a:t>SDK開発支援（コードの書き方）</a:t>
                      </a:r>
                    </a:p>
                  </a:txBody>
                  <a:tcPr/>
                </a:tc>
              </a:tr>
              <a:tr h="439420">
                <a:tc>
                  <a:txBody>
                    <a:bodyPr/>
                    <a:lstStyle/>
                    <a:p>
                      <a:r>
                        <a:rPr sz="800">
                          <a:solidFill>
                            <a:srgbClr val="323130"/>
                          </a:solidFill>
                          <a:latin typeface="Meiryo"/>
                          <a:ea typeface="Meiryo"/>
                        </a:rPr>
                        <a:t>microsoft/azure-skills</a:t>
                      </a:r>
                    </a:p>
                  </a:txBody>
                  <a:tcPr/>
                </a:tc>
                <a:tc>
                  <a:txBody>
                    <a:bodyPr/>
                    <a:lstStyle/>
                    <a:p>
                      <a:r>
                        <a:rPr sz="800">
                          <a:solidFill>
                            <a:srgbClr val="323130"/>
                          </a:solidFill>
                          <a:latin typeface="Meiryo"/>
                          <a:ea typeface="Meiryo"/>
                        </a:rPr>
                        <a:t>24</a:t>
                      </a:r>
                    </a:p>
                  </a:txBody>
                  <a:tcPr/>
                </a:tc>
                <a:tc>
                  <a:txBody>
                    <a:bodyPr/>
                    <a:lstStyle/>
                    <a:p>
                      <a:r>
                        <a:rPr sz="800">
                          <a:solidFill>
                            <a:srgbClr val="323130"/>
                          </a:solidFill>
                          <a:latin typeface="Meiryo"/>
                          <a:ea typeface="Meiryo"/>
                        </a:rPr>
                        <a:t>2</a:t>
                      </a:r>
                    </a:p>
                  </a:txBody>
                  <a:tcPr/>
                </a:tc>
                <a:tc>
                  <a:txBody>
                    <a:bodyPr/>
                    <a:lstStyle/>
                    <a:p>
                      <a:r>
                        <a:rPr sz="800">
                          <a:solidFill>
                            <a:srgbClr val="323130"/>
                          </a:solidFill>
                          <a:latin typeface="Meiryo"/>
                          <a:ea typeface="Meiryo"/>
                        </a:rPr>
                        <a:t>/plugin install azure@azure-skills でplugin一式を入れる</a:t>
                      </a:r>
                    </a:p>
                  </a:txBody>
                  <a:tcPr/>
                </a:tc>
                <a:tc>
                  <a:txBody>
                    <a:bodyPr/>
                    <a:lstStyle/>
                    <a:p>
                      <a:r>
                        <a:rPr sz="800">
                          <a:solidFill>
                            <a:srgbClr val="323130"/>
                          </a:solidFill>
                          <a:latin typeface="Meiryo"/>
                          <a:ea typeface="Meiryo"/>
                        </a:rPr>
                        <a:t>運用支援（リソースの操作）</a:t>
                      </a:r>
                    </a:p>
                  </a:txBody>
                  <a:tcPr/>
                </a:tc>
              </a:tr>
              <a:tr h="439420">
                <a:tc>
                  <a:txBody>
                    <a:bodyPr/>
                    <a:lstStyle/>
                    <a:p>
                      <a:r>
                        <a:rPr sz="800">
                          <a:solidFill>
                            <a:srgbClr val="323130"/>
                          </a:solidFill>
                          <a:latin typeface="Meiryo"/>
                          <a:ea typeface="Meiryo"/>
                        </a:rPr>
                        <a:t>MicrosoftDocs/Agent-Skills</a:t>
                      </a:r>
                    </a:p>
                  </a:txBody>
                  <a:tcPr/>
                </a:tc>
                <a:tc>
                  <a:txBody>
                    <a:bodyPr/>
                    <a:lstStyle/>
                    <a:p>
                      <a:r>
                        <a:rPr sz="800">
                          <a:solidFill>
                            <a:srgbClr val="323130"/>
                          </a:solidFill>
                          <a:latin typeface="Meiryo"/>
                          <a:ea typeface="Meiryo"/>
                        </a:rPr>
                        <a:t>192</a:t>
                      </a:r>
                    </a:p>
                  </a:txBody>
                  <a:tcPr/>
                </a:tc>
                <a:tc>
                  <a:txBody>
                    <a:bodyPr/>
                    <a:lstStyle/>
                    <a:p>
                      <a:r>
                        <a:rPr sz="800">
                          <a:solidFill>
                            <a:srgbClr val="323130"/>
                          </a:solidFill>
                          <a:latin typeface="Meiryo"/>
                          <a:ea typeface="Meiryo"/>
                        </a:rPr>
                        <a:t>0</a:t>
                      </a:r>
                    </a:p>
                  </a:txBody>
                  <a:tcPr/>
                </a:tc>
                <a:tc>
                  <a:txBody>
                    <a:bodyPr/>
                    <a:lstStyle/>
                    <a:p>
                      <a:r>
                        <a:rPr sz="800">
                          <a:solidFill>
                            <a:srgbClr val="323130"/>
                          </a:solidFill>
                          <a:latin typeface="Meiryo"/>
                          <a:ea typeface="Meiryo"/>
                        </a:rPr>
                        <a:t>clone/copyして必要なservice skillだけ入れる</a:t>
                      </a:r>
                    </a:p>
                  </a:txBody>
                  <a:tcPr/>
                </a:tc>
                <a:tc>
                  <a:txBody>
                    <a:bodyPr/>
                    <a:lstStyle/>
                    <a:p>
                      <a:r>
                        <a:rPr sz="800">
                          <a:solidFill>
                            <a:srgbClr val="323130"/>
                          </a:solidFill>
                          <a:latin typeface="Meiryo"/>
                          <a:ea typeface="Meiryo"/>
                        </a:rPr>
                        <a:t>サービス知識の百科事典</a:t>
                      </a:r>
                    </a:p>
                  </a:txBody>
                  <a:tcPr/>
                </a:tc>
              </a:tr>
            </a:tbl>
          </a:graphicData>
        </a:graphic>
      </p:graphicFrame>
      <p:sp>
        <p:nvSpPr>
          <p:cNvPr id="6" name="TextBox 5"/>
          <p:cNvSpPr txBox="1"/>
          <p:nvPr/>
        </p:nvSpPr>
        <p:spPr>
          <a:xfrm>
            <a:off x="502920" y="3426460"/>
            <a:ext cx="11183112" cy="759968"/>
          </a:xfrm>
          <a:prstGeom prst="rect">
            <a:avLst/>
          </a:prstGeom>
          <a:noFill/>
        </p:spPr>
        <p:txBody>
          <a:bodyPr wrap="square">
            <a:normAutofit/>
          </a:bodyPr>
          <a:lstStyle/>
          <a:p>
            <a:pPr>
              <a:spcAft>
                <a:spcPts val="300"/>
              </a:spcAft>
            </a:pPr>
            <a:r>
              <a:rPr sz="1300" b="1">
                <a:solidFill>
                  <a:srgbClr val="0078D4"/>
                </a:solidFill>
                <a:latin typeface="Meiryo"/>
                <a:ea typeface="Meiryo"/>
              </a:rPr>
              <a:t>関係を図にすると</a:t>
            </a:r>
          </a:p>
        </p:txBody>
      </p:sp>
      <p:sp>
        <p:nvSpPr>
          <p:cNvPr id="7" name="Rectangle 6"/>
          <p:cNvSpPr/>
          <p:nvPr/>
        </p:nvSpPr>
        <p:spPr>
          <a:xfrm>
            <a:off x="502920" y="4277867"/>
            <a:ext cx="11183112" cy="17114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700">
                <a:solidFill>
                  <a:srgbClr val="323130"/>
                </a:solidFill>
                <a:latin typeface="Consolas"/>
                <a:ea typeface="Consolas"/>
              </a:rPr>
              <a:t>microsoft/skills
  └─ individual skills 132
      └─ npx skills add で必要なskillだけ選ぶ
microsoft/azure-skills
  ├─ curated skills 24
  ├─ Azure MCP Server (200+ tools)
  └─ Foundry MCP
      └─ /plugin install でまとめて入る
MicrosoftDocs/Agent-Skills          ← 唯一の MicrosoftDocs Org
  └─ service knowledge skills 192
      └─ clone/copy で必要なskillだけ入れる</a:t>
            </a:r>
          </a:p>
        </p:txBody>
      </p:sp>
      <p:sp>
        <p:nvSpPr>
          <p:cNvPr id="8" name="TextBox 7"/>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26 / 38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結局どう使えばいいのか？</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4328160"/>
          </a:xfrm>
          <a:prstGeom prst="rect">
            <a:avLst/>
          </a:prstGeom>
          <a:noFill/>
        </p:spPr>
        <p:txBody>
          <a:bodyPr wrap="square">
            <a:normAutofit/>
          </a:bodyPr>
          <a:lstStyle/>
          <a:p>
            <a:pPr>
              <a:spcAft>
                <a:spcPts val="500"/>
              </a:spcAft>
            </a:pPr>
            <a:r>
              <a:rPr sz="1800" b="1">
                <a:solidFill>
                  <a:srgbClr val="0078D4"/>
                </a:solidFill>
                <a:latin typeface="Meiryo"/>
                <a:ea typeface="Meiryo"/>
              </a:rPr>
              <a:t>大原則: 「使うものだけ」入れる</a:t>
            </a:r>
          </a:p>
          <a:p>
            <a:pPr>
              <a:spcAft>
                <a:spcPts val="400"/>
              </a:spcAft>
            </a:pPr>
            <a:r>
              <a:rPr sz="1600">
                <a:solidFill>
                  <a:srgbClr val="323130"/>
                </a:solidFill>
                <a:latin typeface="Meiryo"/>
                <a:ea typeface="Meiryo"/>
              </a:rPr>
              <a:t>• 不要なスキルを入れると</a:t>
            </a:r>
            <a:r>
              <a:rPr sz="1600" b="1">
                <a:solidFill>
                  <a:srgbClr val="323130"/>
                </a:solidFill>
                <a:latin typeface="Meiryo"/>
                <a:ea typeface="Meiryo"/>
              </a:rPr>
              <a:t>コンテキストを常時消費</a:t>
            </a:r>
            <a:r>
              <a:rPr sz="1600">
                <a:solidFill>
                  <a:srgbClr val="323130"/>
                </a:solidFill>
                <a:latin typeface="Meiryo"/>
                <a:ea typeface="Meiryo"/>
              </a:rPr>
              <a:t>→ 精度低下＋コスト増</a:t>
            </a:r>
          </a:p>
          <a:p>
            <a:pPr>
              <a:spcAft>
                <a:spcPts val="400"/>
              </a:spcAft>
            </a:pPr>
            <a:r>
              <a:rPr sz="1600">
                <a:solidFill>
                  <a:srgbClr val="323130"/>
                </a:solidFill>
                <a:latin typeface="Meiryo"/>
                <a:ea typeface="Meiryo"/>
              </a:rPr>
              <a:t>• 前スライドの Context Rot がまさにこれ</a:t>
            </a:r>
          </a:p>
          <a:p>
            <a:pPr>
              <a:spcAft>
                <a:spcPts val="500"/>
              </a:spcAft>
            </a:pPr>
            <a:r>
              <a:rPr sz="1800" b="1">
                <a:solidFill>
                  <a:srgbClr val="0078D4"/>
                </a:solidFill>
                <a:latin typeface="Meiryo"/>
                <a:ea typeface="Meiryo"/>
              </a:rPr>
              <a:t>個人的なおすすめ構成</a:t>
            </a:r>
          </a:p>
          <a:p>
            <a:pPr>
              <a:spcAft>
                <a:spcPts val="400"/>
              </a:spcAft>
            </a:pPr>
            <a:r>
              <a:rPr sz="1600">
                <a:solidFill>
                  <a:srgbClr val="323130"/>
                </a:solidFill>
                <a:latin typeface="Meiryo"/>
                <a:ea typeface="Meiryo"/>
              </a:rPr>
              <a:t>1. azure-skills を入れて、MCP は無効化する</a:t>
            </a:r>
          </a:p>
          <a:p>
            <a:pPr>
              <a:spcAft>
                <a:spcPts val="400"/>
              </a:spcAft>
            </a:pPr>
            <a:r>
              <a:rPr sz="1600">
                <a:solidFill>
                  <a:srgbClr val="323130"/>
                </a:solidFill>
                <a:latin typeface="Meiryo"/>
                <a:ea typeface="Meiryo"/>
              </a:rPr>
              <a:t>• azure-skills の </a:t>
            </a:r>
            <a:r>
              <a:rPr sz="1600" b="1">
                <a:solidFill>
                  <a:srgbClr val="323130"/>
                </a:solidFill>
                <a:latin typeface="Meiryo"/>
                <a:ea typeface="Meiryo"/>
              </a:rPr>
              <a:t>24スキル（知識）は特に有用</a:t>
            </a:r>
          </a:p>
          <a:p>
            <a:pPr>
              <a:spcAft>
                <a:spcPts val="400"/>
              </a:spcAft>
            </a:pPr>
            <a:r>
              <a:rPr sz="1600">
                <a:solidFill>
                  <a:srgbClr val="323130"/>
                </a:solidFill>
                <a:latin typeface="Meiryo"/>
                <a:ea typeface="Meiryo"/>
              </a:rPr>
              <a:t>• ただし同梱の MCP Server は</a:t>
            </a:r>
            <a:r>
              <a:rPr sz="1600" b="1">
                <a:solidFill>
                  <a:srgbClr val="323130"/>
                </a:solidFill>
                <a:latin typeface="Meiryo"/>
                <a:ea typeface="Meiryo"/>
              </a:rPr>
              <a:t>個人的にはおすすめしない</a:t>
            </a:r>
          </a:p>
          <a:p>
            <a:pPr>
              <a:spcAft>
                <a:spcPts val="400"/>
              </a:spcAft>
            </a:pPr>
            <a:r>
              <a:rPr sz="1600">
                <a:solidFill>
                  <a:srgbClr val="323130"/>
                </a:solidFill>
                <a:latin typeface="Meiryo"/>
                <a:ea typeface="Meiryo"/>
              </a:rPr>
              <a:t>    • エージェントが直接 Azure を操作する → 意図しない変更のリスク</a:t>
            </a:r>
          </a:p>
          <a:p>
            <a:pPr>
              <a:spcAft>
                <a:spcPts val="400"/>
              </a:spcAft>
            </a:pPr>
            <a:r>
              <a:rPr sz="1600">
                <a:solidFill>
                  <a:srgbClr val="323130"/>
                </a:solidFill>
                <a:latin typeface="Meiryo"/>
                <a:ea typeface="Meiryo"/>
              </a:rPr>
              <a:t>    • MCP のトークン消費も大きい</a:t>
            </a:r>
          </a:p>
          <a:p>
            <a:pPr>
              <a:spcAft>
                <a:spcPts val="400"/>
              </a:spcAft>
            </a:pPr>
            <a:r>
              <a:rPr sz="1600">
                <a:solidFill>
                  <a:srgbClr val="323130"/>
                </a:solidFill>
                <a:latin typeface="Meiryo"/>
                <a:ea typeface="Meiryo"/>
              </a:rPr>
              <a:t>• → スキルだけ活かし、MCP は設定で無効化するのが安全</a:t>
            </a:r>
          </a:p>
          <a:p>
            <a:pPr>
              <a:spcAft>
                <a:spcPts val="400"/>
              </a:spcAft>
            </a:pPr>
            <a:r>
              <a:rPr sz="1600">
                <a:solidFill>
                  <a:srgbClr val="323130"/>
                </a:solidFill>
                <a:latin typeface="Meiryo"/>
                <a:ea typeface="Meiryo"/>
              </a:rPr>
              <a:t>2. 残りは必要なスキルを個別にピックアップ</a:t>
            </a:r>
          </a:p>
        </p:txBody>
      </p:sp>
      <p:sp>
        <p:nvSpPr>
          <p:cNvPr id="6" name="TextBox 5"/>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27 / 38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754380"/>
          </a:xfrm>
          <a:prstGeom prst="rect">
            <a:avLst/>
          </a:prstGeom>
          <a:noFill/>
        </p:spPr>
        <p:txBody>
          <a:bodyPr wrap="square">
            <a:normAutofit/>
          </a:bodyPr>
          <a:lstStyle/>
          <a:p>
            <a:r>
              <a:rPr sz="3600" b="1">
                <a:solidFill>
                  <a:srgbClr val="0078D4"/>
                </a:solidFill>
                <a:latin typeface="Meiryo"/>
                <a:ea typeface="Meiryo"/>
              </a:rPr>
              <a:t>具体的なインストールコマンド</a:t>
            </a:r>
          </a:p>
        </p:txBody>
      </p:sp>
      <p:sp>
        <p:nvSpPr>
          <p:cNvPr id="4" name="Rectangle 3"/>
          <p:cNvSpPr/>
          <p:nvPr/>
        </p:nvSpPr>
        <p:spPr>
          <a:xfrm>
            <a:off x="502920" y="144018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77340"/>
            <a:ext cx="11183112" cy="1272032"/>
          </a:xfrm>
          <a:prstGeom prst="rect">
            <a:avLst/>
          </a:prstGeom>
          <a:noFill/>
        </p:spPr>
        <p:txBody>
          <a:bodyPr wrap="square">
            <a:normAutofit/>
          </a:bodyPr>
          <a:lstStyle/>
          <a:p>
            <a:pPr>
              <a:spcAft>
                <a:spcPts val="900"/>
              </a:spcAft>
            </a:pPr>
            <a:r>
              <a:rPr sz="3200" b="1">
                <a:solidFill>
                  <a:srgbClr val="0078D4"/>
                </a:solidFill>
                <a:latin typeface="Meiryo"/>
                <a:ea typeface="Meiryo"/>
              </a:rPr>
              <a:t>ケース1: とりあえず Azure 全般をカバーしたい</a:t>
            </a:r>
          </a:p>
        </p:txBody>
      </p:sp>
      <p:sp>
        <p:nvSpPr>
          <p:cNvPr id="6" name="Rectangle 5"/>
          <p:cNvSpPr/>
          <p:nvPr/>
        </p:nvSpPr>
        <p:spPr>
          <a:xfrm>
            <a:off x="502920" y="2940812"/>
            <a:ext cx="11183112" cy="131063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600">
                <a:solidFill>
                  <a:srgbClr val="323130"/>
                </a:solidFill>
                <a:latin typeface="Consolas"/>
                <a:ea typeface="Consolas"/>
              </a:rPr>
              <a:t># Copilot CLI / Claude Code 共通
/plugin marketplace add microsoft/azure-skills
/plugin install azure@azure-skills</a:t>
            </a:r>
          </a:p>
        </p:txBody>
      </p:sp>
      <p:sp>
        <p:nvSpPr>
          <p:cNvPr id="7" name="TextBox 6"/>
          <p:cNvSpPr txBox="1"/>
          <p:nvPr/>
        </p:nvSpPr>
        <p:spPr>
          <a:xfrm>
            <a:off x="502920" y="4342892"/>
            <a:ext cx="11183112" cy="980440"/>
          </a:xfrm>
          <a:prstGeom prst="rect">
            <a:avLst/>
          </a:prstGeom>
          <a:noFill/>
        </p:spPr>
        <p:txBody>
          <a:bodyPr wrap="square">
            <a:normAutofit/>
          </a:bodyPr>
          <a:lstStyle/>
          <a:p>
            <a:pPr>
              <a:spcAft>
                <a:spcPts val="500"/>
              </a:spcAft>
            </a:pPr>
            <a:r>
              <a:rPr sz="2800">
                <a:solidFill>
                  <a:srgbClr val="323130"/>
                </a:solidFill>
                <a:latin typeface="Meiryo"/>
                <a:ea typeface="Meiryo"/>
              </a:rPr>
              <a:t>→ 24スキル + Azure MCP + Foundry MCP が1コマンドで入る</a:t>
            </a:r>
          </a:p>
        </p:txBody>
      </p:sp>
      <p:sp>
        <p:nvSpPr>
          <p:cNvPr id="8" name="TextBox 7"/>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28 / 38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754380"/>
          </a:xfrm>
          <a:prstGeom prst="rect">
            <a:avLst/>
          </a:prstGeom>
          <a:noFill/>
        </p:spPr>
        <p:txBody>
          <a:bodyPr wrap="square">
            <a:normAutofit/>
          </a:bodyPr>
          <a:lstStyle/>
          <a:p>
            <a:r>
              <a:rPr sz="3600" b="1">
                <a:solidFill>
                  <a:srgbClr val="0078D4"/>
                </a:solidFill>
                <a:latin typeface="Meiryo"/>
                <a:ea typeface="Meiryo"/>
              </a:rPr>
              <a:t>具体的なインストールコマンド（続き）</a:t>
            </a:r>
          </a:p>
        </p:txBody>
      </p:sp>
      <p:sp>
        <p:nvSpPr>
          <p:cNvPr id="4" name="Rectangle 3"/>
          <p:cNvSpPr/>
          <p:nvPr/>
        </p:nvSpPr>
        <p:spPr>
          <a:xfrm>
            <a:off x="502920" y="144018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77340"/>
            <a:ext cx="11183112" cy="1898396"/>
          </a:xfrm>
          <a:prstGeom prst="rect">
            <a:avLst/>
          </a:prstGeom>
          <a:noFill/>
        </p:spPr>
        <p:txBody>
          <a:bodyPr wrap="square">
            <a:normAutofit/>
          </a:bodyPr>
          <a:lstStyle/>
          <a:p>
            <a:pPr>
              <a:spcAft>
                <a:spcPts val="900"/>
              </a:spcAft>
            </a:pPr>
            <a:r>
              <a:rPr sz="3100" b="1">
                <a:solidFill>
                  <a:srgbClr val="0078D4"/>
                </a:solidFill>
                <a:latin typeface="Meiryo"/>
                <a:ea typeface="Meiryo"/>
              </a:rPr>
              <a:t>ケース2: SDK のコードパターンが欲しい（microsoft/skills）</a:t>
            </a:r>
          </a:p>
        </p:txBody>
      </p:sp>
      <p:sp>
        <p:nvSpPr>
          <p:cNvPr id="6" name="Rectangle 5"/>
          <p:cNvSpPr/>
          <p:nvPr/>
        </p:nvSpPr>
        <p:spPr>
          <a:xfrm>
            <a:off x="502920" y="3567176"/>
            <a:ext cx="11183112" cy="2422143"/>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600">
                <a:solidFill>
                  <a:srgbClr val="323130"/>
                </a:solidFill>
                <a:latin typeface="Consolas"/>
                <a:ea typeface="Consolas"/>
              </a:rPr>
              <a:t># ウィザード形式で必要なスキルを選択（推奨）
npx skills add microsoft/skills
# ↑ ここに出るのは individual skill の一覧。azure-skills は出ない
# 手動で特定スキルだけコピー
git clone https://github.com/microsoft/skills.git
cp -r skills/.github/skills/azure-cosmos-py \
      your-project/.claude/skills/</a:t>
            </a:r>
          </a:p>
        </p:txBody>
      </p:sp>
      <p:sp>
        <p:nvSpPr>
          <p:cNvPr id="7" name="TextBox 6"/>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29 / 38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754380"/>
          </a:xfrm>
          <a:prstGeom prst="rect">
            <a:avLst/>
          </a:prstGeom>
          <a:noFill/>
        </p:spPr>
        <p:txBody>
          <a:bodyPr wrap="square">
            <a:normAutofit/>
          </a:bodyPr>
          <a:lstStyle/>
          <a:p>
            <a:r>
              <a:rPr sz="3600" b="1">
                <a:solidFill>
                  <a:srgbClr val="0078D4"/>
                </a:solidFill>
                <a:latin typeface="Meiryo"/>
                <a:ea typeface="Meiryo"/>
              </a:rPr>
              <a:t>具体的なインストールコマンド（続き）</a:t>
            </a:r>
          </a:p>
        </p:txBody>
      </p:sp>
      <p:sp>
        <p:nvSpPr>
          <p:cNvPr id="4" name="Rectangle 3"/>
          <p:cNvSpPr/>
          <p:nvPr/>
        </p:nvSpPr>
        <p:spPr>
          <a:xfrm>
            <a:off x="502920" y="144018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77340"/>
            <a:ext cx="11183112" cy="1785620"/>
          </a:xfrm>
          <a:prstGeom prst="rect">
            <a:avLst/>
          </a:prstGeom>
          <a:noFill/>
        </p:spPr>
        <p:txBody>
          <a:bodyPr wrap="square">
            <a:normAutofit/>
          </a:bodyPr>
          <a:lstStyle/>
          <a:p>
            <a:pPr>
              <a:spcAft>
                <a:spcPts val="800"/>
              </a:spcAft>
            </a:pPr>
            <a:r>
              <a:rPr sz="2800" b="1">
                <a:solidFill>
                  <a:srgbClr val="0078D4"/>
                </a:solidFill>
                <a:latin typeface="Meiryo"/>
                <a:ea typeface="Meiryo"/>
              </a:rPr>
              <a:t>ケース3: 特定サービスの深い知識が欲しい（Agent-Skills）</a:t>
            </a:r>
          </a:p>
        </p:txBody>
      </p:sp>
      <p:sp>
        <p:nvSpPr>
          <p:cNvPr id="6" name="Rectangle 5"/>
          <p:cNvSpPr/>
          <p:nvPr/>
        </p:nvSpPr>
        <p:spPr>
          <a:xfrm>
            <a:off x="502920" y="3454400"/>
            <a:ext cx="11183112" cy="253491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500">
                <a:solidFill>
                  <a:srgbClr val="323130"/>
                </a:solidFill>
                <a:latin typeface="Consolas"/>
                <a:ea typeface="Consolas"/>
              </a:rPr>
              <a:t># リポジトリをクローン
git clone https://github.com/MicrosoftDocs/agent-skills.git
# 必要なスキルだけコピー（Claude Code の場合）
cp -r agent-skills/skills/azure-container-apps \
      your-project/.claude/skills/
# GitHub Copilot の場合
cp -r agent-skills/skills/azure-container-apps \
      your-project/.github/skills/</a:t>
            </a:r>
          </a:p>
        </p:txBody>
      </p:sp>
      <p:sp>
        <p:nvSpPr>
          <p:cNvPr id="7" name="TextBox 6"/>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30 / 38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入れたらどう使われるのか？</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823976"/>
          </a:xfrm>
          <a:prstGeom prst="rect">
            <a:avLst/>
          </a:prstGeom>
          <a:noFill/>
        </p:spPr>
        <p:txBody>
          <a:bodyPr wrap="square">
            <a:normAutofit/>
          </a:bodyPr>
          <a:lstStyle/>
          <a:p>
            <a:pPr>
              <a:spcAft>
                <a:spcPts val="400"/>
              </a:spcAft>
            </a:pPr>
            <a:r>
              <a:rPr sz="1600" b="1">
                <a:solidFill>
                  <a:srgbClr val="0078D4"/>
                </a:solidFill>
                <a:latin typeface="Meiryo"/>
                <a:ea typeface="Meiryo"/>
              </a:rPr>
              <a:t>答え: 自然言語で自動トリガー。専用コマンドは不要</a:t>
            </a:r>
          </a:p>
        </p:txBody>
      </p:sp>
      <p:graphicFrame>
        <p:nvGraphicFramePr>
          <p:cNvPr id="6" name="Table 5"/>
          <p:cNvGraphicFramePr>
            <a:graphicFrameLocks noGrp="1"/>
          </p:cNvGraphicFramePr>
          <p:nvPr/>
        </p:nvGraphicFramePr>
        <p:xfrm>
          <a:off x="502920" y="2576576"/>
          <a:ext cx="11183112" cy="1675130"/>
        </p:xfrm>
        <a:graphic>
          <a:graphicData uri="http://schemas.openxmlformats.org/drawingml/2006/table">
            <a:tbl>
              <a:tblPr firstRow="1" bandRow="1">
                <a:tableStyleId>{5C22544A-7EE6-4342-B048-85BDC9FD1C3A}</a:tableStyleId>
              </a:tblPr>
              <a:tblGrid>
                <a:gridCol w="5591556"/>
                <a:gridCol w="5591556"/>
              </a:tblGrid>
              <a:tr h="335026">
                <a:tc>
                  <a:txBody>
                    <a:bodyPr/>
                    <a:lstStyle/>
                    <a:p>
                      <a:r>
                        <a:rPr sz="900" b="1">
                          <a:solidFill>
                            <a:srgbClr val="243A5E"/>
                          </a:solidFill>
                          <a:latin typeface="Meiryo"/>
                          <a:ea typeface="Meiryo"/>
                        </a:rPr>
                        <a:t>エージェント</a:t>
                      </a:r>
                    </a:p>
                  </a:txBody>
                  <a:tcPr>
                    <a:solidFill>
                      <a:srgbClr val="E8F0FE"/>
                    </a:solidFill>
                  </a:tcPr>
                </a:tc>
                <a:tc>
                  <a:txBody>
                    <a:bodyPr/>
                    <a:lstStyle/>
                    <a:p>
                      <a:r>
                        <a:rPr sz="900" b="1">
                          <a:solidFill>
                            <a:srgbClr val="243A5E"/>
                          </a:solidFill>
                          <a:latin typeface="Meiryo"/>
                          <a:ea typeface="Meiryo"/>
                        </a:rPr>
                        <a:t>起動方法</a:t>
                      </a:r>
                    </a:p>
                  </a:txBody>
                  <a:tcPr>
                    <a:solidFill>
                      <a:srgbClr val="E8F0FE"/>
                    </a:solidFill>
                  </a:tcPr>
                </a:tc>
              </a:tr>
              <a:tr h="335026">
                <a:tc>
                  <a:txBody>
                    <a:bodyPr/>
                    <a:lstStyle/>
                    <a:p>
                      <a:r>
                        <a:rPr sz="900">
                          <a:solidFill>
                            <a:srgbClr val="323130"/>
                          </a:solidFill>
                          <a:latin typeface="Meiryo"/>
                          <a:ea typeface="Meiryo"/>
                        </a:rPr>
                        <a:t>Claude Code</a:t>
                      </a:r>
                    </a:p>
                  </a:txBody>
                  <a:tcPr/>
                </a:tc>
                <a:tc>
                  <a:txBody>
                    <a:bodyPr/>
                    <a:lstStyle/>
                    <a:p>
                      <a:r>
                        <a:rPr sz="900">
                          <a:solidFill>
                            <a:srgbClr val="323130"/>
                          </a:solidFill>
                          <a:latin typeface="Meiryo"/>
                          <a:ea typeface="Meiryo"/>
                        </a:rPr>
                        <a:t>自然言語 or /skill-name</a:t>
                      </a:r>
                    </a:p>
                  </a:txBody>
                  <a:tcPr/>
                </a:tc>
              </a:tr>
              <a:tr h="335026">
                <a:tc>
                  <a:txBody>
                    <a:bodyPr/>
                    <a:lstStyle/>
                    <a:p>
                      <a:r>
                        <a:rPr sz="900">
                          <a:solidFill>
                            <a:srgbClr val="323130"/>
                          </a:solidFill>
                          <a:latin typeface="Meiryo"/>
                          <a:ea typeface="Meiryo"/>
                        </a:rPr>
                        <a:t>GitHub Copilot</a:t>
                      </a:r>
                    </a:p>
                  </a:txBody>
                  <a:tcPr/>
                </a:tc>
                <a:tc>
                  <a:txBody>
                    <a:bodyPr/>
                    <a:lstStyle/>
                    <a:p>
                      <a:r>
                        <a:rPr sz="900">
                          <a:solidFill>
                            <a:srgbClr val="323130"/>
                          </a:solidFill>
                          <a:latin typeface="Meiryo"/>
                          <a:ea typeface="Meiryo"/>
                        </a:rPr>
                        <a:t>自然言語 or @workspace</a:t>
                      </a:r>
                    </a:p>
                  </a:txBody>
                  <a:tcPr/>
                </a:tc>
              </a:tr>
              <a:tr h="335026">
                <a:tc>
                  <a:txBody>
                    <a:bodyPr/>
                    <a:lstStyle/>
                    <a:p>
                      <a:r>
                        <a:rPr sz="900">
                          <a:solidFill>
                            <a:srgbClr val="323130"/>
                          </a:solidFill>
                          <a:latin typeface="Meiryo"/>
                          <a:ea typeface="Meiryo"/>
                        </a:rPr>
                        <a:t>Cursor</a:t>
                      </a:r>
                    </a:p>
                  </a:txBody>
                  <a:tcPr/>
                </a:tc>
                <a:tc>
                  <a:txBody>
                    <a:bodyPr/>
                    <a:lstStyle/>
                    <a:p>
                      <a:r>
                        <a:rPr sz="900">
                          <a:solidFill>
                            <a:srgbClr val="323130"/>
                          </a:solidFill>
                          <a:latin typeface="Meiryo"/>
                          <a:ea typeface="Meiryo"/>
                        </a:rPr>
                        <a:t>@skill-name in Chat</a:t>
                      </a:r>
                    </a:p>
                  </a:txBody>
                  <a:tcPr/>
                </a:tc>
              </a:tr>
              <a:tr h="335026">
                <a:tc>
                  <a:txBody>
                    <a:bodyPr/>
                    <a:lstStyle/>
                    <a:p>
                      <a:r>
                        <a:rPr sz="900">
                          <a:solidFill>
                            <a:srgbClr val="323130"/>
                          </a:solidFill>
                          <a:latin typeface="Meiryo"/>
                          <a:ea typeface="Meiryo"/>
                        </a:rPr>
                        <a:t>Gemini CLI / Codex CLI</a:t>
                      </a:r>
                    </a:p>
                  </a:txBody>
                  <a:tcPr/>
                </a:tc>
                <a:tc>
                  <a:txBody>
                    <a:bodyPr/>
                    <a:lstStyle/>
                    <a:p>
                      <a:r>
                        <a:rPr sz="900">
                          <a:solidFill>
                            <a:srgbClr val="323130"/>
                          </a:solidFill>
                          <a:latin typeface="Meiryo"/>
                          <a:ea typeface="Meiryo"/>
                        </a:rPr>
                        <a:t>自然言語</a:t>
                      </a:r>
                    </a:p>
                  </a:txBody>
                  <a:tcPr/>
                </a:tc>
              </a:tr>
            </a:tbl>
          </a:graphicData>
        </a:graphic>
      </p:graphicFrame>
      <p:sp>
        <p:nvSpPr>
          <p:cNvPr id="7" name="TextBox 6"/>
          <p:cNvSpPr txBox="1"/>
          <p:nvPr/>
        </p:nvSpPr>
        <p:spPr>
          <a:xfrm>
            <a:off x="502920" y="4343146"/>
            <a:ext cx="11183112" cy="1646174"/>
          </a:xfrm>
          <a:prstGeom prst="rect">
            <a:avLst/>
          </a:prstGeom>
          <a:noFill/>
        </p:spPr>
        <p:txBody>
          <a:bodyPr wrap="square">
            <a:normAutofit/>
          </a:bodyPr>
          <a:lstStyle/>
          <a:p>
            <a:pPr>
              <a:spcAft>
                <a:spcPts val="200"/>
              </a:spcAft>
            </a:pPr>
            <a:r>
              <a:rPr sz="1400">
                <a:solidFill>
                  <a:srgbClr val="323130"/>
                </a:solidFill>
                <a:latin typeface="Meiryo"/>
                <a:ea typeface="Meiryo"/>
              </a:rPr>
              <a:t>普通に話しかけるだけでスキルが自動で起動する:</a:t>
            </a:r>
          </a:p>
          <a:p>
            <a:pPr>
              <a:spcAft>
                <a:spcPts val="200"/>
              </a:spcAft>
            </a:pPr>
            <a:r>
              <a:rPr sz="1400">
                <a:solidFill>
                  <a:srgbClr val="323130"/>
                </a:solidFill>
                <a:latin typeface="Meiryo"/>
                <a:ea typeface="Meiryo"/>
              </a:rPr>
              <a:t>&gt; 「Container Apps のベストプラクティスは？」</a:t>
            </a:r>
          </a:p>
          <a:p>
            <a:pPr>
              <a:spcAft>
                <a:spcPts val="200"/>
              </a:spcAft>
            </a:pPr>
            <a:r>
              <a:rPr sz="1400">
                <a:solidFill>
                  <a:srgbClr val="323130"/>
                </a:solidFill>
                <a:latin typeface="Meiryo"/>
                <a:ea typeface="Meiryo"/>
              </a:rPr>
              <a:t>&gt; → azure-container-apps スキルが自動で発火</a:t>
            </a:r>
          </a:p>
          <a:p>
            <a:pPr>
              <a:spcAft>
                <a:spcPts val="200"/>
              </a:spcAft>
            </a:pPr>
            <a:r>
              <a:rPr sz="1400">
                <a:solidFill>
                  <a:srgbClr val="323130"/>
                </a:solidFill>
                <a:latin typeface="Meiryo"/>
                <a:ea typeface="Meiryo"/>
              </a:rPr>
              <a:t>&gt; 「このアプリを Azure にデプロイして」</a:t>
            </a:r>
          </a:p>
          <a:p>
            <a:pPr>
              <a:spcAft>
                <a:spcPts val="200"/>
              </a:spcAft>
            </a:pPr>
            <a:r>
              <a:rPr sz="1400">
                <a:solidFill>
                  <a:srgbClr val="323130"/>
                </a:solidFill>
                <a:latin typeface="Meiryo"/>
                <a:ea typeface="Meiryo"/>
              </a:rPr>
              <a:t>&gt; → azure-prepare スキルが自動で発火</a:t>
            </a:r>
          </a:p>
        </p:txBody>
      </p:sp>
      <p:sp>
        <p:nvSpPr>
          <p:cNvPr id="8" name="TextBox 7"/>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31 / 38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754380"/>
          </a:xfrm>
          <a:prstGeom prst="rect">
            <a:avLst/>
          </a:prstGeom>
          <a:noFill/>
        </p:spPr>
        <p:txBody>
          <a:bodyPr wrap="square">
            <a:normAutofit/>
          </a:bodyPr>
          <a:lstStyle/>
          <a:p>
            <a:r>
              <a:rPr sz="3600" b="1">
                <a:solidFill>
                  <a:srgbClr val="0078D4"/>
                </a:solidFill>
                <a:latin typeface="Meiryo"/>
                <a:ea typeface="Meiryo"/>
              </a:rPr>
              <a:t>スキルごとに「動き方」が違う</a:t>
            </a:r>
          </a:p>
        </p:txBody>
      </p:sp>
      <p:sp>
        <p:nvSpPr>
          <p:cNvPr id="4" name="Rectangle 3"/>
          <p:cNvSpPr/>
          <p:nvPr/>
        </p:nvSpPr>
        <p:spPr>
          <a:xfrm>
            <a:off x="502920" y="144018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77340"/>
          <a:ext cx="11183112" cy="1376680"/>
        </p:xfrm>
        <a:graphic>
          <a:graphicData uri="http://schemas.openxmlformats.org/drawingml/2006/table">
            <a:tbl>
              <a:tblPr firstRow="1" bandRow="1">
                <a:tableStyleId>{5C22544A-7EE6-4342-B048-85BDC9FD1C3A}</a:tableStyleId>
              </a:tblPr>
              <a:tblGrid>
                <a:gridCol w="5591556"/>
                <a:gridCol w="5591556"/>
              </a:tblGrid>
              <a:tr h="344170">
                <a:tc>
                  <a:txBody>
                    <a:bodyPr/>
                    <a:lstStyle/>
                    <a:p>
                      <a:r>
                        <a:rPr sz="900" b="1">
                          <a:solidFill>
                            <a:srgbClr val="243A5E"/>
                          </a:solidFill>
                          <a:latin typeface="Meiryo"/>
                          <a:ea typeface="Meiryo"/>
                        </a:rPr>
                        <a:t>リポジトリ</a:t>
                      </a:r>
                    </a:p>
                  </a:txBody>
                  <a:tcPr>
                    <a:solidFill>
                      <a:srgbClr val="E8F0FE"/>
                    </a:solidFill>
                  </a:tcPr>
                </a:tc>
                <a:tc>
                  <a:txBody>
                    <a:bodyPr/>
                    <a:lstStyle/>
                    <a:p>
                      <a:r>
                        <a:rPr sz="900" b="1">
                          <a:solidFill>
                            <a:srgbClr val="243A5E"/>
                          </a:solidFill>
                          <a:latin typeface="Meiryo"/>
                          <a:ea typeface="Meiryo"/>
                        </a:rPr>
                        <a:t>スキルが発火すると何が起きるか</a:t>
                      </a:r>
                    </a:p>
                  </a:txBody>
                  <a:tcPr>
                    <a:solidFill>
                      <a:srgbClr val="E8F0FE"/>
                    </a:solidFill>
                  </a:tcPr>
                </a:tc>
              </a:tr>
              <a:tr h="344170">
                <a:tc>
                  <a:txBody>
                    <a:bodyPr/>
                    <a:lstStyle/>
                    <a:p>
                      <a:r>
                        <a:rPr sz="900">
                          <a:solidFill>
                            <a:srgbClr val="323130"/>
                          </a:solidFill>
                          <a:latin typeface="Meiryo"/>
                          <a:ea typeface="Meiryo"/>
                        </a:rPr>
                        <a:t>microsoft/skills の individual skill</a:t>
                      </a:r>
                    </a:p>
                  </a:txBody>
                  <a:tcPr/>
                </a:tc>
                <a:tc>
                  <a:txBody>
                    <a:bodyPr/>
                    <a:lstStyle/>
                    <a:p>
                      <a:r>
                        <a:rPr sz="900">
                          <a:solidFill>
                            <a:srgbClr val="323130"/>
                          </a:solidFill>
                          <a:latin typeface="Meiryo"/>
                          <a:ea typeface="Meiryo"/>
                        </a:rPr>
                        <a:t>SDK のコードパターンをコンテキストに注入してコード生成の精度を上げる</a:t>
                      </a:r>
                    </a:p>
                  </a:txBody>
                  <a:tcPr/>
                </a:tc>
              </a:tr>
              <a:tr h="344170">
                <a:tc>
                  <a:txBody>
                    <a:bodyPr/>
                    <a:lstStyle/>
                    <a:p>
                      <a:r>
                        <a:rPr sz="900">
                          <a:solidFill>
                            <a:srgbClr val="323130"/>
                          </a:solidFill>
                          <a:latin typeface="Meiryo"/>
                          <a:ea typeface="Meiryo"/>
                        </a:rPr>
                        <a:t>azure-skills</a:t>
                      </a:r>
                    </a:p>
                  </a:txBody>
                  <a:tcPr/>
                </a:tc>
                <a:tc>
                  <a:txBody>
                    <a:bodyPr/>
                    <a:lstStyle/>
                    <a:p>
                      <a:r>
                        <a:rPr sz="900">
                          <a:solidFill>
                            <a:srgbClr val="323130"/>
                          </a:solidFill>
                          <a:latin typeface="Meiryo"/>
                          <a:ea typeface="Meiryo"/>
                        </a:rPr>
                        <a:t>エージェントが直接 Azure を操作する（MCP経由で azd up, az deployment 等を実行）</a:t>
                      </a:r>
                    </a:p>
                  </a:txBody>
                  <a:tcPr/>
                </a:tc>
              </a:tr>
              <a:tr h="344170">
                <a:tc>
                  <a:txBody>
                    <a:bodyPr/>
                    <a:lstStyle/>
                    <a:p>
                      <a:r>
                        <a:rPr sz="900">
                          <a:solidFill>
                            <a:srgbClr val="323130"/>
                          </a:solidFill>
                          <a:latin typeface="Meiryo"/>
                          <a:ea typeface="Meiryo"/>
                        </a:rPr>
                        <a:t>Agent-Skills</a:t>
                      </a:r>
                    </a:p>
                  </a:txBody>
                  <a:tcPr/>
                </a:tc>
                <a:tc>
                  <a:txBody>
                    <a:bodyPr/>
                    <a:lstStyle/>
                    <a:p>
                      <a:r>
                        <a:rPr sz="900">
                          <a:solidFill>
                            <a:srgbClr val="323130"/>
                          </a:solidFill>
                          <a:latin typeface="Meiryo"/>
                          <a:ea typeface="Meiryo"/>
                        </a:rPr>
                        <a:t>Learn ドキュメントを事前コンパイルした知識をコンテキストに注入して回答の精度を上げる</a:t>
                      </a:r>
                    </a:p>
                  </a:txBody>
                  <a:tcPr/>
                </a:tc>
              </a:tr>
            </a:tbl>
          </a:graphicData>
        </a:graphic>
      </p:graphicFrame>
      <p:sp>
        <p:nvSpPr>
          <p:cNvPr id="6" name="TextBox 5"/>
          <p:cNvSpPr txBox="1"/>
          <p:nvPr/>
        </p:nvSpPr>
        <p:spPr>
          <a:xfrm>
            <a:off x="502920" y="3045460"/>
            <a:ext cx="11183112" cy="823976"/>
          </a:xfrm>
          <a:prstGeom prst="rect">
            <a:avLst/>
          </a:prstGeom>
          <a:noFill/>
        </p:spPr>
        <p:txBody>
          <a:bodyPr wrap="square">
            <a:normAutofit/>
          </a:bodyPr>
          <a:lstStyle/>
          <a:p>
            <a:pPr>
              <a:spcAft>
                <a:spcPts val="400"/>
              </a:spcAft>
            </a:pPr>
            <a:r>
              <a:rPr sz="1600" b="1">
                <a:solidFill>
                  <a:srgbClr val="0078D4"/>
                </a:solidFill>
                <a:latin typeface="Meiryo"/>
                <a:ea typeface="Meiryo"/>
              </a:rPr>
              <a:t>azure-skills は「ワークフロー」が組まれている</a:t>
            </a:r>
          </a:p>
        </p:txBody>
      </p:sp>
      <p:sp>
        <p:nvSpPr>
          <p:cNvPr id="7" name="Rectangle 6"/>
          <p:cNvSpPr/>
          <p:nvPr/>
        </p:nvSpPr>
        <p:spPr>
          <a:xfrm>
            <a:off x="502920" y="3960876"/>
            <a:ext cx="11183112" cy="741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800">
                <a:solidFill>
                  <a:srgbClr val="323130"/>
                </a:solidFill>
                <a:latin typeface="Consolas"/>
                <a:ea typeface="Consolas"/>
              </a:rPr>
              <a:t>azure-prepare  →  azure-validate  →  azure-deploy
  (設計・準備)       (検証)            (デプロイ実行)</a:t>
            </a:r>
          </a:p>
        </p:txBody>
      </p:sp>
      <p:sp>
        <p:nvSpPr>
          <p:cNvPr id="8" name="TextBox 7"/>
          <p:cNvSpPr txBox="1"/>
          <p:nvPr/>
        </p:nvSpPr>
        <p:spPr>
          <a:xfrm>
            <a:off x="502920" y="4793996"/>
            <a:ext cx="11183112" cy="1195324"/>
          </a:xfrm>
          <a:prstGeom prst="rect">
            <a:avLst/>
          </a:prstGeom>
          <a:noFill/>
        </p:spPr>
        <p:txBody>
          <a:bodyPr wrap="square">
            <a:normAutofit/>
          </a:bodyPr>
          <a:lstStyle/>
          <a:p>
            <a:pPr>
              <a:spcAft>
                <a:spcPts val="300"/>
              </a:spcAft>
            </a:pPr>
            <a:r>
              <a:rPr sz="1400">
                <a:solidFill>
                  <a:srgbClr val="323130"/>
                </a:solidFill>
                <a:latin typeface="Meiryo"/>
                <a:ea typeface="Meiryo"/>
              </a:rPr>
              <a:t>• 各スキルの description に </a:t>
            </a:r>
            <a:r>
              <a:rPr sz="1400" b="1">
                <a:solidFill>
                  <a:srgbClr val="323130"/>
                </a:solidFill>
                <a:latin typeface="Meiryo"/>
                <a:ea typeface="Meiryo"/>
              </a:rPr>
              <a:t>WHEN 句</a:t>
            </a:r>
            <a:r>
              <a:rPr sz="1400">
                <a:solidFill>
                  <a:srgbClr val="323130"/>
                </a:solidFill>
                <a:latin typeface="Meiryo"/>
                <a:ea typeface="Meiryo"/>
              </a:rPr>
              <a:t>（発火条件）が明記されている</a:t>
            </a:r>
          </a:p>
          <a:p>
            <a:pPr>
              <a:spcAft>
                <a:spcPts val="300"/>
              </a:spcAft>
            </a:pPr>
            <a:r>
              <a:rPr sz="1400">
                <a:solidFill>
                  <a:srgbClr val="323130"/>
                </a:solidFill>
                <a:latin typeface="Meiryo"/>
                <a:ea typeface="Meiryo"/>
              </a:rPr>
              <a:t>• azure-deploy は validate 済みでないと</a:t>
            </a:r>
            <a:r>
              <a:rPr sz="1400" b="1">
                <a:solidFill>
                  <a:srgbClr val="323130"/>
                </a:solidFill>
                <a:latin typeface="Meiryo"/>
                <a:ea typeface="Meiryo"/>
              </a:rPr>
              <a:t>実行を拒否</a:t>
            </a:r>
            <a:r>
              <a:rPr sz="1400">
                <a:solidFill>
                  <a:srgbClr val="323130"/>
                </a:solidFill>
                <a:latin typeface="Meiryo"/>
                <a:ea typeface="Meiryo"/>
              </a:rPr>
              <a:t>する（ガードレール）</a:t>
            </a:r>
          </a:p>
          <a:p>
            <a:pPr>
              <a:spcAft>
                <a:spcPts val="300"/>
              </a:spcAft>
            </a:pPr>
            <a:r>
              <a:rPr sz="1400">
                <a:solidFill>
                  <a:srgbClr val="323130"/>
                </a:solidFill>
                <a:latin typeface="Meiryo"/>
                <a:ea typeface="Meiryo"/>
              </a:rPr>
              <a:t>• 人間は「デプロイして」と言うだけ。順序はスキルが制御する</a:t>
            </a:r>
          </a:p>
        </p:txBody>
      </p:sp>
      <p:sp>
        <p:nvSpPr>
          <p:cNvPr id="9" name="TextBox 8"/>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32 / 38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1524000"/>
          </a:xfrm>
          <a:prstGeom prst="rect">
            <a:avLst/>
          </a:prstGeom>
          <a:noFill/>
        </p:spPr>
        <p:txBody>
          <a:bodyPr wrap="square">
            <a:normAutofit/>
          </a:bodyPr>
          <a:lstStyle/>
          <a:p>
            <a:r>
              <a:rPr sz="4000" b="1">
                <a:solidFill>
                  <a:srgbClr val="0078D4"/>
                </a:solidFill>
                <a:latin typeface="Meiryo"/>
                <a:ea typeface="Meiryo"/>
              </a:rPr>
              <a:t>補足: Agent-Skills と Microsoft Learn MCP は別物</a:t>
            </a:r>
          </a:p>
        </p:txBody>
      </p:sp>
      <p:sp>
        <p:nvSpPr>
          <p:cNvPr id="4" name="Rectangle 3"/>
          <p:cNvSpPr/>
          <p:nvPr/>
        </p:nvSpPr>
        <p:spPr>
          <a:xfrm>
            <a:off x="502920" y="22098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2346960"/>
          <a:ext cx="11183112" cy="1973580"/>
        </p:xfrm>
        <a:graphic>
          <a:graphicData uri="http://schemas.openxmlformats.org/drawingml/2006/table">
            <a:tbl>
              <a:tblPr firstRow="1" bandRow="1">
                <a:tableStyleId>{5C22544A-7EE6-4342-B048-85BDC9FD1C3A}</a:tableStyleId>
              </a:tblPr>
              <a:tblGrid>
                <a:gridCol w="3727704"/>
                <a:gridCol w="3727704"/>
                <a:gridCol w="3727704"/>
              </a:tblGrid>
              <a:tr h="328930">
                <a:tc>
                  <a:txBody>
                    <a:bodyPr/>
                    <a:lstStyle/>
                    <a:p/>
                  </a:txBody>
                  <a:tcPr>
                    <a:solidFill>
                      <a:srgbClr val="E8F0FE"/>
                    </a:solidFill>
                  </a:tcPr>
                </a:tc>
                <a:tc>
                  <a:txBody>
                    <a:bodyPr/>
                    <a:lstStyle/>
                    <a:p>
                      <a:r>
                        <a:rPr sz="900" b="1">
                          <a:solidFill>
                            <a:srgbClr val="243A5E"/>
                          </a:solidFill>
                          <a:latin typeface="Meiryo"/>
                          <a:ea typeface="Meiryo"/>
                        </a:rPr>
                        <a:t>Agent-Skills</a:t>
                      </a:r>
                    </a:p>
                  </a:txBody>
                  <a:tcPr>
                    <a:solidFill>
                      <a:srgbClr val="E8F0FE"/>
                    </a:solidFill>
                  </a:tcPr>
                </a:tc>
                <a:tc>
                  <a:txBody>
                    <a:bodyPr/>
                    <a:lstStyle/>
                    <a:p>
                      <a:r>
                        <a:rPr sz="900" b="1">
                          <a:solidFill>
                            <a:srgbClr val="243A5E"/>
                          </a:solidFill>
                          <a:latin typeface="Meiryo"/>
                          <a:ea typeface="Meiryo"/>
                        </a:rPr>
                        <a:t>Microsoft Learn MCP</a:t>
                      </a:r>
                    </a:p>
                  </a:txBody>
                  <a:tcPr>
                    <a:solidFill>
                      <a:srgbClr val="E8F0FE"/>
                    </a:solidFill>
                  </a:tcPr>
                </a:tc>
              </a:tr>
              <a:tr h="328930">
                <a:tc>
                  <a:txBody>
                    <a:bodyPr/>
                    <a:lstStyle/>
                    <a:p>
                      <a:r>
                        <a:rPr sz="900">
                          <a:solidFill>
                            <a:srgbClr val="323130"/>
                          </a:solidFill>
                          <a:latin typeface="Meiryo"/>
                          <a:ea typeface="Meiryo"/>
                        </a:rPr>
                        <a:t>仕組み</a:t>
                      </a:r>
                    </a:p>
                  </a:txBody>
                  <a:tcPr/>
                </a:tc>
                <a:tc>
                  <a:txBody>
                    <a:bodyPr/>
                    <a:lstStyle/>
                    <a:p>
                      <a:r>
                        <a:rPr sz="900">
                          <a:solidFill>
                            <a:srgbClr val="323130"/>
                          </a:solidFill>
                          <a:latin typeface="Meiryo"/>
                          <a:ea typeface="Meiryo"/>
                        </a:rPr>
                        <a:t>SKILL.md をローカルにコピーして使う</a:t>
                      </a:r>
                    </a:p>
                  </a:txBody>
                  <a:tcPr/>
                </a:tc>
                <a:tc>
                  <a:txBody>
                    <a:bodyPr/>
                    <a:lstStyle/>
                    <a:p>
                      <a:r>
                        <a:rPr sz="900">
                          <a:solidFill>
                            <a:srgbClr val="323130"/>
                          </a:solidFill>
                          <a:latin typeface="Meiryo"/>
                          <a:ea typeface="Meiryo"/>
                        </a:rPr>
                        <a:t>MCP Server 経由でリアルタイム取得</a:t>
                      </a:r>
                    </a:p>
                  </a:txBody>
                  <a:tcPr/>
                </a:tc>
              </a:tr>
              <a:tr h="328930">
                <a:tc>
                  <a:txBody>
                    <a:bodyPr/>
                    <a:lstStyle/>
                    <a:p>
                      <a:r>
                        <a:rPr sz="900">
                          <a:solidFill>
                            <a:srgbClr val="323130"/>
                          </a:solidFill>
                          <a:latin typeface="Meiryo"/>
                          <a:ea typeface="Meiryo"/>
                        </a:rPr>
                        <a:t>データ</a:t>
                      </a:r>
                    </a:p>
                  </a:txBody>
                  <a:tcPr/>
                </a:tc>
                <a:tc>
                  <a:txBody>
                    <a:bodyPr/>
                    <a:lstStyle/>
                    <a:p>
                      <a:r>
                        <a:rPr sz="900">
                          <a:solidFill>
                            <a:srgbClr val="323130"/>
                          </a:solidFill>
                          <a:latin typeface="Meiryo"/>
                          <a:ea typeface="Meiryo"/>
                        </a:rPr>
                        <a:t>Learn を事前コンパイルした静的ファイル</a:t>
                      </a:r>
                    </a:p>
                  </a:txBody>
                  <a:tcPr/>
                </a:tc>
                <a:tc>
                  <a:txBody>
                    <a:bodyPr/>
                    <a:lstStyle/>
                    <a:p>
                      <a:r>
                        <a:rPr sz="900">
                          <a:solidFill>
                            <a:srgbClr val="323130"/>
                          </a:solidFill>
                          <a:latin typeface="Meiryo"/>
                          <a:ea typeface="Meiryo"/>
                        </a:rPr>
                        <a:t>Learn の最新ページをその場で取得</a:t>
                      </a:r>
                    </a:p>
                  </a:txBody>
                  <a:tcPr/>
                </a:tc>
              </a:tr>
              <a:tr h="328930">
                <a:tc>
                  <a:txBody>
                    <a:bodyPr/>
                    <a:lstStyle/>
                    <a:p>
                      <a:r>
                        <a:rPr sz="900">
                          <a:solidFill>
                            <a:srgbClr val="323130"/>
                          </a:solidFill>
                          <a:latin typeface="Meiryo"/>
                          <a:ea typeface="Meiryo"/>
                        </a:rPr>
                        <a:t>鮮度</a:t>
                      </a:r>
                    </a:p>
                  </a:txBody>
                  <a:tcPr/>
                </a:tc>
                <a:tc>
                  <a:txBody>
                    <a:bodyPr/>
                    <a:lstStyle/>
                    <a:p>
                      <a:r>
                        <a:rPr sz="900">
                          <a:solidFill>
                            <a:srgbClr val="323130"/>
                          </a:solidFill>
                          <a:latin typeface="Meiryo"/>
                          <a:ea typeface="Meiryo"/>
                        </a:rPr>
                        <a:t>リポジトリ更新時点の情報</a:t>
                      </a:r>
                    </a:p>
                  </a:txBody>
                  <a:tcPr/>
                </a:tc>
                <a:tc>
                  <a:txBody>
                    <a:bodyPr/>
                    <a:lstStyle/>
                    <a:p>
                      <a:r>
                        <a:rPr sz="900">
                          <a:solidFill>
                            <a:srgbClr val="323130"/>
                          </a:solidFill>
                          <a:latin typeface="Meiryo"/>
                          <a:ea typeface="Meiryo"/>
                        </a:rPr>
                        <a:t>常に最新</a:t>
                      </a:r>
                    </a:p>
                  </a:txBody>
                  <a:tcPr/>
                </a:tc>
              </a:tr>
              <a:tr h="328930">
                <a:tc>
                  <a:txBody>
                    <a:bodyPr/>
                    <a:lstStyle/>
                    <a:p>
                      <a:r>
                        <a:rPr sz="900">
                          <a:solidFill>
                            <a:srgbClr val="323130"/>
                          </a:solidFill>
                          <a:latin typeface="Meiryo"/>
                          <a:ea typeface="Meiryo"/>
                        </a:rPr>
                        <a:t>コスト</a:t>
                      </a:r>
                    </a:p>
                  </a:txBody>
                  <a:tcPr/>
                </a:tc>
                <a:tc>
                  <a:txBody>
                    <a:bodyPr/>
                    <a:lstStyle/>
                    <a:p>
                      <a:r>
                        <a:rPr sz="900">
                          <a:solidFill>
                            <a:srgbClr val="323130"/>
                          </a:solidFill>
                          <a:latin typeface="Meiryo"/>
                          <a:ea typeface="Meiryo"/>
                        </a:rPr>
                        <a:t>ローカルファイルなので通信ゼロ</a:t>
                      </a:r>
                    </a:p>
                  </a:txBody>
                  <a:tcPr/>
                </a:tc>
                <a:tc>
                  <a:txBody>
                    <a:bodyPr/>
                    <a:lstStyle/>
                    <a:p>
                      <a:r>
                        <a:rPr sz="900">
                          <a:solidFill>
                            <a:srgbClr val="323130"/>
                          </a:solidFill>
                          <a:latin typeface="Meiryo"/>
                          <a:ea typeface="Meiryo"/>
                        </a:rPr>
                        <a:t>毎回 API コール</a:t>
                      </a:r>
                    </a:p>
                  </a:txBody>
                  <a:tcPr/>
                </a:tc>
              </a:tr>
              <a:tr h="328930">
                <a:tc>
                  <a:txBody>
                    <a:bodyPr/>
                    <a:lstStyle/>
                    <a:p>
                      <a:r>
                        <a:rPr sz="900">
                          <a:solidFill>
                            <a:srgbClr val="323130"/>
                          </a:solidFill>
                          <a:latin typeface="Meiryo"/>
                          <a:ea typeface="Meiryo"/>
                        </a:rPr>
                        <a:t>代表ツール</a:t>
                      </a:r>
                    </a:p>
                  </a:txBody>
                  <a:tcPr/>
                </a:tc>
                <a:tc>
                  <a:txBody>
                    <a:bodyPr/>
                    <a:lstStyle/>
                    <a:p>
                      <a:r>
                        <a:rPr sz="900">
                          <a:solidFill>
                            <a:srgbClr val="323130"/>
                          </a:solidFill>
                          <a:latin typeface="Meiryo"/>
                          <a:ea typeface="Meiryo"/>
                        </a:rPr>
                        <a:t>—</a:t>
                      </a:r>
                    </a:p>
                  </a:txBody>
                  <a:tcPr/>
                </a:tc>
                <a:tc>
                  <a:txBody>
                    <a:bodyPr/>
                    <a:lstStyle/>
                    <a:p>
                      <a:r>
                        <a:rPr sz="900">
                          <a:solidFill>
                            <a:srgbClr val="323130"/>
                          </a:solidFill>
                          <a:latin typeface="Meiryo"/>
                          <a:ea typeface="Meiryo"/>
                        </a:rPr>
                        <a:t>microsoft_docs_search, microsoft_docs_fetch</a:t>
                      </a:r>
                    </a:p>
                  </a:txBody>
                  <a:tcPr/>
                </a:tc>
              </a:tr>
            </a:tbl>
          </a:graphicData>
        </a:graphic>
      </p:graphicFrame>
      <p:sp>
        <p:nvSpPr>
          <p:cNvPr id="6" name="TextBox 5"/>
          <p:cNvSpPr txBox="1"/>
          <p:nvPr/>
        </p:nvSpPr>
        <p:spPr>
          <a:xfrm>
            <a:off x="502920" y="4411979"/>
            <a:ext cx="11183112" cy="1577340"/>
          </a:xfrm>
          <a:prstGeom prst="rect">
            <a:avLst/>
          </a:prstGeom>
          <a:noFill/>
        </p:spPr>
        <p:txBody>
          <a:bodyPr wrap="square">
            <a:normAutofit/>
          </a:bodyPr>
          <a:lstStyle/>
          <a:p>
            <a:pPr>
              <a:spcAft>
                <a:spcPts val="200"/>
              </a:spcAft>
            </a:pPr>
            <a:r>
              <a:rPr sz="1400" b="1">
                <a:solidFill>
                  <a:srgbClr val="323130"/>
                </a:solidFill>
                <a:latin typeface="Meiryo"/>
                <a:ea typeface="Meiryo"/>
              </a:rPr>
              <a:t>両方使うのがおすすめ:</a:t>
            </a:r>
          </a:p>
          <a:p>
            <a:pPr>
              <a:spcAft>
                <a:spcPts val="300"/>
              </a:spcAft>
            </a:pPr>
            <a:r>
              <a:rPr sz="1400">
                <a:solidFill>
                  <a:srgbClr val="323130"/>
                </a:solidFill>
                <a:latin typeface="Meiryo"/>
                <a:ea typeface="Meiryo"/>
              </a:rPr>
              <a:t>• Agent-Skills → ベースの知識として常時注入（高速・安定）</a:t>
            </a:r>
          </a:p>
          <a:p>
            <a:pPr>
              <a:spcAft>
                <a:spcPts val="300"/>
              </a:spcAft>
            </a:pPr>
            <a:r>
              <a:rPr sz="1400">
                <a:solidFill>
                  <a:srgbClr val="323130"/>
                </a:solidFill>
                <a:latin typeface="Meiryo"/>
                <a:ea typeface="Meiryo"/>
              </a:rPr>
              <a:t>• Learn MCP → 最新情報や詳細が必要な時にオンデマンド取得</a:t>
            </a:r>
          </a:p>
          <a:p>
            <a:pPr>
              <a:spcAft>
                <a:spcPts val="200"/>
              </a:spcAft>
            </a:pPr>
            <a:r>
              <a:rPr sz="1400" b="1">
                <a:solidFill>
                  <a:srgbClr val="323130"/>
                </a:solidFill>
                <a:latin typeface="Meiryo"/>
                <a:ea typeface="Meiryo"/>
              </a:rPr>
              <a:t>→ 「事前コンパイル × リアルタイム取得」の組み合わせが最強</a:t>
            </a:r>
          </a:p>
        </p:txBody>
      </p:sp>
      <p:sp>
        <p:nvSpPr>
          <p:cNvPr id="7" name="TextBox 6"/>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33 / 38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まとめ: 何が変わるのか？</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4328160"/>
          </a:xfrm>
          <a:prstGeom prst="rect">
            <a:avLst/>
          </a:prstGeom>
          <a:noFill/>
        </p:spPr>
        <p:txBody>
          <a:bodyPr wrap="square">
            <a:normAutofit/>
          </a:bodyPr>
          <a:lstStyle/>
          <a:p>
            <a:pPr>
              <a:spcAft>
                <a:spcPts val="600"/>
              </a:spcAft>
            </a:pPr>
            <a:r>
              <a:rPr sz="2000" b="1">
                <a:solidFill>
                  <a:srgbClr val="0078D4"/>
                </a:solidFill>
                <a:latin typeface="Meiryo"/>
                <a:ea typeface="Meiryo"/>
              </a:rPr>
              <a:t>Before（従来）</a:t>
            </a:r>
          </a:p>
          <a:p>
            <a:pPr>
              <a:spcAft>
                <a:spcPts val="400"/>
              </a:spcAft>
            </a:pPr>
            <a:r>
              <a:rPr sz="1800">
                <a:solidFill>
                  <a:srgbClr val="323130"/>
                </a:solidFill>
                <a:latin typeface="Meiryo"/>
                <a:ea typeface="Meiryo"/>
              </a:rPr>
              <a:t>• 人間が Azure のドキュメントを読む</a:t>
            </a:r>
          </a:p>
          <a:p>
            <a:pPr>
              <a:spcAft>
                <a:spcPts val="400"/>
              </a:spcAft>
            </a:pPr>
            <a:r>
              <a:rPr sz="1800">
                <a:solidFill>
                  <a:srgbClr val="323130"/>
                </a:solidFill>
                <a:latin typeface="Meiryo"/>
                <a:ea typeface="Meiryo"/>
              </a:rPr>
              <a:t>• 人間が設計・構築・運用する</a:t>
            </a:r>
          </a:p>
          <a:p>
            <a:pPr>
              <a:spcAft>
                <a:spcPts val="400"/>
              </a:spcAft>
            </a:pPr>
            <a:r>
              <a:rPr sz="1800">
                <a:solidFill>
                  <a:srgbClr val="323130"/>
                </a:solidFill>
                <a:latin typeface="Meiryo"/>
                <a:ea typeface="Meiryo"/>
              </a:rPr>
              <a:t>• AIは「コード補完」だけ</a:t>
            </a:r>
          </a:p>
          <a:p>
            <a:pPr>
              <a:spcAft>
                <a:spcPts val="600"/>
              </a:spcAft>
            </a:pPr>
            <a:r>
              <a:rPr sz="2000" b="1">
                <a:solidFill>
                  <a:srgbClr val="0078D4"/>
                </a:solidFill>
                <a:latin typeface="Meiryo"/>
                <a:ea typeface="Meiryo"/>
              </a:rPr>
              <a:t>After（Agent Skills 時代）</a:t>
            </a:r>
          </a:p>
          <a:p>
            <a:pPr>
              <a:spcAft>
                <a:spcPts val="400"/>
              </a:spcAft>
            </a:pPr>
            <a:r>
              <a:rPr sz="1800">
                <a:solidFill>
                  <a:srgbClr val="323130"/>
                </a:solidFill>
                <a:latin typeface="Meiryo"/>
                <a:ea typeface="Meiryo"/>
              </a:rPr>
              <a:t>• AIエージェントが Azure の知識を持つ(中の人が準備してくれる)</a:t>
            </a:r>
          </a:p>
          <a:p>
            <a:pPr>
              <a:spcAft>
                <a:spcPts val="400"/>
              </a:spcAft>
            </a:pPr>
            <a:r>
              <a:rPr sz="1800">
                <a:solidFill>
                  <a:srgbClr val="323130"/>
                </a:solidFill>
                <a:latin typeface="Meiryo"/>
                <a:ea typeface="Meiryo"/>
              </a:rPr>
              <a:t>• AIエージェントが設計・構築・運用を支援する</a:t>
            </a:r>
          </a:p>
          <a:p>
            <a:pPr>
              <a:spcAft>
                <a:spcPts val="400"/>
              </a:spcAft>
            </a:pPr>
            <a:r>
              <a:rPr sz="1800">
                <a:solidFill>
                  <a:srgbClr val="323130"/>
                </a:solidFill>
                <a:latin typeface="Meiryo"/>
                <a:ea typeface="Meiryo"/>
              </a:rPr>
              <a:t>• 人間は「判断」と「承認」に集中する</a:t>
            </a:r>
          </a:p>
          <a:p>
            <a:pPr>
              <a:spcAft>
                <a:spcPts val="300"/>
              </a:spcAft>
            </a:pPr>
            <a:r>
              <a:rPr sz="1800" b="1">
                <a:solidFill>
                  <a:srgbClr val="323130"/>
                </a:solidFill>
                <a:latin typeface="Meiryo"/>
                <a:ea typeface="Meiryo"/>
              </a:rPr>
              <a:t>→ インフラエンジニアの役割は「作る人」から「判断する人」へ</a:t>
            </a:r>
          </a:p>
        </p:txBody>
      </p:sp>
      <p:sp>
        <p:nvSpPr>
          <p:cNvPr id="6" name="TextBox 5"/>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34 / 38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参考リンク</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4328160"/>
          </a:xfrm>
          <a:prstGeom prst="rect">
            <a:avLst/>
          </a:prstGeom>
          <a:noFill/>
        </p:spPr>
        <p:txBody>
          <a:bodyPr wrap="square">
            <a:normAutofit/>
          </a:bodyPr>
          <a:lstStyle/>
          <a:p>
            <a:pPr>
              <a:spcAft>
                <a:spcPts val="800"/>
              </a:spcAft>
            </a:pPr>
            <a:r>
              <a:rPr sz="3200">
                <a:solidFill>
                  <a:srgbClr val="323130"/>
                </a:solidFill>
                <a:latin typeface="Meiryo"/>
                <a:ea typeface="Meiryo"/>
              </a:rPr>
              <a:t>• </a:t>
            </a:r>
            <a:r>
              <a:rPr sz="3200">
                <a:solidFill>
                  <a:srgbClr val="323130"/>
                </a:solidFill>
                <a:latin typeface="Meiryo"/>
                <a:ea typeface="Meiryo"/>
              </a:rPr>
              <a:t>microsoft/skills</a:t>
            </a:r>
            <a:r>
              <a:rPr sz="3200">
                <a:solidFill>
                  <a:srgbClr val="323130"/>
                </a:solidFill>
                <a:latin typeface="Meiryo"/>
                <a:ea typeface="Meiryo"/>
              </a:rPr>
              <a:t> — SDK開発支援（コードの書き方）</a:t>
            </a:r>
          </a:p>
          <a:p>
            <a:pPr>
              <a:spcAft>
                <a:spcPts val="800"/>
              </a:spcAft>
            </a:pPr>
            <a:r>
              <a:rPr sz="3200">
                <a:solidFill>
                  <a:srgbClr val="323130"/>
                </a:solidFill>
                <a:latin typeface="Meiryo"/>
                <a:ea typeface="Meiryo"/>
              </a:rPr>
              <a:t>• </a:t>
            </a:r>
            <a:r>
              <a:rPr sz="3200">
                <a:solidFill>
                  <a:srgbClr val="323130"/>
                </a:solidFill>
                <a:latin typeface="Meiryo"/>
                <a:ea typeface="Meiryo"/>
              </a:rPr>
              <a:t>microsoft/azure-skills</a:t>
            </a:r>
            <a:r>
              <a:rPr sz="3200">
                <a:solidFill>
                  <a:srgbClr val="323130"/>
                </a:solidFill>
                <a:latin typeface="Meiryo"/>
                <a:ea typeface="Meiryo"/>
              </a:rPr>
              <a:t> — 運用支援（リソースの操作）</a:t>
            </a:r>
          </a:p>
          <a:p>
            <a:pPr>
              <a:spcAft>
                <a:spcPts val="800"/>
              </a:spcAft>
            </a:pPr>
            <a:r>
              <a:rPr sz="3200">
                <a:solidFill>
                  <a:srgbClr val="323130"/>
                </a:solidFill>
                <a:latin typeface="Meiryo"/>
                <a:ea typeface="Meiryo"/>
              </a:rPr>
              <a:t>• </a:t>
            </a:r>
            <a:r>
              <a:rPr sz="3200">
                <a:solidFill>
                  <a:srgbClr val="323130"/>
                </a:solidFill>
                <a:latin typeface="Meiryo"/>
                <a:ea typeface="Meiryo"/>
              </a:rPr>
              <a:t>MicrosoftDocs/Agent-Skills</a:t>
            </a:r>
            <a:r>
              <a:rPr sz="3200">
                <a:solidFill>
                  <a:srgbClr val="323130"/>
                </a:solidFill>
                <a:latin typeface="Meiryo"/>
                <a:ea typeface="Meiryo"/>
              </a:rPr>
              <a:t> — サービス知識の百科事典</a:t>
            </a:r>
          </a:p>
          <a:p>
            <a:pPr>
              <a:spcAft>
                <a:spcPts val="800"/>
              </a:spcAft>
            </a:pPr>
            <a:r>
              <a:rPr sz="3200">
                <a:solidFill>
                  <a:srgbClr val="323130"/>
                </a:solidFill>
                <a:latin typeface="Meiryo"/>
                <a:ea typeface="Meiryo"/>
              </a:rPr>
              <a:t>• </a:t>
            </a:r>
            <a:r>
              <a:rPr sz="3200">
                <a:solidFill>
                  <a:srgbClr val="323130"/>
                </a:solidFill>
                <a:latin typeface="Meiryo"/>
                <a:ea typeface="Meiryo"/>
              </a:rPr>
              <a:t>Skill Explorer</a:t>
            </a:r>
            <a:r>
              <a:rPr sz="3200">
                <a:solidFill>
                  <a:srgbClr val="323130"/>
                </a:solidFill>
                <a:latin typeface="Meiryo"/>
                <a:ea typeface="Meiryo"/>
              </a:rPr>
              <a:t> — 全スキル一覧</a:t>
            </a:r>
          </a:p>
          <a:p>
            <a:pPr>
              <a:spcAft>
                <a:spcPts val="800"/>
              </a:spcAft>
            </a:pPr>
            <a:r>
              <a:rPr sz="3200">
                <a:solidFill>
                  <a:srgbClr val="323130"/>
                </a:solidFill>
                <a:latin typeface="Meiryo"/>
                <a:ea typeface="Meiryo"/>
              </a:rPr>
              <a:t>• </a:t>
            </a:r>
            <a:r>
              <a:rPr sz="3200">
                <a:solidFill>
                  <a:srgbClr val="323130"/>
                </a:solidFill>
                <a:latin typeface="Meiryo"/>
                <a:ea typeface="Meiryo"/>
              </a:rPr>
              <a:t>Announcing the Azure Skills Plugin</a:t>
            </a:r>
          </a:p>
          <a:p>
            <a:pPr>
              <a:spcAft>
                <a:spcPts val="800"/>
              </a:spcAft>
            </a:pPr>
            <a:r>
              <a:rPr sz="3200">
                <a:solidFill>
                  <a:srgbClr val="323130"/>
                </a:solidFill>
                <a:latin typeface="Meiryo"/>
                <a:ea typeface="Meiryo"/>
              </a:rPr>
              <a:t>• </a:t>
            </a:r>
            <a:r>
              <a:rPr sz="3200">
                <a:solidFill>
                  <a:srgbClr val="323130"/>
                </a:solidFill>
                <a:latin typeface="Meiryo"/>
                <a:ea typeface="Meiryo"/>
              </a:rPr>
              <a:t>Context-Driven Development</a:t>
            </a:r>
          </a:p>
        </p:txBody>
      </p:sp>
      <p:sp>
        <p:nvSpPr>
          <p:cNvPr id="6" name="TextBox 5"/>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35 / 38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77240"/>
            <a:ext cx="11183112" cy="5486400"/>
          </a:xfrm>
          <a:prstGeom prst="rect">
            <a:avLst/>
          </a:prstGeom>
          <a:noFill/>
        </p:spPr>
        <p:txBody>
          <a:bodyPr wrap="square" anchor="ctr">
            <a:normAutofit/>
          </a:bodyPr>
          <a:lstStyle/>
          <a:p>
            <a:pPr algn="ctr">
              <a:spcAft>
                <a:spcPts val="800"/>
              </a:spcAft>
            </a:pPr>
            <a:r>
              <a:rPr sz="4800" b="1">
                <a:solidFill>
                  <a:srgbClr val="0078D4"/>
                </a:solidFill>
                <a:latin typeface="Meiryo"/>
                <a:ea typeface="Meiryo"/>
              </a:rPr>
              <a:t>ありがとうございました！</a:t>
            </a:r>
          </a:p>
          <a:p>
            <a:pPr algn="ctr">
              <a:spcAft>
                <a:spcPts val="800"/>
              </a:spcAft>
            </a:pPr>
            <a:r>
              <a:rPr sz="2600">
                <a:solidFill>
                  <a:srgbClr val="323130"/>
                </a:solidFill>
                <a:latin typeface="Meiryo"/>
                <a:ea typeface="Meiryo"/>
              </a:rPr>
              <a:t>Q&amp;A</a:t>
            </a:r>
          </a:p>
          <a:p>
            <a:pPr algn="ctr">
              <a:spcAft>
                <a:spcPts val="600"/>
              </a:spcAft>
            </a:pPr>
            <a:r>
              <a:rPr sz="2200">
                <a:solidFill>
                  <a:srgbClr val="323130"/>
                </a:solidFill>
                <a:latin typeface="Meiryo"/>
                <a:ea typeface="Meiryo"/>
              </a:rPr>
              <a:t>Slido / YouTube チャットで質問をどうぞ 🙋</a:t>
            </a:r>
          </a:p>
        </p:txBody>
      </p:sp>
      <p:sp>
        <p:nvSpPr>
          <p:cNvPr id="4" name="TextBox 3"/>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36 / 38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77240"/>
            <a:ext cx="11183112" cy="5486400"/>
          </a:xfrm>
          <a:prstGeom prst="rect">
            <a:avLst/>
          </a:prstGeom>
          <a:noFill/>
        </p:spPr>
        <p:txBody>
          <a:bodyPr wrap="square" anchor="ctr">
            <a:normAutofit/>
          </a:bodyPr>
          <a:lstStyle/>
          <a:p>
            <a:pPr algn="ctr">
              <a:spcAft>
                <a:spcPts val="800"/>
              </a:spcAft>
            </a:pPr>
            <a:r>
              <a:rPr sz="4800" b="1">
                <a:solidFill>
                  <a:srgbClr val="0078D4"/>
                </a:solidFill>
                <a:latin typeface="Meiryo"/>
                <a:ea typeface="Meiryo"/>
              </a:rPr>
              <a:t>セッション②</a:t>
            </a:r>
          </a:p>
          <a:p>
            <a:pPr algn="ctr">
              <a:spcAft>
                <a:spcPts val="800"/>
              </a:spcAft>
            </a:pPr>
            <a:r>
              <a:rPr sz="3300">
                <a:solidFill>
                  <a:srgbClr val="0078D4"/>
                </a:solidFill>
                <a:latin typeface="Meiryo"/>
                <a:ea typeface="Meiryo"/>
              </a:rPr>
              <a:t>Microsoft "Adaptive Cloud" 最新動向</a:t>
            </a:r>
          </a:p>
          <a:p>
            <a:pPr algn="ctr">
              <a:spcAft>
                <a:spcPts val="600"/>
              </a:spcAft>
            </a:pPr>
            <a:r>
              <a:rPr sz="2200">
                <a:solidFill>
                  <a:srgbClr val="323130"/>
                </a:solidFill>
                <a:latin typeface="Meiryo"/>
                <a:ea typeface="Meiryo"/>
              </a:rPr>
              <a:t>高添 修 氏
日本マイクロソフト株式会社</a:t>
            </a:r>
          </a:p>
        </p:txBody>
      </p:sp>
      <p:sp>
        <p:nvSpPr>
          <p:cNvPr id="4" name="TextBox 3"/>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37 / 38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1183112" cy="838200"/>
          </a:xfrm>
          <a:prstGeom prst="rect">
            <a:avLst/>
          </a:prstGeom>
          <a:noFill/>
        </p:spPr>
        <p:txBody>
          <a:bodyPr wrap="square">
            <a:normAutofit/>
          </a:bodyPr>
          <a:lstStyle/>
          <a:p>
            <a:r>
              <a:rPr sz="4000" b="1">
                <a:solidFill>
                  <a:srgbClr val="0078D4"/>
                </a:solidFill>
                <a:latin typeface="Meiryo"/>
                <a:ea typeface="Meiryo"/>
              </a:rPr>
              <a:t>クロージング</a:t>
            </a:r>
          </a:p>
        </p:txBody>
      </p:sp>
      <p:sp>
        <p:nvSpPr>
          <p:cNvPr id="4" name="Rectangle 3"/>
          <p:cNvSpPr/>
          <p:nvPr/>
        </p:nvSpPr>
        <p:spPr>
          <a:xfrm>
            <a:off x="502920" y="1524000"/>
            <a:ext cx="11183112" cy="25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61160"/>
            <a:ext cx="11183112" cy="4328160"/>
          </a:xfrm>
          <a:prstGeom prst="rect">
            <a:avLst/>
          </a:prstGeom>
          <a:noFill/>
        </p:spPr>
        <p:txBody>
          <a:bodyPr wrap="square">
            <a:normAutofit/>
          </a:bodyPr>
          <a:lstStyle/>
          <a:p>
            <a:pPr>
              <a:spcAft>
                <a:spcPts val="600"/>
              </a:spcAft>
            </a:pPr>
            <a:r>
              <a:rPr sz="2300" b="1">
                <a:solidFill>
                  <a:srgbClr val="0078D4"/>
                </a:solidFill>
                <a:latin typeface="Meiryo"/>
                <a:ea typeface="Meiryo"/>
              </a:rPr>
              <a:t>次回: HCCJP 第73回勉強会</a:t>
            </a:r>
          </a:p>
          <a:p>
            <a:pPr>
              <a:spcAft>
                <a:spcPts val="500"/>
              </a:spcAft>
            </a:pPr>
            <a:r>
              <a:rPr sz="2000">
                <a:solidFill>
                  <a:srgbClr val="323130"/>
                </a:solidFill>
                <a:latin typeface="Meiryo"/>
                <a:ea typeface="Meiryo"/>
              </a:rPr>
              <a:t>• </a:t>
            </a:r>
            <a:r>
              <a:rPr sz="2000" b="1">
                <a:solidFill>
                  <a:srgbClr val="323130"/>
                </a:solidFill>
                <a:latin typeface="Meiryo"/>
                <a:ea typeface="Meiryo"/>
              </a:rPr>
              <a:t>日時</a:t>
            </a:r>
            <a:r>
              <a:rPr sz="2000">
                <a:solidFill>
                  <a:srgbClr val="323130"/>
                </a:solidFill>
                <a:latin typeface="Meiryo"/>
                <a:ea typeface="Meiryo"/>
              </a:rPr>
              <a:t>: 2026年5月8日（金）14:00〜（予定）</a:t>
            </a:r>
          </a:p>
          <a:p>
            <a:pPr>
              <a:spcAft>
                <a:spcPts val="500"/>
              </a:spcAft>
            </a:pPr>
            <a:r>
              <a:rPr sz="2000">
                <a:solidFill>
                  <a:srgbClr val="323130"/>
                </a:solidFill>
                <a:latin typeface="Meiryo"/>
                <a:ea typeface="Meiryo"/>
              </a:rPr>
              <a:t>• </a:t>
            </a:r>
            <a:r>
              <a:rPr sz="2000" b="1">
                <a:solidFill>
                  <a:srgbClr val="323130"/>
                </a:solidFill>
                <a:latin typeface="Meiryo"/>
                <a:ea typeface="Meiryo"/>
              </a:rPr>
              <a:t>テーマ</a:t>
            </a:r>
            <a:r>
              <a:rPr sz="2000">
                <a:solidFill>
                  <a:srgbClr val="323130"/>
                </a:solidFill>
                <a:latin typeface="Meiryo"/>
                <a:ea typeface="Meiryo"/>
              </a:rPr>
              <a:t>: TBD</a:t>
            </a:r>
          </a:p>
          <a:p>
            <a:pPr>
              <a:spcAft>
                <a:spcPts val="600"/>
              </a:spcAft>
            </a:pPr>
            <a:r>
              <a:rPr sz="2300" b="1">
                <a:solidFill>
                  <a:srgbClr val="0078D4"/>
                </a:solidFill>
                <a:latin typeface="Meiryo"/>
                <a:ea typeface="Meiryo"/>
              </a:rPr>
              <a:t>フォローお願いします！</a:t>
            </a:r>
          </a:p>
          <a:p>
            <a:pPr>
              <a:spcAft>
                <a:spcPts val="500"/>
              </a:spcAft>
            </a:pPr>
            <a:r>
              <a:rPr sz="2000">
                <a:solidFill>
                  <a:srgbClr val="323130"/>
                </a:solidFill>
                <a:latin typeface="Meiryo"/>
                <a:ea typeface="Meiryo"/>
              </a:rPr>
              <a:t>• YouTube: チャンネル登録</a:t>
            </a:r>
          </a:p>
          <a:p>
            <a:pPr>
              <a:spcAft>
                <a:spcPts val="500"/>
              </a:spcAft>
            </a:pPr>
            <a:r>
              <a:rPr sz="2000">
                <a:solidFill>
                  <a:srgbClr val="323130"/>
                </a:solidFill>
                <a:latin typeface="Meiryo"/>
                <a:ea typeface="Meiryo"/>
              </a:rPr>
              <a:t>• Connpass: HCCJP</a:t>
            </a:r>
          </a:p>
          <a:p>
            <a:pPr>
              <a:spcAft>
                <a:spcPts val="500"/>
              </a:spcAft>
            </a:pPr>
            <a:r>
              <a:rPr sz="2000">
                <a:solidFill>
                  <a:srgbClr val="323130"/>
                </a:solidFill>
                <a:latin typeface="Meiryo"/>
                <a:ea typeface="Meiryo"/>
              </a:rPr>
              <a:t>• X: @HCCJP</a:t>
            </a:r>
          </a:p>
          <a:p>
            <a:pPr>
              <a:spcAft>
                <a:spcPts val="400"/>
              </a:spcAft>
            </a:pPr>
            <a:r>
              <a:rPr sz="2000" b="1">
                <a:solidFill>
                  <a:srgbClr val="323130"/>
                </a:solidFill>
                <a:latin typeface="Meiryo"/>
                <a:ea typeface="Meiryo"/>
              </a:rPr>
              <a:t>ご参加ありがとうございました！🎉</a:t>
            </a:r>
          </a:p>
        </p:txBody>
      </p:sp>
      <p:sp>
        <p:nvSpPr>
          <p:cNvPr id="6" name="TextBox 5"/>
          <p:cNvSpPr txBox="1"/>
          <p:nvPr/>
        </p:nvSpPr>
        <p:spPr>
          <a:xfrm>
            <a:off x="10817352" y="6492240"/>
            <a:ext cx="1097280" cy="274320"/>
          </a:xfrm>
          <a:prstGeom prst="rect">
            <a:avLst/>
          </a:prstGeom>
          <a:noFill/>
        </p:spPr>
        <p:txBody>
          <a:bodyPr wrap="none">
            <a:spAutoFit/>
          </a:bodyPr>
          <a:lstStyle/>
          <a:p>
            <a:pPr algn="r"/>
            <a:r>
              <a:rPr sz="1100">
                <a:solidFill>
                  <a:srgbClr val="606060"/>
                </a:solidFill>
                <a:latin typeface="Meiryo"/>
              </a:rPr>
              <a:t>38 / 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