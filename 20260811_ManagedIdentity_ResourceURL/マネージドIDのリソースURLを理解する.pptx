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i-icon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41148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0F0F5"/>
                </a:solidFill>
                <a:latin typeface="Meiryo"/>
              </a:rPr>
              <a:t>その『リソースURL』、何のURL？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999AAA"/>
                </a:solidFill>
                <a:latin typeface="Meiryo"/>
              </a:rPr>
              <a:t>マネージドIDのトークン宛先を理解する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931920"/>
            <a:ext cx="5422392" cy="77724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931920"/>
            <a:ext cx="542239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8D40"/>
                </a:solidFill>
                <a:latin typeface="Meiryo"/>
              </a:rPr>
              <a:t>Azure AI Search の例で腹落ち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99AAA"/>
                </a:solidFill>
                <a:latin typeface="Meiryo"/>
              </a:rPr>
              <a:t>Source: https://learn.microsoft.com/ja-jp/connectors/custom-connectors/azure-active-directory-authentication</a:t>
            </a:r>
          </a:p>
          <a:p>
            <a:pPr algn="ctr"/>
            <a:r>
              <a:rPr sz="1300" b="0">
                <a:solidFill>
                  <a:srgbClr val="5A5C70"/>
                </a:solidFill>
                <a:latin typeface="Meiryo"/>
              </a:rPr>
              <a:t>2026年8月11日 ｜ ebisuda.net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WHY CONFUSING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似たURLが3つ出てくる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73152" cy="329184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39111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通信先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87752"/>
            <a:ext cx="315468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HTTPリクエストを送る住所
https://myservice
.search.windows.net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874519"/>
            <a:ext cx="73152" cy="329184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39111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トークンの宛先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87752"/>
            <a:ext cx="315468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アクセストークンを
受け取るAPIの識別子
https://search.azure.com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74519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874519"/>
            <a:ext cx="73152" cy="329184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039111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Azure resource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87752"/>
            <a:ext cx="315468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Azure上の個別リソース
/subscriptions/.../
providers/Microsoft.Search/...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0F5"/>
                </a:solidFill>
                <a:latin typeface="Meiryo"/>
              </a:rPr>
              <a:t>名前が似ている。でも、役割はまったく違う。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999AAA"/>
                </a:solidFill>
                <a:latin typeface="Meiryo"/>
              </a:rPr>
              <a:t>リソースURLは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E88D40"/>
                </a:solidFill>
                <a:latin typeface="Meiryo"/>
              </a:rPr>
              <a:t>APIの住所ではない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アクセストークンの『宛先』を指定する識別子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TOKEN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Entra IDに『誰向けか』を伝える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2377440" cy="19659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73152" cy="19659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① 呼び出し元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965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カスタムコネクタ
アプリ／マネージドID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48840"/>
            <a:ext cx="2377440" cy="19659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2148840"/>
            <a:ext cx="73152" cy="196596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31343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② Entra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62072"/>
            <a:ext cx="1965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宛先を見て
トークンを発行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2377440" cy="19659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73152" cy="196596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③ Access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62072"/>
            <a:ext cx="1965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aud = 対象API
API用の通行証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48840"/>
            <a:ext cx="2514600" cy="19659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148840"/>
            <a:ext cx="73152" cy="19659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1343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④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862072"/>
            <a:ext cx="210312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aud と権限を確認
一致すれば処理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274320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8152" y="274320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74320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92040"/>
            <a:ext cx="10835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88D40"/>
                </a:solidFill>
                <a:latin typeface="Meiryo"/>
              </a:rPr>
              <a:t>リソースURLは ①→② で指定し、発行トークンの aud に反映される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aud = この通行証を受け取ってよい相手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75488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2032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4206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ACCESS TOKEN</a:t>
            </a:r>
          </a:p>
          <a:p>
            <a:pPr algn="l">
              <a:spcBef>
                <a:spcPts val="1000"/>
              </a:spcBef>
            </a:pPr>
            <a:r>
              <a:rPr sz="2300" b="0">
                <a:solidFill>
                  <a:srgbClr val="999AAA"/>
                </a:solidFill>
                <a:latin typeface="Meiryo"/>
              </a:rPr>
              <a:t>{</a:t>
            </a:r>
          </a:p>
          <a:p>
            <a:pPr algn="l"/>
            <a:r>
              <a:rPr sz="1900" b="1">
                <a:solidFill>
                  <a:srgbClr val="4ED8C0"/>
                </a:solidFill>
                <a:latin typeface="Meiryo"/>
              </a:rPr>
              <a:t>  "aud": "&lt;対象API&gt;",</a:t>
            </a:r>
          </a:p>
          <a:p>
            <a:pPr algn="l"/>
            <a:r>
              <a:rPr sz="2300" b="0">
                <a:solidFill>
                  <a:srgbClr val="999AAA"/>
                </a:solidFill>
                <a:latin typeface="Meiry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74519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4EC960"/>
                </a:solidFill>
                <a:latin typeface="Meiryo"/>
              </a:rPr>
              <a:t>受信したAPIが確認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69748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2697480"/>
            <a:ext cx="73152" cy="100584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6207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aud が自分向け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410712"/>
            <a:ext cx="4800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→ 次に権限を確認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977639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3977639"/>
            <a:ext cx="73152" cy="1005840"/>
          </a:xfrm>
          <a:prstGeom prst="roundRect">
            <a:avLst>
              <a:gd name="adj" fmla="val 1000"/>
            </a:avLst>
          </a:prstGeom>
          <a:solidFill>
            <a:srgbClr val="F06060"/>
          </a:solidFill>
          <a:ln w="12700">
            <a:solidFill>
              <a:srgbClr val="F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1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6060"/>
                </a:solidFill>
                <a:latin typeface="Meiryo"/>
              </a:rPr>
              <a:t>aud が別API向け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690872"/>
            <a:ext cx="4800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→ この入口で拒否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99AAA"/>
                </a:solidFill>
                <a:latin typeface="Meiryo"/>
              </a:rPr>
              <a:t>audの形式はトークン版やAPIで異なる。大切なのは『受信者』という役割。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THE LEARN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なぜ management.core.windows.net なのか？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0F0F5"/>
                </a:solidFill>
                <a:latin typeface="Meiryo"/>
              </a:rPr>
              <a:t>あのLearnは Azure Resource Manager API のチュートリアル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5029200" cy="2240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73152" cy="22402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サンプルが呼ぶAPI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Azure Resource Manager
List all subscriptions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743200"/>
            <a:ext cx="5029200" cy="2240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743200"/>
            <a:ext cx="73152" cy="22402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90779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Learn指定のリソースURL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https://management
.core.windows.net/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E88D40"/>
                </a:solidFill>
                <a:latin typeface="Meiryo"/>
              </a:rPr>
              <a:t>整理：この値は『Azure全般』ではなく、サンプルが対象にしたARM向け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D8C0"/>
                </a:solidFill>
                <a:latin typeface="Meiry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ENDPOINT ≠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999AAA"/>
                </a:solidFill>
                <a:latin typeface="Meiryo"/>
              </a:rPr>
              <a:t>通信先とトークンの宛先は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4ED8C0"/>
                </a:solidFill>
                <a:latin typeface="Meiryo"/>
              </a:rPr>
              <a:t>違っていていい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役割が違う。HTTPリクエストの通信先とは限らない。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ARM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ARMでは2つのURLが並ぶ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現在のARM REST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315468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https://management
.azure.com/
HTTPリクエストの通信先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8D40"/>
                </a:solidFill>
                <a:latin typeface="Meiryo"/>
              </a:rPr>
              <a:t>このLearnのOAuth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42032"/>
            <a:ext cx="315468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https://management
.core.windows.net/
トークン要求で指定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56616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D8C0"/>
                </a:solidFill>
                <a:latin typeface="Meiryo"/>
              </a:rPr>
              <a:t>現在のMI ARM例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42032"/>
            <a:ext cx="315468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resource=
https://management
.azure.com/
別フローでは別表記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138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999AAA"/>
                </a:solidFill>
                <a:latin typeface="Meiryo"/>
              </a:rPr>
              <a:t>補足：core.windows.net は classic管理APIでは実通信先にも使われた。推測で置換しない。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AZURE AI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検索するなら audience は Search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73152" cy="34290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39111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接続先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310896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https://myservice
.search.windows.net
サービスごとに固有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73152" cy="34290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39111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8D40"/>
                </a:solidFill>
                <a:latin typeface="Meiryo"/>
              </a:rPr>
              <a:t>resource /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87752"/>
            <a:ext cx="310896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https://search.azure.com
Search API全体を表す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73152" cy="34290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39111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D8C0"/>
                </a:solidFill>
                <a:latin typeface="Meiryo"/>
              </a:rPr>
              <a:t>v2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87752"/>
            <a:ext cx="310896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https://search.azure.com/
.default
CLI・MSAL等の要求形式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8756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0F5"/>
                </a:solidFill>
                <a:latin typeface="Meiryo"/>
              </a:rPr>
              <a:t>3つは同じ文字列にするものではない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TWO PLANES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『何をするか』で対象APIが変わる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074920" cy="3520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73152" cy="352044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Management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466344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Searchサービスを作る・設定する
呼ぶAPI：Azure Resource Manager
トークン：ARM向け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74920" cy="3520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73152" cy="352044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9339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Data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42032"/>
            <a:ext cx="466344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インデックス内の文書を検索する
呼ぶAPI：Azure AI Search
トークン：Search向け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96712"/>
            <a:ext cx="10744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8D40"/>
                </a:solidFill>
                <a:latin typeface="Meiryo"/>
              </a:rPr>
              <a:t>同じAzure AI Searchでも、操作の入口が違えばリソースURLも違う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RESOURCE OR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resource と scope は『要求時』の書式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B0F0"/>
                </a:solidFill>
                <a:latin typeface="Meiryo"/>
              </a:rPr>
              <a:t>Entra v1系（ADAL）：resource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resource / リソースURL
対象APIの識別子を指定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Searchの識別子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42032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https://search.azure.com
末尾記号は入力欄の
公式例に正確に合わせる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52044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933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ED8C0"/>
                </a:solidFill>
                <a:latin typeface="Meiryo"/>
              </a:rPr>
              <a:t>Entra v2系（MSAL）：scope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42032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scope=
https://search.azure.com/
.default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0F0F5"/>
                </a:solidFill>
                <a:latin typeface="Meiryo"/>
              </a:rPr>
              <a:t>resource / scope は要求側。aud は発行後の受信者。完全な同義語ではない。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DO NOT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3つの『リソース』を分離する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27080" cy="9875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2240280" cy="438912"/>
          </a:xfrm>
          <a:prstGeom prst="roundRect">
            <a:avLst>
              <a:gd name="adj" fmla="val 25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11A"/>
                </a:solidFill>
                <a:latin typeface="Meiryo"/>
              </a:rP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84248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0F0F5"/>
                </a:solidFill>
                <a:latin typeface="Meiryo"/>
              </a:rPr>
              <a:t>通信先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947672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BB0F0"/>
                </a:solidFill>
                <a:latin typeface="Meiryo"/>
              </a:rPr>
              <a:t>https://myservice.search.windows.net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36391"/>
            <a:ext cx="10927080" cy="9875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410711"/>
            <a:ext cx="2240280" cy="438912"/>
          </a:xfrm>
          <a:prstGeom prst="roundRect">
            <a:avLst>
              <a:gd name="adj" fmla="val 25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1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11A"/>
                </a:solidFill>
                <a:latin typeface="Meiryo"/>
              </a:rPr>
              <a:t>audience / resource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337559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0F0F5"/>
                </a:solidFill>
                <a:latin typeface="Meiryo"/>
              </a:rPr>
              <a:t>トークンの宛先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300983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8D40"/>
                </a:solidFill>
                <a:latin typeface="Meiryo"/>
              </a:rPr>
              <a:t>https://search.azure.com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9704"/>
            <a:ext cx="10927080" cy="9875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764024"/>
            <a:ext cx="2240280" cy="438912"/>
          </a:xfrm>
          <a:prstGeom prst="roundRect">
            <a:avLst>
              <a:gd name="adj" fmla="val 25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64024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11A"/>
                </a:solidFill>
                <a:latin typeface="Meiryo"/>
              </a:rPr>
              <a:t>Azure resource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690872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0F0F5"/>
                </a:solidFill>
                <a:latin typeface="Meiryo"/>
              </a:rPr>
              <a:t>RBACを付ける対象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654296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BB86FC"/>
                </a:solidFill>
                <a:latin typeface="Meiryo"/>
              </a:rPr>
              <a:t>/subscriptions/.../providers/Microsoft.Search/...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27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999AAA"/>
                </a:solidFill>
                <a:latin typeface="Meiryo"/>
              </a:rPr>
              <a:t>URLっぽいかどうかではなく、どの欄・どの処理で使う値かを見る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HOW TO FIND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正しい値は『対象操作』から探す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5BB0F0"/>
                </a:solidFill>
                <a:latin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163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何をする？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AAA"/>
                </a:solidFill>
                <a:latin typeface="Meiryo"/>
              </a:rPr>
              <a:t>作成・設定 / 検索・データ操作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57400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BB86FC"/>
                </a:solidFill>
                <a:latin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163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どのAPI？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611880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AAA"/>
                </a:solidFill>
                <a:latin typeface="Meiryo"/>
              </a:rPr>
              <a:t>ARM / Search / Storage…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57400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E88D40"/>
                </a:solidFill>
                <a:latin typeface="Meiry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163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トークン要求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80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AAA"/>
                </a:solidFill>
                <a:latin typeface="Meiryo"/>
              </a:rPr>
              <a:t>resource / scope の公式値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74519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057400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4EC960"/>
                </a:solidFill>
                <a:latin typeface="Meiry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163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文字列をそのまま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611880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AAA"/>
                </a:solidFill>
                <a:latin typeface="Meiryo"/>
              </a:rPr>
              <a:t>末尾 / と .default まで一致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88D40"/>
                </a:solidFill>
                <a:latin typeface="Meiryo"/>
              </a:rPr>
              <a:t>RBACの範囲は別物 → Azure resource ID。トークン要求と混ぜない。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TROUBLESHOOT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失敗した場所で切り分ける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400 / 401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310896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resource / audienceを
公式値と正確に照合
末尾スラッシュも確認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403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42032"/>
            <a:ext cx="310896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必要なRBACロールを確認
割り当て反映は
最大10分かかる場合あり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F06060"/>
          </a:solidFill>
          <a:ln w="12700">
            <a:solidFill>
              <a:srgbClr val="F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6060"/>
                </a:solidFill>
                <a:latin typeface="Meiryo"/>
              </a:rPr>
              <a:t>番号だけで断定しない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310896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レスポンス本文を見る
サービス固有の
診断手順も確認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99AAA"/>
                </a:solidFill>
                <a:latin typeface="Meiryo"/>
              </a:rPr>
              <a:t>エラー番号だけで断定せず、レスポンス本文とサービス固有の診断も見る。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MINIMUM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Azure AI Searchならこうつながる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27080" cy="1234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778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ED8C0"/>
                </a:solidFill>
                <a:latin typeface="Meiryo"/>
              </a:rPr>
              <a:t>az account get-access-token --scope https://search.azure.com/.default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063240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999AAA"/>
                </a:solidFill>
                <a:latin typeface="Meiryo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1092708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778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13632"/>
            <a:ext cx="10378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GET https://myservice.search.windows.net/indexes('myindex')/docs?...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F0F0F5"/>
                </a:solidFill>
                <a:latin typeface="Meiryo"/>
              </a:rPr>
              <a:t>Authorization: Bearer &lt;取得したアクセストークン&gt;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87568"/>
            <a:ext cx="10835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E88D40"/>
                </a:solidFill>
                <a:latin typeface="Meiryo"/>
              </a:rPr>
              <a:t>scope と endpoint が違う文字列でも、それが正しい組み合わせ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999AAA"/>
                </a:solidFill>
                <a:latin typeface="Meiryo"/>
              </a:rPr>
              <a:t>迷ったら問うのは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E88D40"/>
                </a:solidFill>
                <a:latin typeface="Meiryo"/>
              </a:rPr>
              <a:t>誰向けの通行証？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リソースURLは推測しない。対象APIの公式値をそのまま使う。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OFFICIAL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今回の正本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カスタムコネクタのLearn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508760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learn.microsoft.com/connectors/custom-connectors/azure-active-directory-authentication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39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アクセストークンのaud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148839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learn.microsoft.com/entra/identity-platform/access-tokens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Access token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88920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learn.microsoft.com/entra/identity-platform/access-token-claims-reference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8999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Azure REST APIの基礎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428999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learn.microsoft.com/rest/api/gettingstarted/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79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Searchキーレス接続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069079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learn.microsoft.com/azure/search/search-get-started-rbac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Search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709160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learn.microsoft.com/rest/api/searchservice/documents/search-get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Search audience定数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349240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github.com/Azure/azure-sdk-for-net/.../SearchAudience.cs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44768"/>
            <a:ext cx="10835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99AAA"/>
                </a:solidFill>
                <a:latin typeface="Meiryo"/>
              </a:rPr>
              <a:t>値や画面は更新されるため、実装時は最新の公式ページを再確認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OFFICIAL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補助ソース：値の正確性と切り分け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Meiryo"/>
              </a:rPr>
              <a:t>Managed Identityトークン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645920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ED8C0"/>
                </a:solidFill>
                <a:latin typeface="Meiryo"/>
              </a:rPr>
              <a:t>learn.microsoft.com/entra/identity/managed-identities-azure-resources/how-to-use-vm-token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Meiryo"/>
              </a:rPr>
              <a:t>ADALとMSALの違い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487168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ED8C0"/>
                </a:solidFill>
                <a:latin typeface="Meiryo"/>
              </a:rPr>
              <a:t>learn.microsoft.com/entra/msal/dotnet/how-to/differences-adal-msal-net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28416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Meiryo"/>
              </a:rPr>
              <a:t>Audienceの正確一致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328416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ED8C0"/>
                </a:solidFill>
                <a:latin typeface="Meiryo"/>
              </a:rPr>
              <a:t>learn.microsoft.com/azure/logic-apps/authenticate-with-managed-identity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Meiryo"/>
              </a:rPr>
              <a:t>SearchのManaged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169664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ED8C0"/>
                </a:solidFill>
                <a:latin typeface="Meiryo"/>
              </a:rPr>
              <a:t>learn.microsoft.com/azure/search/search-how-to-managed-identities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1091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Meiryo"/>
              </a:rPr>
              <a:t>SearchのRBAC診断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010912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ED8C0"/>
                </a:solidFill>
                <a:latin typeface="Meiryo"/>
              </a:rPr>
              <a:t>learn.microsoft.com/azure/search/keyless-connections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835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99AAA"/>
                </a:solidFill>
                <a:latin typeface="Meiryo"/>
              </a:rPr>
              <a:t>ARMとSearchでは、操作・認証フロー・クラウドに合う値を選ぶ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