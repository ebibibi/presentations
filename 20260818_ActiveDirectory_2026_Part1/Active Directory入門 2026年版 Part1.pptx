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i-icon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1148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0F0F5"/>
                </a:solidFill>
                <a:latin typeface="Meiryo"/>
              </a:rPr>
              <a:t>Active Directory 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999AAA"/>
                </a:solidFill>
                <a:latin typeface="Meiryo"/>
              </a:rPr>
              <a:t>2026年版 Part 1｜まず把握すべき概念と用語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931920"/>
            <a:ext cx="5422392" cy="7772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31920"/>
            <a:ext cx="542239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用語を、地図に置く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99AAA"/>
                </a:solidFill>
                <a:latin typeface="Meiryo"/>
              </a:rPr>
              <a:t>Source: https://www.youtube.com/watch?v=lZ8Ps6U_kvY</a:t>
            </a:r>
          </a:p>
          <a:p>
            <a:pPr algn="ctr"/>
            <a:r>
              <a:rPr sz="1300" b="0">
                <a:solidFill>
                  <a:srgbClr val="5A5C70"/>
                </a:solidFill>
                <a:latin typeface="Meiryo"/>
              </a:rPr>
              <a:t>2026年8月18日 ｜ 胡田昌彦 ｜ ebisuda.net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REMAKE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内容の強みは残す。見づらさは残さない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BGMなし
声と説明に集中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文字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32888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大きく、短く
1枚1メッセージ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純黒×赤文字を避ける
色だけで区別しない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0F0F5"/>
                </a:solidFill>
                <a:latin typeface="Meiryo"/>
              </a:rPr>
              <a:t>濃紺の背景＋白文字＋明るい補助色で統一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D8C0"/>
                </a:solidFill>
                <a:latin typeface="Meiry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TODAY'S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丸暗記ではなく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4ED8C0"/>
                </a:solidFill>
                <a:latin typeface="Meiryo"/>
              </a:rPr>
              <a:t>用語を、地図に置く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0F0F5"/>
                </a:solidFill>
                <a:latin typeface="Meiryo"/>
              </a:rPr>
              <a:t>初めて聞く言葉も『論理・物理・機能』の視点で眺めれば迷いにくい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FIRST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Active Directory と Microsoft Entra ID は別物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3611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3152" cy="36118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9384"/>
            <a:ext cx="4754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Active Directory Domain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475488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Windows Serverで運用
ドメイン参加／GPO
Kerberos・NTLM／LDAP
社内サーバー・PC管理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783080"/>
            <a:ext cx="5166360" cy="3611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783080"/>
            <a:ext cx="73152" cy="361188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929384"/>
            <a:ext cx="4754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Microsoft 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487168"/>
            <a:ext cx="475488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クラウドのIDサービス
SaaS／条件付きアクセス
MFA・パスワードレス
Microsoft Entra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907792"/>
            <a:ext cx="1298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8D40"/>
                </a:solidFill>
                <a:latin typeface="Meiryo"/>
              </a:rPr>
              <a:t>併用
できる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E88D40"/>
                </a:solidFill>
                <a:latin typeface="Meiryo"/>
              </a:rPr>
              <a:t>この動画の『AD』は Active Directory Domain Services（AD DS）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LEARNING METAPHOR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AD DSを3つの役割で覚える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共有名簿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誰がいる？
どのPC？
どのグループ？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本人確認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誰として
サインインした？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ルール配布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どの設定を
誰のPCへ？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0F5"/>
                </a:solidFill>
                <a:latin typeface="Meiryo"/>
              </a:rPr>
              <a:t>学習用の比喩：保存・認証・アクセス制御・ポリシー管理を3役に整理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THREE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用語を3つの視点で見る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① 論理構造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フォレスト
ドメイン
OU／コンテナ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② 物理構造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3288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DC
サイト／サブネット
サイトリンク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③ 提供機能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DNS／LDAP／認証
GPO／複製
信頼／復旧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88D40"/>
                </a:solidFill>
                <a:latin typeface="Meiryo"/>
              </a:rPr>
              <a:t>重なり例｜DC＝AD DSを動かすサーバー＋認証応答　複製＝DC間構成＋同期機能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DIRECTORY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管理対象を『オブジェクト』として保存する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560320" cy="30632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73152" cy="306324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ユーザー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21488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名前／所属／
認証に必要な情報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874519"/>
            <a:ext cx="2560320" cy="30632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2424" y="1874519"/>
            <a:ext cx="73152" cy="306324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コンピューター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578608"/>
            <a:ext cx="21488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端末名／OS／所属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874519"/>
            <a:ext cx="2560320" cy="30632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1874519"/>
            <a:ext cx="73152" cy="306324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グループ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78608"/>
            <a:ext cx="21488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メンバー／権限付与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874519"/>
            <a:ext cx="2560320" cy="30632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71432" y="1874519"/>
            <a:ext cx="73152" cy="30632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サービスアカウント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578608"/>
            <a:ext cx="21488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サービス用ID／
サービス名の登録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0F0F5"/>
                </a:solidFill>
                <a:latin typeface="Meiryo"/>
              </a:rPr>
              <a:t>オブジェクト = 管理対象 ／ 属性 = その対象が持つ情報項目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DISTINGUISHED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ディレクトリ内の住所は DN で表す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ED8C0"/>
                </a:solidFill>
                <a:latin typeface="Meiryo"/>
              </a:rPr>
              <a:t>CN=佐藤, OU=営業部, DC=corp, DC=example, DC=com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4290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75304"/>
            <a:ext cx="2057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3308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オブジェクト名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342900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34290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575304"/>
            <a:ext cx="2057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13308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組織単位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42900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34290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575304"/>
            <a:ext cx="2057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3308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DNS名の各要素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999AAA"/>
                </a:solidFill>
                <a:latin typeface="Meiryo"/>
              </a:rPr>
              <a:t>画面のフォルダー表示ではなく、階層を持つディレクトリデータ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LOGICAL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フォレストが最上位、ドメインがデータ区画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384048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11A"/>
                </a:solidFill>
                <a:latin typeface="Meiryo"/>
              </a:rPr>
              <a:t>FOREST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70916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89504"/>
            <a:ext cx="4297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corp.example.com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47288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フォレストルートドメイン
自分のディレクトリ区画を持つ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43200"/>
            <a:ext cx="406908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74320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889504"/>
            <a:ext cx="36576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child.corp.example.com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447288"/>
            <a:ext cx="3657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必要なら子ドメインを追加
同じフォレストの一員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E88D40"/>
                </a:solidFill>
                <a:latin typeface="Meiryo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0F0F5"/>
                </a:solidFill>
                <a:latin typeface="Meiryo"/>
              </a:rPr>
              <a:t>同じフォレストはスキーマ・構成・グローバルカタログを共有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フォレストやドメインは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E88D40"/>
                </a:solidFill>
                <a:latin typeface="Meiryo"/>
              </a:rPr>
              <a:t>要件が先、構造は後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0F0F5"/>
                </a:solidFill>
                <a:latin typeface="Meiryo"/>
              </a:rPr>
              <a:t>設計の目安｜『分けられる』と『分けるべき』は別。まず単純な構成から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DOMAIN ≠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ADドメインはDNS名を使う。でもDNSそのものではない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07492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0823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AD DSのドメイン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46634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ユーザーやPCを持つ
ディレクトリのデータ区画
例：corp.example.com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507492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20823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DNSのドメイン／ゾーン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78608"/>
            <a:ext cx="46634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名前からIPやサービスを探す
名前解決の範囲
例：corp.example.com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880360"/>
            <a:ext cx="1463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8D40"/>
                </a:solidFill>
                <a:latin typeface="Meiryo"/>
              </a:rPr>
              <a:t>同じ名前
別の役割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AD DSはDNSを使ってドメインコントローラーとサービスを見つける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DNS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DNSが壊れると、ADは『場所が分からない』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834640" cy="2286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3152" cy="2286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2423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クライアント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2423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corpのDCは
どこ？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01168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011680"/>
            <a:ext cx="73152" cy="228600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57984"/>
            <a:ext cx="33832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DC Locator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15768"/>
            <a:ext cx="3383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DNSでSRVレコードを検索
サイト等の条件でDCを選択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880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11680"/>
            <a:ext cx="2880360" cy="2286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2011680"/>
            <a:ext cx="73152" cy="22860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157984"/>
            <a:ext cx="2468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715768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LDAP／Kerberosへ
接続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E88D40"/>
                </a:solidFill>
                <a:latin typeface="Meiryo"/>
              </a:rPr>
              <a:t>切り分けの目安｜DNS参照先でADドメインのSRVレコードを解決できるか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SRV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SRVレコード = サービスの場所を知らせるDNSレコード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61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ED8C0"/>
                </a:solidFill>
                <a:latin typeface="Meiryo"/>
              </a:rPr>
              <a:t>_ldap._tcp.dc._msdcs.corp.example.com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315468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83864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_ldap._tcp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41648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LDAPをTCPで提供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337560"/>
            <a:ext cx="315468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33375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483864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dc._msdcs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41648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対象ドメインのDCを検索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37560"/>
            <a:ext cx="315468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33375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483864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041648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ホスト・ポート
優先度・重み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8D40"/>
                </a:solidFill>
                <a:latin typeface="Meiryo"/>
              </a:rPr>
              <a:t>Aレコードだけ見て『DNSは正常』と判断しない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DOMAIN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DC = AD DSを提供するサーバー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保持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自ドメインの
ディレクトリ情報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認証／LDAP
時刻同期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同期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他のDCと
変更を複製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DNS Server役割はDCへの併設が多いが必須ではない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PHYSICAL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サイト = ネットワークの『近さ』を表す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東京サイト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10.10.0.0/16
DC-TYO-01／02
高速・安定したLAN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大阪サイト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10.20.0.0/16
DC-OSA-01
別拠点のLAN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3566160"/>
            <a:ext cx="1645920" cy="0"/>
          </a:xfrm>
          <a:prstGeom prst="line">
            <a:avLst/>
          </a:prstGeom>
          <a:ln w="38100">
            <a:solidFill>
              <a:srgbClr val="E88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83480" y="3749039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8D40"/>
                </a:solidFill>
                <a:latin typeface="Meiryo"/>
              </a:rPr>
              <a:t>WAN／VPN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0F0F5"/>
                </a:solidFill>
                <a:latin typeface="Meiryo"/>
              </a:rPr>
              <a:t>サイトは組織図ではない。IPサブネットをサイトへ対応付ける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SITE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サイトリンク = サイト間の接続条件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0823"/>
            <a:ext cx="2788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経路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2788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どのサイト同士を
接続するか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20823"/>
            <a:ext cx="2788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コスト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78608"/>
            <a:ext cx="2788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複製経路の選択に
影響する値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74519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1874519"/>
            <a:ext cx="73152" cy="329184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20823"/>
            <a:ext cx="2788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スケジュール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78608"/>
            <a:ext cx="2788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いつ複製を
許可するか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0F0F5"/>
                </a:solidFill>
                <a:latin typeface="Meiryo"/>
              </a:rPr>
              <a:t>近いDCの選択と、遠隔地への複製制御を物理構造で設計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OU OR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OUは『管理するため』の入れ物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Organizational Unit（OU）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オブジェクトを整理
管理権限を委任
GPOをリンクできる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Users／Computersなど
汎用的な入れ物
GPOのリンク先ではない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8D40"/>
                </a:solidFill>
                <a:latin typeface="Meiryo"/>
              </a:rPr>
              <a:t>OU設計は会社の部署図コピーではなく『委任と設定』から決める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OU ≠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OUは管理場所、グループは権限のまとまり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原則として1オブジェクトは
同時に1つのOU階層へ所属
GPO／委任の対象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0749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セキュリティグループ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32888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複数グループへ所属できる
共有フォルダー等の
アクセス権を付与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0F5"/>
                </a:solidFill>
                <a:latin typeface="Meiryo"/>
              </a:rPr>
              <a:t>『営業部OUだから営業フォルダーへ入れる』ではなく、権限はグループで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GROUP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Group Policy Object（GPO）= 設定を一括配布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73152" cy="2926080"/>
          </a:xfrm>
          <a:prstGeom prst="roundRect">
            <a:avLst>
              <a:gd name="adj" fmla="val 1000"/>
            </a:avLst>
          </a:prstGeom>
          <a:solidFill>
            <a:srgbClr val="5A5C70"/>
          </a:solidFill>
          <a:ln w="12700">
            <a:solidFill>
              <a:srgbClr val="5A5C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A5C70"/>
                </a:solidFill>
                <a:latin typeface="Meiryo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2148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端末ローカル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3017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874519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2424" y="1874519"/>
            <a:ext cx="73152" cy="29260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578608"/>
            <a:ext cx="2148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ネットワーク上のサイト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3017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874519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928" y="1874519"/>
            <a:ext cx="73152" cy="292608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78608"/>
            <a:ext cx="2148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ドメイン全体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017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1874519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71432" y="1874519"/>
            <a:ext cx="73152" cy="292608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020823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578608"/>
            <a:ext cx="2148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対象OU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88D40"/>
                </a:solidFill>
                <a:latin typeface="Meiryo"/>
              </a:rPr>
              <a:t>後で処理するGPOが原則優先。強制／継承ブロック／セキュリティフィルターで変わる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DOMAIN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ドメイン参加 = PCにもアカウントを持たせる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83464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2423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24231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ドメインへ
参加する端末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01168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57984"/>
            <a:ext cx="3246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ドメイン参加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15768"/>
            <a:ext cx="32461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必要な権限で
PCアカウントを作成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320040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57984"/>
            <a:ext cx="2788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安全な関係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15768"/>
            <a:ext cx="27889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端末とドメインを
結び付ける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0F0F5"/>
                </a:solidFill>
                <a:latin typeface="Meiryo"/>
              </a:rPr>
              <a:t>前提：DNS・ネットワーク到達性・権限・時刻同期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AUTHENTICATION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Kerberos／NTLM 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E88D40"/>
                </a:solidFill>
                <a:latin typeface="Meiryo"/>
              </a:rPr>
              <a:t>CredSSPは同じ列ではない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0F0F5"/>
                </a:solidFill>
                <a:latin typeface="Meiryo"/>
              </a:rPr>
              <a:t>Kerberos・NTLMは認証方式。CredSSPは資格情報をリモート先へ委任する仕組み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KERBEROS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Kerberos = パスワードを毎回渡さず、チケットで進む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331720" cy="2331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73152" cy="23317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920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① サインイン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15768"/>
            <a:ext cx="1920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ユーザーが
本人確認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9077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331720" cy="2331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73152" cy="23317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57984"/>
            <a:ext cx="1920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B86FC"/>
                </a:solidFill>
                <a:latin typeface="Meiryo"/>
              </a:rPr>
              <a:t>② KDC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15768"/>
            <a:ext cx="1920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TGTを発行
＝次の券をもらう券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077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2331720" cy="2331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2011680"/>
            <a:ext cx="73152" cy="23317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57984"/>
            <a:ext cx="1920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③ サービス券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15768"/>
            <a:ext cx="1920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TGTを提示し
対象用の券を取得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077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11680"/>
            <a:ext cx="2423160" cy="2331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2011680"/>
            <a:ext cx="73152" cy="23317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57984"/>
            <a:ext cx="20116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④ 利用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15768"/>
            <a:ext cx="2011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ファイル等へ
アクセス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0F0F5"/>
                </a:solidFill>
                <a:latin typeface="Meiryo"/>
              </a:rPr>
              <a:t>時刻同期が重要。Kerberosを利用できない条件ではNTLMが残る場合がある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LDAP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LDAP = ディレクトリへアクセスするプロトコル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28803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ユーザーは？
グループ所属は？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3984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975104"/>
            <a:ext cx="28803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532888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属性の追加・変更
権限の範囲内で実行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28800"/>
            <a:ext cx="3291840" cy="3383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828800"/>
            <a:ext cx="73152" cy="33832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975104"/>
            <a:ext cx="28803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保護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532888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署名／TLS／
Channel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F0F5"/>
                </a:solidFill>
                <a:latin typeface="Meiryo"/>
              </a:rPr>
              <a:t>互換性を監査し、署名・Channel Binding・TLS利用を段階的に強化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DIRECTORY +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AD DSで複製する主要データは2系統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52044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NTDS.dit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46634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ユーザー／PC／グループ
などのオブジェクトと属性
AD DSの複製で同期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73152" cy="352044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751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SYSVOL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32888"/>
            <a:ext cx="46634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GPOテンプレート
サインインスクリプト
DFS Replication（DFSR）で同期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E88D40"/>
                </a:solidFill>
                <a:latin typeface="Meiryo"/>
              </a:rPr>
              <a:t>ディレクトリデータとSYSVOLは、別の複製系統として確認する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多くの変更は、どの書き込み可能DCでも受け付ける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97180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2560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DC-A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5603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ユーザー属性を
変更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4ED8C0"/>
                </a:solidFill>
                <a:latin typeface="Meiryo"/>
              </a:rPr>
              <a:t>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297180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57984"/>
            <a:ext cx="2560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DC-B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15768"/>
            <a:ext cx="25603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グループを
変更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4ED8C0"/>
                </a:solidFill>
                <a:latin typeface="Meiryo"/>
              </a:rPr>
              <a:t>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01168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01168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157984"/>
            <a:ext cx="3200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DC-C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715768"/>
            <a:ext cx="32004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変更を受け取り
複製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8D40"/>
                </a:solidFill>
                <a:latin typeface="Meiryo"/>
              </a:rPr>
              <a:t>マルチマスターが基本。ただし全処理が完全に対等ではない → FSMOへ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DELETION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削除状態も、保持するDC間で複製する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F06060"/>
          </a:solidFill>
          <a:ln w="12700">
            <a:solidFill>
              <a:srgbClr val="F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1226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06060"/>
                </a:solidFill>
                <a:latin typeface="Meiryo"/>
              </a:rPr>
              <a:t>① 削除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オブジェクトを
削除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6596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96596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11226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② 削除状態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70048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保持するDC間で
複製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96596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196596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11226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960"/>
                </a:solidFill>
                <a:latin typeface="Meiryo"/>
              </a:rPr>
              <a:t>③ 復元可能期間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Recycle Bin有効時
多くの属性を保って復元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96596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96596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12264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④ 消去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670048"/>
            <a:ext cx="1325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保持後に
最終消去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0F0F5"/>
                </a:solidFill>
                <a:latin typeface="Meiryo"/>
              </a:rPr>
              <a:t>Tombstoneは削除の複製・消去に関係。Recycle Binは復元機能で、バックアップではない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スキーマ = ディレクトリの『型定義』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461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4"/>
            <a:ext cx="28346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28346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User
Computer
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28800"/>
            <a:ext cx="32461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75104"/>
            <a:ext cx="28346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32888"/>
            <a:ext cx="28346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displayName
mail
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2461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75104"/>
            <a:ext cx="28346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Forest-wide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32888"/>
            <a:ext cx="28346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フォレスト全体で
1つを共有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F0F5"/>
                </a:solidFill>
                <a:latin typeface="Meiryo"/>
              </a:rPr>
              <a:t>クラスと属性の定義を、フォレスト内のドメインで共有する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FSMO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5つの操作役割は『担当DCを一つ』に決める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73152" cy="384048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4892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B86FC"/>
                </a:solidFill>
                <a:latin typeface="Meiryo"/>
              </a:rPr>
              <a:t>フォレストに各1つ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4892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Schema Master
スキーマ変更を1台で受け付ける
Domain Naming Master
ドメイン追加・削除を調整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73152" cy="38404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83664"/>
            <a:ext cx="4892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各ドメインに各1つ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41448"/>
            <a:ext cx="4892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RID Master｜重複しないID部品をDCへ配る
PDC Emulator｜パスワード変更を優先
Infrastructure Master｜他ドメイン参照を更新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8D40"/>
                </a:solidFill>
                <a:latin typeface="Meiryo"/>
              </a:rPr>
              <a:t>FSMO = Flexible Single Master Operations。『すべてを処理する主DC』ではない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信頼関係 = 別ドメインの認証結果を受け入れる経路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429768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73152" cy="32004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3"/>
            <a:ext cx="3886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Domain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886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ユーザーを認証
『この人です』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E88D40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874519"/>
            <a:ext cx="429768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1874519"/>
            <a:ext cx="73152" cy="32004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20823"/>
            <a:ext cx="3886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Domain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578608"/>
            <a:ext cx="3886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0F5"/>
                </a:solidFill>
                <a:latin typeface="Meiryo"/>
              </a:rPr>
              <a:t>認証結果を信頼
権限を別途確認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0F0F5"/>
                </a:solidFill>
                <a:latin typeface="Meiryo"/>
              </a:rPr>
              <a:t>信頼があってもアクセス権が自動で付くわけではない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GLOBAL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Global Catalog（GC）= フォレスト横断の索引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83464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2423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Domain A の情報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オブジェクトと
属性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83464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157984"/>
            <a:ext cx="2423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Meiryo"/>
              </a:rPr>
              <a:t>GC機能を持つDC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157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自ドメイン：全属性
他ドメイン：検索用属性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011680"/>
            <a:ext cx="2834640" cy="2560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2011680"/>
            <a:ext cx="73152" cy="256032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157984"/>
            <a:ext cx="24231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Domain B の情報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157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オブジェクトと
属性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99AAA"/>
                </a:solidFill>
                <a:latin typeface="Meiryo"/>
              </a:rP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F0F5"/>
                </a:solidFill>
                <a:latin typeface="Meiryo"/>
              </a:rPr>
              <a:t>GCは独立サーバーではなくDCへ追加する役割。フォレスト横断検索を助ける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DCを増やしても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E88D40"/>
                </a:solidFill>
                <a:latin typeface="Meiryo"/>
              </a:rPr>
              <a:t>複製はバックアップではない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0F0F5"/>
                </a:solidFill>
                <a:latin typeface="Meiryo"/>
              </a:rPr>
              <a:t>誤削除・侵害・論理破損も複製される。可用性と復旧は別に設計する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ADの健全性を確認する代表的な5観点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ED8C0"/>
                </a:solidFill>
                <a:latin typeface="Meiryo"/>
              </a:rPr>
              <a:t>DNS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dcdiag /test:dns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8366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B0F0"/>
                </a:solidFill>
                <a:latin typeface="Meiryo"/>
              </a:rPr>
              <a:t>複製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repadmin /replsummary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8366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B86FC"/>
                </a:solidFill>
                <a:latin typeface="Meiryo"/>
              </a:rPr>
              <a:t>DC探索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4144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nltest /dsgetdc:&lt;domain&gt;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88620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23160" y="388620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0325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8D40"/>
                </a:solidFill>
                <a:latin typeface="Meiryo"/>
              </a:rPr>
              <a:t>時刻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9028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w32tm /monitor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88620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6600" y="3886200"/>
            <a:ext cx="73152" cy="16002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0325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EC960"/>
                </a:solidFill>
                <a:latin typeface="Meiryo"/>
              </a:rPr>
              <a:t>復旧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90288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System Stateを含む
AD対応バックアップ
＋復元テスト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0F0F5"/>
                </a:solidFill>
                <a:latin typeface="Meiryo"/>
              </a:rPr>
              <a:t>運用の目安｜成功表示だけでなく『期待するDC・経路・時刻・復旧性か』を見る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WHAT CHANGED BY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2026年版で追加して覚える4点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BB0F0"/>
                </a:solidFill>
                <a:latin typeface="Meiryo"/>
              </a:rPr>
              <a:t>Server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32888"/>
            <a:ext cx="2148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機能レベルを追加
その段階のDCは
Server 2025のみ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2424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97510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EC960"/>
                </a:solidFill>
                <a:latin typeface="Meiryo"/>
              </a:rPr>
              <a:t>SYSVOL複製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532888"/>
            <a:ext cx="2148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FRS（旧方式）
→ DFS Replication
（DFSR）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7510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8D40"/>
                </a:solidFill>
                <a:latin typeface="Meiryo"/>
              </a:rPr>
              <a:t>Kerberos暗号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32888"/>
            <a:ext cx="2148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旧式RC4の利用元を監査
AES対応へ移行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71432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975104"/>
            <a:ext cx="21488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B86FC"/>
                </a:solidFill>
                <a:latin typeface="Meiryo"/>
              </a:rPr>
              <a:t>LDAP保護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532888"/>
            <a:ext cx="2148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署名／TLS／
Channel Binding
＝TLS接続との結び付け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F0F5"/>
                </a:solidFill>
                <a:latin typeface="Meiryo"/>
              </a:rPr>
              <a:t>機能レベルはクライアントOSではなく、DCのOSとAD DS機能を規定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SECURITY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監査と互換性確認から、段階的に強化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0823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① 監査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古い暗号RC4の利用元
保護の弱いLDAP接続元
ログで発見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74519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73152" cy="33375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020823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8D40"/>
                </a:solidFill>
                <a:latin typeface="Meiryo"/>
              </a:rPr>
              <a:t>② 互換性を解消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7860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端末・サービスを更新
KerberosはAES対応
LDAPは署名・TLS対応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74519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74519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20823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③ 段階的な強化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7860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更新・設定の
適用状態を確認
保護を段階的に強化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F0F5"/>
                </a:solidFill>
                <a:latin typeface="Meiryo"/>
              </a:rPr>
              <a:t>順番：ログで利用元を特定 → 対応 → 強化。既定値だけに頼らず確認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CONCEPT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全体はこの線でつながる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96596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37944"/>
            <a:ext cx="1554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Meiryo"/>
              </a:rPr>
              <a:t>ドメイン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論理データ区画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212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691640"/>
            <a:ext cx="22402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69164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837944"/>
            <a:ext cx="1828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ED8C0"/>
                </a:solidFill>
                <a:latin typeface="Meiryo"/>
              </a:rPr>
              <a:t>DNS＋DC Locator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95728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SRVでDCを発見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212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691640"/>
            <a:ext cx="182880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169164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37944"/>
            <a:ext cx="1417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95728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AD DSを提供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2212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9164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837944"/>
            <a:ext cx="31089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960"/>
                </a:solidFill>
                <a:latin typeface="Meiryo"/>
              </a:rPr>
              <a:t>認証／LDAP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395728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本人確認・検索・更新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57600"/>
            <a:ext cx="196596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36576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03904"/>
            <a:ext cx="1554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Meiryo"/>
              </a:rPr>
              <a:t>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61688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管理と設定の単位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1788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3657600"/>
            <a:ext cx="22402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71800" y="36576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3803904"/>
            <a:ext cx="1828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GPO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61688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設定をリンク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41788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3657600"/>
            <a:ext cx="182880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06440" y="36576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803904"/>
            <a:ext cx="1417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EC960"/>
                </a:solidFill>
                <a:latin typeface="Meiryo"/>
              </a:rPr>
              <a:t>ユーザー／PC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361688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設定を受け取る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657600"/>
            <a:ext cx="1325880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36576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803904"/>
            <a:ext cx="914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Site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361688"/>
            <a:ext cx="91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近さ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1788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31552" y="3657600"/>
            <a:ext cx="1618488" cy="15087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31552" y="3657600"/>
            <a:ext cx="73152" cy="15087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0152" y="3803904"/>
            <a:ext cx="120700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ED8C0"/>
                </a:solidFill>
                <a:latin typeface="Meiryo"/>
              </a:rPr>
              <a:t>近いDC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0152" y="4361688"/>
            <a:ext cx="12070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選択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88D40"/>
                </a:solidFill>
                <a:latin typeface="Meiryo"/>
              </a:rPr>
              <a:t>DC間の複製：サイトトポロジーとネットワーク接続を考慮して変更を複製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次は『実物』を見て、地図と結び付ける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BB0F0"/>
                </a:solidFill>
                <a:latin typeface="Meiryo"/>
              </a:rPr>
              <a:t>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ADユーザーとコンピューター
ADサイトとサービス
DNSマネージャー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D8C0"/>
                </a:solidFill>
                <a:latin typeface="Meiryo"/>
              </a:rPr>
              <a:t>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Get-ADForest
Get-ADDomain
Get-ADDomainController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33375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73152" cy="33375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75104"/>
            <a:ext cx="30175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EC960"/>
                </a:solidFill>
                <a:latin typeface="Meiryo"/>
              </a:rPr>
              <a:t>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SRVレコード
GPO適用結果
複製状態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E88D40"/>
                </a:solidFill>
                <a:latin typeface="Meiryo"/>
              </a:rPr>
              <a:t>Part 2：構造をGUIとPowerShellで確認する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OFFICIAL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今回の正本（基礎）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元動画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417320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youtube.com/watch?v=lZ8Ps6U_kvY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AD DS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07568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learn.microsoft.com/windows-server/identity/ad-ds/.../active-directory-domain-services-overview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405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AD logical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34056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learn.microsoft.com/windows-server/identity/ad-ds/plan/understanding-the-active-directory-logical-model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92424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AD DS vs 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92424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learn.microsoft.com/entra/fundamentals/compare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Site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050791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learn.microsoft.com/windows-server/identity/ad-ds/plan/designing-the-site-topology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59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Replication concepts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59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learn.microsoft.com/windows-server/identity/ad-ds/.../active-directory-replication-concepts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6752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Group Policy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36752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learn.microsoft.com/windows-server/identity/ad-ds/manage/group-policy/group-policy-processing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999AAA"/>
                </a:solidFill>
                <a:latin typeface="Meiryo"/>
              </a:rPr>
              <a:t>完全なURLと抽出事実は同梱の source_facts.md に保存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OFFICIAL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今回の正本（2026差分・運用）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Functional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417320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learn.microsoft.com/windows-server/identity/ad-ds/active-directory-functional-levels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What's new Server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07568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learn.microsoft.com/windows-server/get-started/whats-new-windows-server-2025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4056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Kerberos RC4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34056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learn.microsoft.com/windows-server/security/kerberos/detect-remediate-rc4-kerberos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92424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CredSSP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92424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learn.microsoft.com/windows/win32/secauthn/credential-security-support-provider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SYSVOL to DFSR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050791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learn.microsoft.com/windows-server/storage/dfs-replication/migrate-sysvol-to-dfsr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59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FSMO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59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learn.microsoft.com/windows-server/identity/ad-ds/manage/understand-fsmo-roles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6752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Meiryo"/>
              </a:rPr>
              <a:t>DCDiag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36752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ED8C0"/>
                </a:solidFill>
                <a:latin typeface="Meiryo"/>
              </a:rPr>
              <a:t>learn.microsoft.com/windows-server/administration/windows-commands/dcdiag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27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88D40"/>
                </a:solidFill>
                <a:latin typeface="Meiryo"/>
              </a:rPr>
              <a:t>仕様や既定値は更新される。実装時は必ず最新の公式情報を確認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