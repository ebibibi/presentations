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bi-icon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411480"/>
            <a:ext cx="100584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920240"/>
            <a:ext cx="11247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0F0F5"/>
                </a:solidFill>
                <a:latin typeface="Meiryo"/>
              </a:rPr>
              <a:t>AIエージェントをTeamsへ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999AAA"/>
                </a:solidFill>
                <a:latin typeface="Meiryo"/>
              </a:rPr>
              <a:t>Ebi Agent Chat Relay v4.0.0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3931920"/>
            <a:ext cx="5422392" cy="77724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3931920"/>
            <a:ext cx="542239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88D40"/>
                </a:solidFill>
                <a:latin typeface="Meiryo"/>
              </a:rPr>
              <a:t>Discord＋Teams × Claude Code CLI・Codex CLI・Local OpenAI互換・AG-UI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89788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99AAA"/>
                </a:solidFill>
                <a:latin typeface="Meiryo"/>
              </a:rPr>
              <a:t>Source: https://github.com/ebibibi/ebi-agent-chat-relay/releases/tag/v4.0.0</a:t>
            </a:r>
          </a:p>
          <a:p>
            <a:pPr algn="ctr"/>
            <a:r>
              <a:rPr sz="1300" b="0">
                <a:solidFill>
                  <a:srgbClr val="5A5C70"/>
                </a:solidFill>
                <a:latin typeface="Meiryo"/>
              </a:rPr>
              <a:t>2026年8月11日 ｜ ebisuda.net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4747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V4.0.0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999AAA"/>
                </a:solidFill>
                <a:latin typeface="Meiryo"/>
              </a:rPr>
              <a:t>2つのFrontendと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200" b="1">
                <a:solidFill>
                  <a:srgbClr val="E88D40"/>
                </a:solidFill>
                <a:latin typeface="Meiryo"/>
              </a:rPr>
              <a:t>4つのBackend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0">
                <a:solidFill>
                  <a:srgbClr val="F0F0F5"/>
                </a:solidFill>
                <a:latin typeface="Meiryo"/>
              </a:rPr>
              <a:t>会話する場所と、仕事をするAgentを別々に選べる基盤です。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TWO INDEPENDENT 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FrontendとBackendを分けた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074920" cy="3429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73152" cy="342900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75104"/>
            <a:ext cx="46908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B0F0"/>
                </a:solidFill>
                <a:latin typeface="Meiryo"/>
              </a:rPr>
              <a:t>Frontend｜人が話す場所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542032"/>
            <a:ext cx="4690872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0F0F5"/>
                </a:solidFill>
                <a:latin typeface="Meiryo"/>
              </a:rPr>
              <a:t>Discord
Microsoft Teams
人とAgentをつなぐ会話の入口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28800"/>
            <a:ext cx="5074920" cy="3429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73152" cy="342900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5976" y="1975104"/>
            <a:ext cx="46908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ED8C0"/>
                </a:solidFill>
                <a:latin typeface="Meiryo"/>
              </a:rPr>
              <a:t>Backend｜実際に働くAgent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2542032"/>
            <a:ext cx="4690872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Claude Code CLI
OpenAI Codex CLI
Local OpenAI互換 /v1/responses
AG-UI HTTP/SSE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1500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0F0F5"/>
                </a:solidFill>
                <a:latin typeface="Meiryo"/>
              </a:rPr>
              <a:t>2つのFrontendから、4つのBackendを選べる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WHY TEAMS IS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推奨構成はTeams app packageだけではない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11680"/>
            <a:ext cx="2057400" cy="3200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011680"/>
            <a:ext cx="73152" cy="320040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2157984"/>
            <a:ext cx="16733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B86FC"/>
                </a:solidFill>
                <a:latin typeface="Meiryo"/>
              </a:rPr>
              <a:t>1  Entra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724912"/>
            <a:ext cx="1673352" cy="2359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2011680"/>
            <a:ext cx="2057400" cy="3200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70632" y="2011680"/>
            <a:ext cx="73152" cy="320040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2157984"/>
            <a:ext cx="16733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BB0F0"/>
                </a:solidFill>
                <a:latin typeface="Meiryo"/>
              </a:rPr>
              <a:t>2  Azure 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724912"/>
            <a:ext cx="1673352" cy="2359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Bot resource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9784" y="2011680"/>
            <a:ext cx="2057400" cy="3200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9784" y="2011680"/>
            <a:ext cx="73152" cy="320040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157984"/>
            <a:ext cx="16733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3  Storage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724912"/>
            <a:ext cx="1673352" cy="2359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transport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88936" y="2011680"/>
            <a:ext cx="2057400" cy="3200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88936" y="2011680"/>
            <a:ext cx="73152" cy="320040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08392" y="2157984"/>
            <a:ext cx="16733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ED8C0"/>
                </a:solidFill>
                <a:latin typeface="Meiryo"/>
              </a:rPr>
              <a:t>4  Public Receiver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2724912"/>
            <a:ext cx="1673352" cy="2359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検証＋enqueue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48088" y="2011680"/>
            <a:ext cx="2057400" cy="3200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48088" y="2011680"/>
            <a:ext cx="73152" cy="320040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67544" y="2157984"/>
            <a:ext cx="16733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EC960"/>
                </a:solidFill>
                <a:latin typeface="Meiryo"/>
              </a:rPr>
              <a:t>5  Private Host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67544" y="2724912"/>
            <a:ext cx="1673352" cy="2359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outbound pull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E88D40"/>
                </a:solidFill>
                <a:latin typeface="Meiryo"/>
              </a:rPr>
              <a:t>推奨経路は、公開受信とprivate実行をQueueで分離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4747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6060"/>
                </a:solidFill>
                <a:latin typeface="Meiryo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THE DESIGN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999AAA"/>
                </a:solidFill>
                <a:latin typeface="Meiryo"/>
              </a:rPr>
              <a:t>公開入口は必要。でも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200" b="1">
                <a:solidFill>
                  <a:srgbClr val="F06060"/>
                </a:solidFill>
                <a:latin typeface="Meiryo"/>
              </a:rPr>
              <a:t>Agent Hostを公開しない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0">
                <a:solidFill>
                  <a:srgbClr val="F0F0F5"/>
                </a:solidFill>
                <a:latin typeface="Meiryo"/>
              </a:rPr>
              <a:t>repository access・agent credentials・Agent実行能力を、公開受信口から分離する。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OUTBOUND-ONLY PRIVATE HOST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Public側は検証とenqueueだけ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2148840"/>
            <a:ext cx="1664208" cy="25146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" y="2148840"/>
            <a:ext cx="73152" cy="251460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295144"/>
            <a:ext cx="1280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BB0F0"/>
                </a:solidFill>
                <a:latin typeface="Meiryo"/>
              </a:rPr>
              <a:t>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862072"/>
            <a:ext cx="128016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0F0F5"/>
                </a:solidFill>
                <a:latin typeface="Meiryo"/>
              </a:rPr>
              <a:t>ユーザー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2926080"/>
            <a:ext cx="320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31136" y="2148840"/>
            <a:ext cx="1664208" cy="25146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31136" y="2148840"/>
            <a:ext cx="73152" cy="251460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2" y="2295144"/>
            <a:ext cx="1280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B86FC"/>
                </a:solidFill>
                <a:latin typeface="Meiryo"/>
              </a:rPr>
              <a:t>Bot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2" y="2862072"/>
            <a:ext cx="128016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0F0F5"/>
                </a:solidFill>
                <a:latin typeface="Meiryo"/>
              </a:rPr>
              <a:t>Activity配送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77056" y="2926080"/>
            <a:ext cx="320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148840"/>
            <a:ext cx="1664208" cy="25146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06240" y="2148840"/>
            <a:ext cx="73152" cy="251460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2295144"/>
            <a:ext cx="1280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8D40"/>
                </a:solidFill>
                <a:latin typeface="Meiryo"/>
              </a:rPr>
              <a:t>Public Receiver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862072"/>
            <a:ext cx="128016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0F0F5"/>
                </a:solidFill>
                <a:latin typeface="Meiryo"/>
              </a:rPr>
              <a:t>検証＋enqueue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926080"/>
            <a:ext cx="320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2148840"/>
            <a:ext cx="1664208" cy="25146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81344" y="2148840"/>
            <a:ext cx="73152" cy="251460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295144"/>
            <a:ext cx="1280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ED8C0"/>
                </a:solidFill>
                <a:latin typeface="Meiryo"/>
              </a:rPr>
              <a:t>Storage 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62072"/>
            <a:ext cx="128016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0F0F5"/>
                </a:solidFill>
                <a:latin typeface="Meiryo"/>
              </a:rPr>
              <a:t>Activity待機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7264" y="2926080"/>
            <a:ext cx="320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6448" y="2148840"/>
            <a:ext cx="1664208" cy="25146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56448" y="2148840"/>
            <a:ext cx="73152" cy="251460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4" y="2295144"/>
            <a:ext cx="1280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EC960"/>
                </a:solidFill>
                <a:latin typeface="Meiryo"/>
              </a:rPr>
              <a:t>ActivityPuller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2862072"/>
            <a:ext cx="128016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0F0F5"/>
                </a:solidFill>
                <a:latin typeface="Meiryo"/>
              </a:rPr>
              <a:t>外向きpull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2926080"/>
            <a:ext cx="320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999AAA"/>
                </a:solidFill>
                <a:latin typeface="Meiryo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31552" y="2148840"/>
            <a:ext cx="1664208" cy="25146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31552" y="2148840"/>
            <a:ext cx="73152" cy="251460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51008" y="2295144"/>
            <a:ext cx="1280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BB0F0"/>
                </a:solidFill>
                <a:latin typeface="Meiryo"/>
              </a:rPr>
              <a:t>Selected Backend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8" y="2862072"/>
            <a:ext cx="128016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0F0F5"/>
                </a:solidFill>
                <a:latin typeface="Meiryo"/>
              </a:rPr>
              <a:t>Agent実行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212080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E88D40"/>
                </a:solidFill>
                <a:latin typeface="Meiryo"/>
              </a:rPr>
              <a:t>Public Receiver：bot client secretなし／Agent起動不可</a:t>
            </a:r>
          </a:p>
          <a:p>
            <a:pPr algn="ctr"/>
            <a:r>
              <a:rPr sz="2100" b="1">
                <a:solidFill>
                  <a:srgbClr val="4EC960"/>
                </a:solidFill>
                <a:latin typeface="Meiryo"/>
              </a:rPr>
              <a:t>　Private Host：Teams listenerを公開しない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999AAA"/>
                </a:solidFill>
                <a:latin typeface="Meiryo"/>
              </a:rPr>
              <a:t>復路：selected backend → Bot Connector → Teams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2 × 4 COMBINATIONS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同じRelayで8通り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2240280" cy="14173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73152" cy="141732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020823"/>
            <a:ext cx="18562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BB0F0"/>
                </a:solidFill>
                <a:latin typeface="Meiryo"/>
              </a:rPr>
              <a:t>Discord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587752"/>
            <a:ext cx="185623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0F5"/>
                </a:solidFill>
                <a:latin typeface="Meiryo"/>
              </a:rP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874519"/>
            <a:ext cx="1874519" cy="14173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17520" y="1874519"/>
            <a:ext cx="73152" cy="141732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6976" y="2020823"/>
            <a:ext cx="1490471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8D40"/>
                </a:solidFill>
                <a:latin typeface="Meiryo"/>
              </a:rPr>
              <a:t>Claude Code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2587752"/>
            <a:ext cx="1490471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0F5"/>
                </a:solidFill>
                <a:latin typeface="Meiryo"/>
              </a:rPr>
              <a:t>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874519"/>
            <a:ext cx="1874519" cy="14173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6360" y="1874519"/>
            <a:ext cx="73152" cy="141732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5816" y="2020823"/>
            <a:ext cx="1490471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ED8C0"/>
                </a:solidFill>
                <a:latin typeface="Meiryo"/>
              </a:rPr>
              <a:t>Codex CLI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5816" y="2587752"/>
            <a:ext cx="1490471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0F5"/>
                </a:solidFill>
                <a:latin typeface="Meiryo"/>
              </a:rP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874519"/>
            <a:ext cx="1874519" cy="14173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0" y="1874519"/>
            <a:ext cx="73152" cy="141732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34656" y="2020823"/>
            <a:ext cx="1490471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EC960"/>
                </a:solidFill>
                <a:latin typeface="Meiryo"/>
              </a:rPr>
              <a:t>Local OpenAI互換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4656" y="2587752"/>
            <a:ext cx="1490471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0F5"/>
                </a:solidFill>
                <a:latin typeface="Meiryo"/>
              </a:rPr>
              <a:t>/v1/responses
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1874519"/>
            <a:ext cx="1874519" cy="14173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64040" y="1874519"/>
            <a:ext cx="73152" cy="141732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83496" y="2020823"/>
            <a:ext cx="1490471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B86FC"/>
                </a:solidFill>
                <a:latin typeface="Meiryo"/>
              </a:rPr>
              <a:t>AG-UI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3496" y="2587752"/>
            <a:ext cx="1490471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0F5"/>
                </a:solidFill>
                <a:latin typeface="Meiryo"/>
              </a:rPr>
              <a:t>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840479"/>
            <a:ext cx="2240280" cy="14173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3840479"/>
            <a:ext cx="73152" cy="141732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3986783"/>
            <a:ext cx="18562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BB0F0"/>
                </a:solidFill>
                <a:latin typeface="Meiryo"/>
              </a:rPr>
              <a:t>Microsoft Teams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4553712"/>
            <a:ext cx="185623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0F5"/>
                </a:solidFill>
                <a:latin typeface="Meiryo"/>
              </a:rPr>
              <a:t>Frontend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0" y="3840479"/>
            <a:ext cx="1874519" cy="14173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017520" y="3840479"/>
            <a:ext cx="73152" cy="141732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6976" y="3986783"/>
            <a:ext cx="1490471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8D40"/>
                </a:solidFill>
                <a:latin typeface="Meiryo"/>
              </a:rPr>
              <a:t>Claude Code CLI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36976" y="4553712"/>
            <a:ext cx="1490471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0F5"/>
                </a:solidFill>
                <a:latin typeface="Meiryo"/>
              </a:rPr>
              <a:t>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66360" y="3840479"/>
            <a:ext cx="1874519" cy="14173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166360" y="3840479"/>
            <a:ext cx="73152" cy="141732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85816" y="3986783"/>
            <a:ext cx="1490471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ED8C0"/>
                </a:solidFill>
                <a:latin typeface="Meiryo"/>
              </a:rPr>
              <a:t>Codex CLI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85816" y="4553712"/>
            <a:ext cx="1490471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0F5"/>
                </a:solidFill>
                <a:latin typeface="Meiryo"/>
              </a:rPr>
              <a:t>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3840479"/>
            <a:ext cx="1874519" cy="14173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15200" y="3840479"/>
            <a:ext cx="73152" cy="141732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34656" y="3986783"/>
            <a:ext cx="1490471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EC960"/>
                </a:solidFill>
                <a:latin typeface="Meiryo"/>
              </a:rPr>
              <a:t>Local OpenAI互換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34656" y="4553712"/>
            <a:ext cx="1490471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0F5"/>
                </a:solidFill>
                <a:latin typeface="Meiryo"/>
              </a:rPr>
              <a:t>/v1/responses
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64040" y="3840479"/>
            <a:ext cx="1874519" cy="14173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464040" y="3840479"/>
            <a:ext cx="73152" cy="141732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83496" y="3986783"/>
            <a:ext cx="1490471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B86FC"/>
                </a:solidFill>
                <a:latin typeface="Meiryo"/>
              </a:rPr>
              <a:t>AG-UI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83496" y="4553712"/>
            <a:ext cx="1490471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0F5"/>
                </a:solidFill>
                <a:latin typeface="Meiryo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760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999AAA"/>
                </a:solidFill>
                <a:latin typeface="Meiryo"/>
              </a:rPr>
              <a:t>AG-UI＝HTTP/SSEで接続するBackend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SETUP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Teams導入ガイドは8セクション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828800"/>
            <a:ext cx="2514600" cy="13258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1828800"/>
            <a:ext cx="73152" cy="132588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75104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B86FC"/>
                </a:solidFill>
                <a:latin typeface="Meiryo"/>
              </a:rPr>
              <a:t>1  Entra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42032"/>
            <a:ext cx="2130552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828800"/>
            <a:ext cx="2514600" cy="13258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10712" y="1828800"/>
            <a:ext cx="73152" cy="132588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975104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B0F0"/>
                </a:solidFill>
                <a:latin typeface="Meiryo"/>
              </a:rPr>
              <a:t>2  Azure 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542032"/>
            <a:ext cx="2130552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828800"/>
            <a:ext cx="2514600" cy="13258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828800"/>
            <a:ext cx="73152" cy="132588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975104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ED8C0"/>
                </a:solidFill>
                <a:latin typeface="Meiryo"/>
              </a:rPr>
              <a:t>3  Storage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542032"/>
            <a:ext cx="2130552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71432" y="1828800"/>
            <a:ext cx="2514600" cy="13258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71432" y="1828800"/>
            <a:ext cx="73152" cy="132588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1975104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8D40"/>
                </a:solidFill>
                <a:latin typeface="Meiryo"/>
              </a:rPr>
              <a:t>4  Public Receiver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2542032"/>
            <a:ext cx="2130552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3657600"/>
            <a:ext cx="2514600" cy="13258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0352" y="3657600"/>
            <a:ext cx="73152" cy="132588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803904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B86FC"/>
                </a:solidFill>
                <a:latin typeface="Meiryo"/>
              </a:rPr>
              <a:t>5  Private session host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70832"/>
            <a:ext cx="2130552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0712" y="3657600"/>
            <a:ext cx="2514600" cy="13258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10712" y="3657600"/>
            <a:ext cx="73152" cy="132588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0168" y="3803904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B0F0"/>
                </a:solidFill>
                <a:latin typeface="Meiryo"/>
              </a:rPr>
              <a:t>6  Teams app package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4370832"/>
            <a:ext cx="2130552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3657600"/>
            <a:ext cx="2514600" cy="13258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91072" y="3657600"/>
            <a:ext cx="73152" cy="132588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3803904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ED8C0"/>
                </a:solidFill>
                <a:latin typeface="Meiryo"/>
              </a:rPr>
              <a:t>7  Upload &amp; consent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4370832"/>
            <a:ext cx="2130552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71432" y="3657600"/>
            <a:ext cx="2514600" cy="13258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71432" y="3657600"/>
            <a:ext cx="73152" cy="132588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90888" y="3803904"/>
            <a:ext cx="21305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8D40"/>
                </a:solidFill>
                <a:latin typeface="Meiryo"/>
              </a:rPr>
              <a:t>8  3段階で検証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0888" y="4370832"/>
            <a:ext cx="2130552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6235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4EC960"/>
                </a:solidFill>
                <a:latin typeface="Meiryo"/>
              </a:rPr>
              <a:t>詳細手順：docs/teams-setup.md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4747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B86FC"/>
                </a:solidFill>
                <a:latin typeface="Meiryo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REAL DATA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999AAA"/>
                </a:solidFill>
                <a:latin typeface="Meiryo"/>
              </a:rPr>
              <a:t>Entra appを顧客tenantに置いても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200" b="1">
                <a:solidFill>
                  <a:srgbClr val="BB86FC"/>
                </a:solidFill>
                <a:latin typeface="Meiryo"/>
              </a:rPr>
              <a:t>Tenant登録 ≠ Tenant内処理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0">
                <a:solidFill>
                  <a:srgbClr val="F0F0F5"/>
                </a:solidFill>
                <a:latin typeface="Meiryo"/>
              </a:rPr>
              <a:t>Bot Framework・Receiver・Queue・Private Host・Backendまでがデータ経路。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AG-UI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HTTP/SSE Agentも同じstreamへ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074920" cy="3429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73152" cy="342900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75104"/>
            <a:ext cx="46908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ED8C0"/>
                </a:solidFill>
                <a:latin typeface="Meiryo"/>
              </a:rPr>
              <a:t>共通eventへ変換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542032"/>
            <a:ext cx="4690872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0F0F5"/>
                </a:solidFill>
                <a:latin typeface="Meiryo"/>
              </a:rPr>
              <a:t>Run lifecycle
Text streaming
Reasoning
Tool call /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28800"/>
            <a:ext cx="5074920" cy="3429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73152" cy="342900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5976" y="1975104"/>
            <a:ext cx="46908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8D40"/>
                </a:solidFill>
                <a:latin typeface="Meiryo"/>
              </a:rPr>
              <a:t>境界を明示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2542032"/>
            <a:ext cx="4690872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0F0F5"/>
                </a:solidFill>
                <a:latin typeface="Meiryo"/>
              </a:rPr>
              <a:t>URL credential拒否
Redirect拒否
SSE frame上限
Tokenを子CLIへ渡さない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6509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0F0F5"/>
                </a:solidFill>
                <a:latin typeface="Meiryo"/>
              </a:rPr>
              <a:t>AG-UI eventをRelayの共通streamへ変換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HONEST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v4でも同じではない部分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520440" cy="3474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73152" cy="3474720"/>
          </a:xfrm>
          <a:prstGeom prst="roundRect">
            <a:avLst>
              <a:gd name="adj" fmla="val 1000"/>
            </a:avLst>
          </a:prstGeom>
          <a:solidFill>
            <a:srgbClr val="F06060"/>
          </a:solidFill>
          <a:ln w="12700">
            <a:solidFill>
              <a:srgbClr val="F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975104"/>
            <a:ext cx="3136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06060"/>
                </a:solidFill>
                <a:latin typeface="Meiryo"/>
              </a:rPr>
              <a:t>Teams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542032"/>
            <a:ext cx="3136392" cy="2633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/backend等は通常queue経路でcommand dispatchしない
→ configured/global 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20440" cy="3474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73152" cy="347472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975104"/>
            <a:ext cx="3136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88D40"/>
                </a:solidFill>
                <a:latin typeface="Meiryo"/>
              </a:rPr>
              <a:t>Teams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542032"/>
            <a:ext cx="3136392" cy="2633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通常private queue経路は
file-consent invokeをbridgeしない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520440" cy="34747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73152" cy="347472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975104"/>
            <a:ext cx="3136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B86FC"/>
                </a:solidFill>
                <a:latin typeface="Meiryo"/>
              </a:rPr>
              <a:t>AG-UI advanced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542032"/>
            <a:ext cx="3136392" cy="2633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0F5"/>
                </a:solidFill>
                <a:latin typeface="Meiryo"/>
              </a:rPr>
              <a:t>Durable HITL resume
state/activity
protobuf/client tools
は対応機能として未提示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150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4EC960"/>
                </a:solidFill>
                <a:latin typeface="Meiryo"/>
              </a:rPr>
              <a:t>未対応を、対応済みのように見せない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PROVEN ON REAL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Contractだけでなく実物で往復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520440" cy="3429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73152" cy="342900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975104"/>
            <a:ext cx="3136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4EC960"/>
                </a:solidFill>
                <a:latin typeface="Meiryo"/>
              </a:rPr>
              <a:t>2,536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542032"/>
            <a:ext cx="3136392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0F5"/>
                </a:solidFill>
                <a:latin typeface="Meiryo"/>
              </a:rPr>
              <a:t>local tests
ruff成功／pyright 0 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20440" cy="3429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73152" cy="342900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975104"/>
            <a:ext cx="3136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BB0F0"/>
                </a:solidFill>
                <a:latin typeface="Meiryo"/>
              </a:rPr>
              <a:t>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542032"/>
            <a:ext cx="3136392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0F5"/>
                </a:solidFill>
                <a:latin typeface="Meiryo"/>
              </a:rPr>
              <a:t>Python 3.12／3.13
CodeQL／merge-after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520440" cy="34290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73152" cy="342900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975104"/>
            <a:ext cx="3136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E88D40"/>
                </a:solidFill>
                <a:latin typeface="Meiryo"/>
              </a:rPr>
              <a:t>E2E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542032"/>
            <a:ext cx="3136392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0F5"/>
                </a:solidFill>
                <a:latin typeface="Meiryo"/>
              </a:rPr>
              <a:t>Teams → Azure relay
→ Real Codex →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0F0F5"/>
                </a:solidFill>
                <a:latin typeface="Meiryo"/>
              </a:rPr>
              <a:t>本番検証でもDiscordとTeamsが同時稼働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4747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EC960"/>
                </a:solidFill>
                <a:latin typeface="Meiryo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999AAA"/>
                </a:solidFill>
                <a:latin typeface="Meiryo"/>
              </a:rPr>
              <a:t>選ぶのはBotの見た目ではなく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200" b="1">
                <a:solidFill>
                  <a:srgbClr val="4EC960"/>
                </a:solidFill>
                <a:latin typeface="Meiryo"/>
              </a:rPr>
              <a:t>入口とAgentを、分けて選ぶ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0">
                <a:solidFill>
                  <a:srgbClr val="F0F0F5"/>
                </a:solidFill>
                <a:latin typeface="Meiryo"/>
              </a:rPr>
              <a:t>Release NotesとTeams Setup Guideから、自分のdeployment境界を決める。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TRY AND FOLLOW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v4を試す・続きを見る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074920" cy="36118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73152" cy="361188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83664"/>
            <a:ext cx="46908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4ED8C0"/>
                </a:solidFill>
                <a:latin typeface="Meiryo"/>
              </a:rPr>
              <a:t>GitHub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50592"/>
            <a:ext cx="4690872" cy="2770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0F5"/>
                </a:solidFill>
                <a:latin typeface="Meiryo"/>
              </a:rPr>
              <a:t>github.com/ebibibi/
ebi-agent-chat-relay/
releases/tag/v4.0.0
Release Notes
Teams Setup Guide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737360"/>
            <a:ext cx="5074920" cy="36118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737360"/>
            <a:ext cx="73152" cy="361188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5976" y="1883664"/>
            <a:ext cx="46908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E88D40"/>
                </a:solidFill>
                <a:latin typeface="Meiryo"/>
              </a:rPr>
              <a:t>YouTube／note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2450592"/>
            <a:ext cx="4690872" cy="2770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0F5"/>
                </a:solidFill>
                <a:latin typeface="Meiryo"/>
              </a:rPr>
              <a:t>高評価・チャンネル登録
通知オン
noteで
設計と導入手順を解説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6509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0F0F5"/>
                </a:solidFill>
                <a:latin typeface="Meiryo"/>
              </a:rPr>
              <a:t>Ebi Agent Chat Relay v4.0.0 — MIT 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