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HCCJP 第71回勉強会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ハイブリッドクラウド研究会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2026年3月13日（金）14:00開始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AI時代の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エージェントが実現した、あの頃の夢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オープニング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司会：胡田 昌彦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</a:rPr>
              <a:t>日本ビジネスシステムズ株式会社
Microsoft MVP for Cloud and Datacenter Management, Microsoft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タイムテーブル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4157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9399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</a:rPr>
                        <a:t>時刻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43A5E"/>
                          </a:solidFill>
                          <a:latin typeface="Meiryo"/>
                        </a:rPr>
                        <a:t>スピーカー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14:00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オープニング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胡田 昌彦（JBS / MVP）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14:05 (40分)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AI時代の「本当の」ハイブリッドクラウド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胡田 昌彦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14:45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全員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14:55 (20分)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Microsoft "Adaptive Cloud" 最新動向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高添 修 氏（日本マイクロソフト）</a:t>
                      </a:r>
                    </a:p>
                  </a:txBody>
                  <a:tcPr/>
                </a:tc>
              </a:tr>
              <a:tr h="59399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15:15 (10分)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高添 修 氏</a:t>
                      </a:r>
                    </a:p>
                  </a:txBody>
                  <a:tcPr/>
                </a:tc>
              </a:tr>
              <a:tr h="59399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15:25 (5分)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クロージング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23130"/>
                          </a:solidFill>
                          <a:latin typeface="Meiryo"/>
                        </a:rPr>
                        <a:t>胡田 昌彦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HCCJPとは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</a:rPr>
              <a:t>ハイブリッドクラウド研究会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毎月第2金曜日 14時から開催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Azure + ハイブリッドクラウド関連の最新情報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オンライン配信（YouTube HCCJPチャンネル）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📺チャンネル登録お願いします！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本日の注意事項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3667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• 📹 配信は録画されています（アーカイブ視聴可）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• 💬 質問・コメント大歓迎！</a:t>
            </a:r>
          </a:p>
          <a:p>
            <a:pPr>
              <a:spcAft>
                <a:spcPts val="9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• 📝 Q&amp;Aセッションでまとめてお答えします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質問・コメント方法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100"/>
              </a:spcAft>
            </a:pPr>
            <a:r>
              <a:rPr sz="3900" b="1">
                <a:solidFill>
                  <a:srgbClr val="0078D4"/>
                </a:solidFill>
                <a:latin typeface="Meiryo"/>
              </a:rPr>
              <a:t>💬 YouTubeチャットで質問・コメント大歓迎！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</a:rPr>
              <a:t>• 右側のライブチャット欄から投稿してください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</a:rPr>
              <a:t>• セッション中でもお気軽にどうぞ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</a:rPr>
              <a:t>• 固定コメントに各種リンクを掲載します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セッション①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AI時代の「本当の」ハイブリッドクラウド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エージェントが実現した、あの頃の夢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胡田 昌彦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⏱️ 14:05 - 14:45（40分）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👨‍💻 自己紹介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700" b="1">
                <a:solidFill>
                  <a:srgbClr val="0078D4"/>
                </a:solidFill>
                <a:latin typeface="Meiryo"/>
              </a:rPr>
              <a:t>胡田 昌彦（えびすだ まさひこ）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</a:rPr>
              <a:t>日本ビジネスシステムズ株式会社（JBS）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🏆 </a:t>
            </a:r>
            <a:r>
              <a:rPr sz="2400" b="1">
                <a:solidFill>
                  <a:srgbClr val="323130"/>
                </a:solidFill>
                <a:latin typeface="Meiryo"/>
              </a:rPr>
              <a:t>Microsoft MVP</a:t>
            </a:r>
            <a:r>
              <a:rPr sz="2400">
                <a:solidFill>
                  <a:srgbClr val="323130"/>
                </a:solidFill>
                <a:latin typeface="Meiryo"/>
              </a:rPr>
              <a:t> — Cloud and Datacenter Management / Microsoft Azure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📖 著書: </a:t>
            </a:r>
            <a:r>
              <a:rPr sz="2400" b="1">
                <a:solidFill>
                  <a:srgbClr val="323130"/>
                </a:solidFill>
                <a:latin typeface="Meiryo"/>
              </a:rPr>
              <a:t>「Windowsインフラ管理者入門」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📺 YouTube: https://youtube.com/@ebibibi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🌐 Web: https://ebisuda.net/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🎵 趣味: ベース、ドラム、セッション、将棋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1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HCCJPの原点と「あの頃の夢」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「ハイブリッドクラウド」「マルチクラウド」</a:t>
            </a:r>
          </a:p>
          <a:p>
            <a:pPr>
              <a:spcAft>
                <a:spcPts val="14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本当に実現してましたか？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2018年〜 HCCJP立ち上げの頃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</a:rPr>
              <a:t>• 「ハイブリッドクラウド」は</a:t>
            </a:r>
            <a:r>
              <a:rPr sz="3400" b="1">
                <a:solidFill>
                  <a:srgbClr val="323130"/>
                </a:solidFill>
                <a:latin typeface="Meiryo"/>
              </a:rPr>
              <a:t>ホットワード</a:t>
            </a:r>
            <a:r>
              <a:rPr sz="3400">
                <a:solidFill>
                  <a:srgbClr val="323130"/>
                </a:solidFill>
                <a:latin typeface="Meiryo"/>
              </a:rPr>
              <a:t>だった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</a:rPr>
              <a:t>• Azure Stack (HUB)、AWS Outposts、Google Anthos…</a:t>
            </a:r>
          </a:p>
          <a:p>
            <a:pPr>
              <a:spcAft>
                <a:spcPts val="800"/>
              </a:spcAft>
            </a:pPr>
            <a:r>
              <a:rPr sz="3400">
                <a:solidFill>
                  <a:srgbClr val="323130"/>
                </a:solidFill>
                <a:latin typeface="Meiryo"/>
              </a:rPr>
              <a:t>• 各ベンダーが「ハイブリッドこそ未来」と言っていた</a:t>
            </a:r>
          </a:p>
          <a:p>
            <a:pPr>
              <a:spcAft>
                <a:spcPts val="600"/>
              </a:spcAft>
            </a:pPr>
            <a:r>
              <a:rPr sz="3400" b="1">
                <a:solidFill>
                  <a:srgbClr val="323130"/>
                </a:solidFill>
                <a:latin typeface="Meiryo"/>
              </a:rPr>
              <a:t>でも…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正直なところ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</a:rPr>
              <a:t>• 1つのシステムは</a:t>
            </a:r>
            <a:r>
              <a:rPr sz="3000" b="1">
                <a:solidFill>
                  <a:srgbClr val="323130"/>
                </a:solidFill>
                <a:latin typeface="Meiryo"/>
              </a:rPr>
              <a:t>1箇所にまとまって動く</a:t>
            </a:r>
            <a:r>
              <a:rPr sz="3000">
                <a:solidFill>
                  <a:srgbClr val="323130"/>
                </a:solidFill>
                <a:latin typeface="Meiryo"/>
              </a:rPr>
              <a:t>のが普通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</a:rPr>
              <a:t>• オンプレはオンプレ、クラウドはクラウド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</a:rPr>
              <a:t>• 「ハイブリッド」はネットワーク接続がメイン。管理コンソールの統合...までもなかなか行けなかった</a:t>
            </a:r>
          </a:p>
          <a:p>
            <a:pPr>
              <a:spcAft>
                <a:spcPts val="700"/>
              </a:spcAft>
            </a:pPr>
            <a:r>
              <a:rPr sz="3000">
                <a:solidFill>
                  <a:srgbClr val="323130"/>
                </a:solidFill>
                <a:latin typeface="Meiryo"/>
              </a:rPr>
              <a:t>• 1システム内でのワークロードの分散配置や移動ではなかった</a:t>
            </a:r>
          </a:p>
          <a:p>
            <a:pPr>
              <a:spcAft>
                <a:spcPts val="600"/>
              </a:spcAft>
            </a:pPr>
            <a:r>
              <a:rPr sz="3000">
                <a:solidFill>
                  <a:srgbClr val="323130"/>
                </a:solidFill>
                <a:latin typeface="Meiryo"/>
              </a:rPr>
              <a:t>→ </a:t>
            </a:r>
            <a:r>
              <a:rPr sz="3000" b="1">
                <a:solidFill>
                  <a:srgbClr val="323130"/>
                </a:solidFill>
                <a:latin typeface="Meiryo"/>
              </a:rPr>
              <a:t>本当にハイブリッドに跨って動くシステムは少なかった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2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時代は変わった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2025-2026年、AIエージェントの時代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• AIエージェント多数登場&amp;進化中 （Claude Code, Codex, Gemini CLI, GitHub Copilot CLI, Devin…）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• </a:t>
            </a:r>
            <a:r>
              <a:rPr sz="3500" b="1">
                <a:solidFill>
                  <a:srgbClr val="323130"/>
                </a:solidFill>
                <a:latin typeface="Meiryo"/>
              </a:rPr>
              <a:t>1つのAIエージェントが、複数の場所を跨いで動く</a:t>
            </a:r>
          </a:p>
          <a:p>
            <a:pPr>
              <a:spcAft>
                <a:spcPts val="7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→ これ、</a:t>
            </a:r>
            <a:r>
              <a:rPr sz="3500" b="1">
                <a:solidFill>
                  <a:srgbClr val="323130"/>
                </a:solidFill>
                <a:latin typeface="Meiryo"/>
              </a:rPr>
              <a:t>本当のハイブリッドクラウド</a:t>
            </a:r>
            <a:r>
              <a:rPr sz="3500">
                <a:solidFill>
                  <a:srgbClr val="323130"/>
                </a:solidFill>
                <a:latin typeface="Meiryo"/>
              </a:rPr>
              <a:t>じゃない？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3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3つの要素 × 3つの配置先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⚠️ 今日一番伝えたいことの１つ！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3172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11183112" cy="352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</a:rPr>
              <a:t>難しいけどよく理解が必要！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※製品名・サービス名は覚えなくてOK。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</a:rPr>
              <a:t>注目してほしいのは表の中身ではなく「表の構造」そのもの。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AIエージェント時代のハイブリッドを整理する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</a:rPr>
              <a:t>3つの要素が、それぞれ自由な場所に配置される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620772"/>
          <a:ext cx="11183112" cy="2576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644207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64420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64420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89041"/>
            <a:ext cx="11183112" cy="70027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</a:rPr>
              <a:t>3要素(それぞれ選択肢膨大) × 3配置先 = 無数の組み合わせ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それぞれが別々の場所にあっていい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4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具体例で見てみよう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例1: M365 Copilot — フルSaaS構成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29755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900">
                <a:solidFill>
                  <a:srgbClr val="323130"/>
                </a:solidFill>
                <a:latin typeface="MS Gothic"/>
              </a:rPr>
              <a:t>+-------------------------------------------------------+
|                  Microsoft 365 (SaaS)                 |
|                                                       |
| +------------+   +--------------+   +--------------+  |
| |   OpenAI   |   | M365 Copilot |   |    WorkIQ    |  |
| |  (モデル)  |&lt;--|(エージェント)|&lt;--| SP/Teams/    |  |
| +------------+   +--------------+   | Outlook/OD   |  |
|                                     +--------------+  |
+-------------------------------------------------------+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66335"/>
            <a:ext cx="11183112" cy="10229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</a:rPr>
              <a:t>• </a:t>
            </a:r>
            <a:r>
              <a:rPr sz="28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2800">
                <a:solidFill>
                  <a:srgbClr val="323130"/>
                </a:solidFill>
                <a:latin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2800">
                <a:solidFill>
                  <a:srgbClr val="323130"/>
                </a:solidFill>
                <a:latin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</a:rPr>
              <a:t>SaaS</a:t>
            </a:r>
            <a:r>
              <a:rPr sz="2800">
                <a:solidFill>
                  <a:srgbClr val="323130"/>
                </a:solidFill>
                <a:latin typeface="Meiryo"/>
              </a:rPr>
              <a:t> / </a:t>
            </a:r>
            <a:r>
              <a:rPr sz="28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2800">
                <a:solidFill>
                  <a:srgbClr val="323130"/>
                </a:solidFill>
                <a:latin typeface="Meiryo"/>
              </a:rPr>
              <a:t> </a:t>
            </a:r>
            <a:r>
              <a:rPr sz="2300" b="1">
                <a:solidFill>
                  <a:srgbClr val="C62828"/>
                </a:solidFill>
                <a:latin typeface="Meiryo"/>
              </a:rPr>
              <a:t>SaaS</a:t>
            </a:r>
          </a:p>
          <a:p>
            <a:pPr>
              <a:spcAft>
                <a:spcPts val="700"/>
              </a:spcAft>
            </a:pPr>
            <a:r>
              <a:rPr sz="2800">
                <a:solidFill>
                  <a:srgbClr val="323130"/>
                </a:solidFill>
                <a:latin typeface="Meiryo"/>
              </a:rPr>
              <a:t>• → </a:t>
            </a:r>
            <a:r>
              <a:rPr sz="2800" b="1">
                <a:solidFill>
                  <a:srgbClr val="323130"/>
                </a:solidFill>
                <a:latin typeface="Meiryo"/>
              </a:rPr>
              <a:t>すべてSaaS。多くの企業が最初に触れるAIエージェント体験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例2: 典型的なRAG構成（Azure）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7261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>
                <a:solidFill>
                  <a:srgbClr val="323130"/>
                </a:solidFill>
                <a:latin typeface="MS Gothic"/>
              </a:rPr>
              <a:t>+----------------------------------------------------+ 
|                   Azure (クラウド基盤)              |
|                                                     |
| +--------------------+   +-----------------------+  |
| | Microsoft Foundry  |   | Azure AI Search       |  |
| | (モデル)           |&lt;--| (ベクトルストア)      |  |
| +--------------------+   | + Blob Storage        |  |
|          ^               +-----------------------+  |
|          |                                          |
| +--------+-----------+                              |
| | Azure App Service  |                              |
| | (自作Webアプリ)    |                              |
| +--------------------+                              |
+----------------------------------------------------+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94960"/>
            <a:ext cx="11183112" cy="5943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1565C0"/>
                </a:solidFill>
                <a:latin typeface="Meiryo"/>
              </a:rPr>
              <a:t>クラウド基盤</a:t>
            </a:r>
            <a:r>
              <a:rPr sz="2100">
                <a:solidFill>
                  <a:srgbClr val="323130"/>
                </a:solidFill>
                <a:latin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1565C0"/>
                </a:solidFill>
                <a:latin typeface="Meiryo"/>
              </a:rPr>
              <a:t>クラウド基盤</a:t>
            </a:r>
            <a:r>
              <a:rPr sz="2100">
                <a:solidFill>
                  <a:srgbClr val="323130"/>
                </a:solidFill>
                <a:latin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1565C0"/>
                </a:solidFill>
                <a:latin typeface="Meiryo"/>
              </a:rPr>
              <a:t>クラウド基盤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→ </a:t>
            </a:r>
            <a:r>
              <a:rPr sz="2100" b="1">
                <a:solidFill>
                  <a:srgbClr val="323130"/>
                </a:solidFill>
                <a:latin typeface="Meiryo"/>
              </a:rPr>
              <a:t>すべてクラウド基盤。自前で構築・管理する典型的なエンタープライズ構成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例3: 典型的なRAG構成（オンプレ）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7261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>
                <a:solidFill>
                  <a:srgbClr val="323130"/>
                </a:solidFill>
                <a:latin typeface="MS Gothic"/>
              </a:rPr>
              <a:t>+----------------------------------------------------+  
|                 社内データセンター (オンプレ)        |
|                                                      |
| +--------------------+   +-----------------------+   |
| | Ollama / vLLM      |   | PostgreSQL pgvector   |   |
| | (GPU搭載サーバー)  |&lt;--| / Elasticsearch       |   |
| +--------------------+   | (ベクトルストア)      |   |
|          ^               +-----------------------+   |
|          |                                           |
| +--------+-----------+                               |
| | 自作Webアプリ      |                               |
| | (社内サーバー)     |                               |
| +--------------------+                               |
+----------------------------------------------------+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394960"/>
            <a:ext cx="11183112" cy="5943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</a:rPr>
              <a:t> / </a:t>
            </a:r>
            <a:r>
              <a:rPr sz="21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</a:rPr>
              <a:t>オンプレ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→ </a:t>
            </a:r>
            <a:r>
              <a:rPr sz="2100" b="1">
                <a:solidFill>
                  <a:srgbClr val="323130"/>
                </a:solidFill>
                <a:latin typeface="Meiryo"/>
              </a:rPr>
              <a:t>すべてオンプレ。データを外に出せない要件がある場合の構成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例4: GitHub Copilot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246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>
                <a:solidFill>
                  <a:srgbClr val="323130"/>
                </a:solidFill>
                <a:latin typeface="MS Gothic"/>
              </a:rPr>
              <a:t>+-------------------+          +------------------------+
|    ローカル       |          |    GitHub (クラウド)   |
|                   |          |                        |
| +---------------+ |          | Repository             |
| | ソースコード  | |   API    | Issues / Discussions   |
| | copilot-      |&lt;|---------&gt;| Copilot Spaces         |
| | instructions  | |          +------------------------+
| +---------------+ |          | モデル選択             |
|        |          |          |  GPT / Claude /        |
|   Copilot CLI     |          |  Gemini                |
|  (エージェント)   |          +------------------------+
+-------------------+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14900"/>
            <a:ext cx="11183112" cy="10744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C62828"/>
                </a:solidFill>
                <a:latin typeface="Meiryo"/>
              </a:rPr>
              <a:t>SaaS</a:t>
            </a:r>
            <a:r>
              <a:rPr sz="2100">
                <a:solidFill>
                  <a:srgbClr val="323130"/>
                </a:solidFill>
                <a:latin typeface="Meiryo"/>
              </a:rPr>
              <a:t> GPT / Claude / Gemini（選択可）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</a:rPr>
              <a:t> Copilot CLI（ローカルPC）</a:t>
            </a:r>
          </a:p>
          <a:p>
            <a:pPr>
              <a:spcAft>
                <a:spcPts val="500"/>
              </a:spcAft>
            </a:pPr>
            <a:r>
              <a:rPr sz="2100">
                <a:solidFill>
                  <a:srgbClr val="323130"/>
                </a:solidFill>
                <a:latin typeface="Meiryo"/>
              </a:rPr>
              <a:t>• </a:t>
            </a:r>
            <a:r>
              <a:rPr sz="21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2100">
                <a:solidFill>
                  <a:srgbClr val="323130"/>
                </a:solidFill>
                <a:latin typeface="Meiryo"/>
              </a:rPr>
              <a:t> </a:t>
            </a:r>
            <a:r>
              <a:rPr sz="17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2100">
                <a:solidFill>
                  <a:srgbClr val="323130"/>
                </a:solidFill>
                <a:latin typeface="Meiryo"/>
              </a:rPr>
              <a:t> ソースコード等 + </a:t>
            </a:r>
            <a:r>
              <a:rPr sz="1700" b="1">
                <a:solidFill>
                  <a:srgbClr val="C62828"/>
                </a:solidFill>
                <a:latin typeface="Meiryo"/>
              </a:rPr>
              <a:t>SaaS</a:t>
            </a:r>
            <a:r>
              <a:rPr sz="2100">
                <a:solidFill>
                  <a:srgbClr val="323130"/>
                </a:solidFill>
                <a:latin typeface="Meiryo"/>
              </a:rPr>
              <a:t> GitHub Issues, Copilot 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例5: 私の環境（Claude Code）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0403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>
                <a:solidFill>
                  <a:srgbClr val="323130"/>
                </a:solidFill>
                <a:latin typeface="MS Gothic"/>
              </a:rPr>
              <a:t>+-------------------+          +------------------------+
|    ローカル       |          |       クラウド         |
|                   |          |                        |
| +---------------+ |          | Anthropic API (推論)   |
| | Obsidian      | |   API    | Todoist API            |
| | CLAUDE.md     |&lt;|---------&gt;| Google Calendar API    |
| | ソースコード  | |          | GitHub                 |
| | skills/       | |          | Azure                  |
| +---------------+ |          | Discord API            |
|        |          |          +------------------------+
|   Claude Code     |
|  (エージェント)   |
+-------------------+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09160"/>
            <a:ext cx="11183112" cy="12801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</a:rPr>
              <a:t> Anthropic API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</a:rPr>
              <a:t> Claude Code（ローカルPC）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</a:rPr>
              <a:t> CLAUDE.md, Obsidian等 + </a:t>
            </a:r>
            <a:r>
              <a:rPr sz="1500" b="1">
                <a:solidFill>
                  <a:srgbClr val="C62828"/>
                </a:solidFill>
                <a:latin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</a:rPr>
              <a:t> GitHub, Todoist等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    • 必要な情報はClaude Code自体が必要に応じてエージェンティックに取得する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例6: 前回(第70回)の勉強会の例（DGX Spark × Azure）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94560"/>
            <a:ext cx="11183112" cy="293751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323130"/>
                </a:solidFill>
                <a:latin typeface="MS Gothic"/>
              </a:rPr>
              <a:t>+------------------------+       +----------------------------+
|         Azure          |       |       オンプレミス         |
|                        |       |                            |
| +--------------------+ | HTTPS |  https://spark.xxx.ts.net  |
| | Azure App Service  |-|------&gt;|            |               |
| | (自作エージェント) | |       |            v Tailscale     |
| +--------------------+ |       | +------------------------+ |
|          |             |       | |       DGX Spark        | |
|          | Fallback    |       | |   Ollama + LiteLLM     | |
|          v             |       | +------------------------+ |
| +--------------------+ |       |                            |
| | Microsoft Foundry  | |       +----------------------------+
| | (従量課金)         | |
| +--------------------+ |
+------------------------+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23509"/>
            <a:ext cx="11183112" cy="765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23130"/>
                </a:solidFill>
                <a:latin typeface="Meiryo"/>
              </a:rPr>
              <a:t>• </a:t>
            </a:r>
            <a:r>
              <a:rPr sz="15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1500">
                <a:solidFill>
                  <a:srgbClr val="323130"/>
                </a:solidFill>
                <a:latin typeface="Meiryo"/>
              </a:rPr>
              <a:t> </a:t>
            </a:r>
            <a:r>
              <a:rPr sz="12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1500">
                <a:solidFill>
                  <a:srgbClr val="323130"/>
                </a:solidFill>
                <a:latin typeface="Meiryo"/>
              </a:rPr>
              <a:t> DGX Spark + </a:t>
            </a:r>
            <a:r>
              <a:rPr sz="1200" b="1">
                <a:solidFill>
                  <a:srgbClr val="1565C0"/>
                </a:solidFill>
                <a:latin typeface="Meiryo"/>
              </a:rPr>
              <a:t>クラウド基盤</a:t>
            </a:r>
            <a:r>
              <a:rPr sz="1500">
                <a:solidFill>
                  <a:srgbClr val="323130"/>
                </a:solidFill>
                <a:latin typeface="Meiryo"/>
              </a:rPr>
              <a:t> Microsoft Foundry（フォールバック）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23130"/>
                </a:solidFill>
                <a:latin typeface="Meiryo"/>
              </a:rPr>
              <a:t>• </a:t>
            </a:r>
            <a:r>
              <a:rPr sz="15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1500">
                <a:solidFill>
                  <a:srgbClr val="323130"/>
                </a:solidFill>
                <a:latin typeface="Meiryo"/>
              </a:rPr>
              <a:t> </a:t>
            </a:r>
            <a:r>
              <a:rPr sz="1200" b="1">
                <a:solidFill>
                  <a:srgbClr val="1565C0"/>
                </a:solidFill>
                <a:latin typeface="Meiryo"/>
              </a:rPr>
              <a:t>クラウド基盤</a:t>
            </a:r>
            <a:r>
              <a:rPr sz="1500">
                <a:solidFill>
                  <a:srgbClr val="323130"/>
                </a:solidFill>
                <a:latin typeface="Meiryo"/>
              </a:rPr>
              <a:t> 自作（Azure Agent SDK on App Service）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23130"/>
                </a:solidFill>
                <a:latin typeface="Meiryo"/>
              </a:rPr>
              <a:t>• </a:t>
            </a:r>
            <a:r>
              <a:rPr sz="15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1500">
                <a:solidFill>
                  <a:srgbClr val="323130"/>
                </a:solidFill>
                <a:latin typeface="Meiryo"/>
              </a:rPr>
              <a:t> </a:t>
            </a:r>
            <a:r>
              <a:rPr sz="1200" b="1">
                <a:solidFill>
                  <a:srgbClr val="C62828"/>
                </a:solidFill>
                <a:latin typeface="Meiryo"/>
              </a:rPr>
              <a:t>SaaS</a:t>
            </a:r>
            <a:r>
              <a:rPr sz="1500">
                <a:solidFill>
                  <a:srgbClr val="323130"/>
                </a:solidFill>
                <a:latin typeface="Meiryo"/>
              </a:rPr>
              <a:t> SharePoint内の社内ドキュメント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同じモデルでも、エージェントソフトが違えば動きが違う。</a:t>
            </a:r>
            <a:r>
              <a:rPr sz="2200">
                <a:solidFill>
                  <a:srgbClr val="323130"/>
                </a:solidFill>
                <a:latin typeface="Meiryo"/>
              </a:rPr>
              <a:t>
</a:t>
            </a:r>
            <a:r>
              <a:rPr sz="2200" b="1">
                <a:solidFill>
                  <a:srgbClr val="323130"/>
                </a:solidFill>
                <a:latin typeface="Meiryo"/>
              </a:rPr>
              <a:t>同じエージェントソフトでも、配置先が違えば使い方が変わる。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5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AIエージェントにおける「引き継ぎ」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問いかけ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</a:rPr>
              <a:t>エージェントの「作業」を</a:t>
            </a:r>
          </a:p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</a:rPr>
              <a:t>別の場所に持っていけるとしたら？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VM時代は「移行」に数時間〜数日かかった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AIエージェント時代は？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Remote Control — UIだけリモート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51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78D4"/>
                </a:solidFill>
                <a:latin typeface="Meiryo"/>
              </a:rPr>
              <a:t>（2026/02/24 発表 · Max/Proプラン）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20772"/>
            <a:ext cx="11183112" cy="22174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>
                <a:solidFill>
                  <a:srgbClr val="323130"/>
                </a:solidFill>
                <a:latin typeface="MS Gothic"/>
              </a:rPr>
              <a:t>+-----------------------+             +------------------+
|     ローカルPC        |             |    claude.ai     |
|                       |             |                  |
| Claude Code（実行中） |  &lt;--TLS--&gt;  | Web / モバイルUI |
| - ファイルシステム    |             | QRコードで即接続 |
| - MCP サーバー        |             | スマホでも操作可 |
| - プロジェクト設定    |             |                  |
+-----------------------+             +------------------+
 コードはローカルに留まる！メッセージだけが流れる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29632"/>
            <a:ext cx="11183112" cy="1059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500">
                <a:solidFill>
                  <a:srgbClr val="C7254E"/>
                </a:solidFill>
                <a:latin typeface="Consolas"/>
              </a:rPr>
              <a:t>claude remote-control</a:t>
            </a:r>
            <a:r>
              <a:rPr sz="1800">
                <a:solidFill>
                  <a:srgbClr val="323130"/>
                </a:solidFill>
                <a:latin typeface="Meiryo"/>
              </a:rPr>
              <a:t> または </a:t>
            </a:r>
            <a:r>
              <a:rPr sz="1500">
                <a:solidFill>
                  <a:srgbClr val="C7254E"/>
                </a:solidFill>
                <a:latin typeface="Consolas"/>
              </a:rPr>
              <a:t>/rc</a:t>
            </a:r>
            <a:r>
              <a:rPr sz="1800">
                <a:solidFill>
                  <a:srgbClr val="323130"/>
                </a:solidFill>
                <a:latin typeface="Meiryo"/>
              </a:rPr>
              <a:t> で起動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受信ポートは一切開かない（アウトバウンドHTTPSのみ）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</a:rPr>
              <a:t> / </a:t>
            </a:r>
            <a:r>
              <a:rPr sz="18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1800">
                <a:solidFill>
                  <a:srgbClr val="323130"/>
                </a:solidFill>
                <a:latin typeface="Meiryo"/>
              </a:rPr>
              <a:t> / </a:t>
            </a:r>
            <a:r>
              <a:rPr sz="18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2E7D32"/>
                </a:solidFill>
                <a:latin typeface="Meiryo"/>
              </a:rPr>
              <a:t>オンプレ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323130"/>
                </a:solidFill>
                <a:latin typeface="Meiryo"/>
              </a:rPr>
              <a:t>• </a:t>
            </a:r>
            <a:r>
              <a:rPr sz="1800" b="1">
                <a:solidFill>
                  <a:srgbClr val="323130"/>
                </a:solidFill>
                <a:latin typeface="Meiryo"/>
              </a:rPr>
              <a:t>操作UI</a:t>
            </a:r>
            <a:r>
              <a:rPr sz="1800">
                <a:solidFill>
                  <a:srgbClr val="323130"/>
                </a:solidFill>
                <a:latin typeface="Meiryo"/>
              </a:rPr>
              <a:t> </a:t>
            </a:r>
            <a:r>
              <a:rPr sz="1500" b="1">
                <a:solidFill>
                  <a:srgbClr val="C62828"/>
                </a:solidFill>
                <a:latin typeface="Meiryo"/>
              </a:rPr>
              <a:t>SaaS</a:t>
            </a:r>
            <a:r>
              <a:rPr sz="1800">
                <a:solidFill>
                  <a:srgbClr val="323130"/>
                </a:solidFill>
                <a:latin typeface="Meiryo"/>
              </a:rPr>
              <a:t> claude.ai（Web / モバイル）← 実行はオンプレのまま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Claude Code on the Web — クラウドで自律実行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26289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323130"/>
                </a:solidFill>
                <a:latin typeface="MS Gothic"/>
              </a:rPr>
              <a:t>PC Terminal:
  claude --remote "認証バグを修正して"
        ↓
+-------------------------------+
| Anthropic 管理クラウドVM      |
| - GitHub リポジトリをクローン |
| - テスト実行・コード修正      |
| - PR 作成まで自律実行         |
+-------------------------------+
        ↓
  claude --teleport  ← ローカルに持ち帰り可能
  （会話履歴 + ブランチごと）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79"/>
            <a:ext cx="11183112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</a:rPr>
              <a:t>並列実行可能</a:t>
            </a:r>
            <a:r>
              <a:rPr sz="1700">
                <a:solidFill>
                  <a:srgbClr val="323130"/>
                </a:solidFill>
                <a:latin typeface="Meiryo"/>
              </a:rPr>
              <a:t>：</a:t>
            </a:r>
            <a:r>
              <a:rPr sz="1400">
                <a:solidFill>
                  <a:srgbClr val="C7254E"/>
                </a:solidFill>
                <a:latin typeface="Consolas"/>
              </a:rPr>
              <a:t>--remote</a:t>
            </a:r>
            <a:r>
              <a:rPr sz="1700">
                <a:solidFill>
                  <a:srgbClr val="323130"/>
                </a:solidFill>
                <a:latin typeface="Meiryo"/>
              </a:rPr>
              <a:t> を複数回叩けばタスクが並走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</a:rPr>
              <a:t>• Web → ローカルの一方向ハンドオフ（逆は新規セッション）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</a:rPr>
              <a:t>クラウド実行時</a:t>
            </a:r>
            <a:r>
              <a:rPr sz="1700">
                <a:solidFill>
                  <a:srgbClr val="323130"/>
                </a:solidFill>
                <a:latin typeface="Meiryo"/>
              </a:rPr>
              <a:t>: </a:t>
            </a:r>
            <a:r>
              <a:rPr sz="17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1700">
                <a:solidFill>
                  <a:srgbClr val="323130"/>
                </a:solidFill>
                <a:latin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1700">
                <a:solidFill>
                  <a:srgbClr val="323130"/>
                </a:solidFill>
                <a:latin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1700">
                <a:solidFill>
                  <a:srgbClr val="323130"/>
                </a:solidFill>
                <a:latin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</a:rPr>
              <a:t>（GitHub経由のみ）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</a:rPr>
              <a:t>• </a:t>
            </a:r>
            <a:r>
              <a:rPr sz="1700" b="1">
                <a:solidFill>
                  <a:srgbClr val="323130"/>
                </a:solidFill>
                <a:latin typeface="Meiryo"/>
              </a:rPr>
              <a:t>teleport後</a:t>
            </a:r>
            <a:r>
              <a:rPr sz="1700">
                <a:solidFill>
                  <a:srgbClr val="323130"/>
                </a:solidFill>
                <a:latin typeface="Meiryo"/>
              </a:rPr>
              <a:t>: </a:t>
            </a:r>
            <a:r>
              <a:rPr sz="17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1700">
                <a:solidFill>
                  <a:srgbClr val="323130"/>
                </a:solidFill>
                <a:latin typeface="Meiryo"/>
              </a:rPr>
              <a:t> </a:t>
            </a:r>
            <a:r>
              <a:rPr sz="1400" b="1">
                <a:solidFill>
                  <a:srgbClr val="C62828"/>
                </a:solidFill>
                <a:latin typeface="Meiryo"/>
              </a:rPr>
              <a:t>SaaS</a:t>
            </a:r>
            <a:r>
              <a:rPr sz="1700">
                <a:solidFill>
                  <a:srgbClr val="323130"/>
                </a:solidFill>
                <a:latin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1700">
                <a:solidFill>
                  <a:srgbClr val="323130"/>
                </a:solidFill>
                <a:latin typeface="Meiryo"/>
              </a:rPr>
              <a:t> </a:t>
            </a:r>
            <a:r>
              <a:rPr sz="14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1700">
                <a:solidFill>
                  <a:srgbClr val="323130"/>
                </a:solidFill>
                <a:latin typeface="Meiryo"/>
              </a:rPr>
              <a:t> / </a:t>
            </a:r>
            <a:r>
              <a:rPr sz="17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1700">
                <a:solidFill>
                  <a:srgbClr val="323130"/>
                </a:solidFill>
                <a:latin typeface="Meiryo"/>
              </a:rPr>
              <a:t> </a:t>
            </a:r>
            <a:r>
              <a:rPr sz="1400" b="1">
                <a:solidFill>
                  <a:srgbClr val="2E7D32"/>
                </a:solidFill>
                <a:latin typeface="Meiryo"/>
              </a:rPr>
              <a:t>オンプレ</a:t>
            </a:r>
            <a:r>
              <a:rPr sz="1700">
                <a:solidFill>
                  <a:srgbClr val="323130"/>
                </a:solidFill>
                <a:latin typeface="Meiryo"/>
              </a:rPr>
              <a:t> + </a:t>
            </a:r>
            <a:r>
              <a:rPr sz="1400" b="1">
                <a:solidFill>
                  <a:srgbClr val="C62828"/>
                </a:solidFill>
                <a:latin typeface="Meiryo"/>
              </a:rPr>
              <a:t>SaaS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323130"/>
                </a:solidFill>
                <a:latin typeface="Meiryo"/>
              </a:rPr>
              <a:t>    • ローカルファイル・MCP・認証情報が加わり、コンテキストを大幅に拡張できる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2つの「引き継ぎ」パターン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38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</a:rPr>
                        <a:t>Remote Control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</a:rPr>
                        <a:t>Cloud on the Web
（クラウド実行時）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43A5E"/>
                          </a:solidFill>
                          <a:latin typeface="Meiryo"/>
                        </a:rPr>
                        <a:t>Cloud on the Web
（teleport後）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実行場所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ローカルPC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クラウドVM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→ ローカルPC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会話履歴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そのまま継続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クラウドに蓄積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✅ ローカルに引き継ぎ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コンテキスト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✅ 全てアクセス可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❌ GitHub経由のみ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✅ 全て + 会話履歴も引き継ぎ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MCP サーバー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✅ 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❌ 使えない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✅ 使える</a:t>
                      </a:r>
                    </a:p>
                  </a:txBody>
                  <a:tcPr/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並列実行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❌ 1セッション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✅ 何タスクでも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23130"/>
                          </a:solidFill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9660"/>
            <a:ext cx="11183112" cy="10896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共通点: VMを引っ越すより圧倒的に軽い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→ これが「本当のハイブリッド」を可能にする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6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なぜ今「本当のハイブリッド」なのか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昔と今の決定的な違い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3300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471532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</a:rPr>
                        <a:t>VM時代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43A5E"/>
                          </a:solidFill>
                          <a:latin typeface="Meiryo"/>
                        </a:rPr>
                        <a:t>AIエージェント時代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移動対象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VM（数十GB〜）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会話・設定ファイル（数KB〜MB）・コンテキスト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移動コスト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高い（ダウンタイム）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ほぼゼロ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構成の自由度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ベンダーロックイン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ツール・モデル・場所を自由選択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標準化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各社独自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MCP, OpenAI互換API等</a:t>
                      </a:r>
                    </a:p>
                  </a:txBody>
                  <a:tcPr/>
                </a:tc>
              </a:tr>
              <a:tr h="4715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最強の頭脳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自社で構築・運用可能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外部サービスに依存せざるを得ない</a:t>
                      </a:r>
                    </a:p>
                  </a:txBody>
                  <a:tcPr/>
                </a:tc>
              </a:tr>
              <a:tr h="47153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乗り換えコスト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高い（再構築・移行）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23130"/>
                          </a:solidFill>
                          <a:latin typeface="Meiryo"/>
                        </a:rPr>
                        <a:t>ほぼゼロ（モデル・ツールを即座に切替可）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69510"/>
            <a:ext cx="11183112" cy="1019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323130"/>
                </a:solidFill>
                <a:latin typeface="Meiryo"/>
              </a:rPr>
              <a:t>モビリティが高い + 最強モデルは外部 + 乗り換えコストほぼゼロ</a:t>
            </a:r>
          </a:p>
          <a:p>
            <a:pPr>
              <a:spcAft>
                <a:spcPts val="300"/>
              </a:spcAft>
            </a:pPr>
            <a:r>
              <a:rPr sz="1900">
                <a:solidFill>
                  <a:srgbClr val="323130"/>
                </a:solidFill>
                <a:latin typeface="Meiryo"/>
              </a:rPr>
              <a:t>→ ハイブリッド/マルチクラウドが「必然」になる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標準化の波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</a:rPr>
              <a:t>MCP</a:t>
            </a:r>
            <a:r>
              <a:rPr sz="2400">
                <a:solidFill>
                  <a:srgbClr val="323130"/>
                </a:solidFill>
                <a:latin typeface="Meiryo"/>
              </a:rPr>
              <a:t>（Model Context Protocol） — エージェントとツール・データの接続標準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</a:rPr>
              <a:t>A2A</a:t>
            </a:r>
            <a:r>
              <a:rPr sz="2400">
                <a:solidFill>
                  <a:srgbClr val="323130"/>
                </a:solidFill>
                <a:latin typeface="Meiryo"/>
              </a:rPr>
              <a:t>（Agent2Agent Protocol） — エージェント間の通信・タスク委任標準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</a:rPr>
              <a:t>CLAUDE.md / AGENTS.md / GEMINI.md</a:t>
            </a:r>
            <a:r>
              <a:rPr sz="2400">
                <a:solidFill>
                  <a:srgbClr val="323130"/>
                </a:solidFill>
                <a:latin typeface="Meiryo"/>
              </a:rPr>
              <a:t> — エージェント設定のファイル化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</a:rPr>
              <a:t>Agent Skills</a:t>
            </a:r>
            <a:r>
              <a:rPr sz="2400">
                <a:solidFill>
                  <a:srgbClr val="323130"/>
                </a:solidFill>
                <a:latin typeface="Meiryo"/>
              </a:rPr>
              <a:t> — 再利用可能な知識パッケージ（クロスプラットフォーム）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</a:t>
            </a:r>
            <a:r>
              <a:rPr sz="2400" b="1">
                <a:solidFill>
                  <a:srgbClr val="323130"/>
                </a:solidFill>
                <a:latin typeface="Meiryo"/>
              </a:rPr>
              <a:t>OpenAI互換API</a:t>
            </a:r>
            <a:r>
              <a:rPr sz="2400">
                <a:solidFill>
                  <a:srgbClr val="323130"/>
                </a:solidFill>
                <a:latin typeface="Meiryo"/>
              </a:rPr>
              <a:t> — 異なるモデルプロバイダーを同じIFで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→ </a:t>
            </a:r>
            <a:r>
              <a:rPr sz="2400" b="1">
                <a:solidFill>
                  <a:srgbClr val="323130"/>
                </a:solidFill>
                <a:latin typeface="Meiryo"/>
              </a:rPr>
              <a:t>Agentic AI Foundation</a:t>
            </a:r>
            <a:r>
              <a:rPr sz="2400">
                <a:solidFill>
                  <a:srgbClr val="323130"/>
                </a:solidFill>
                <a:latin typeface="Meiryo"/>
              </a:rPr>
              <a:t>（Linux Foundation, 2025/12〜）で中立的に推進中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標準化 = ポータビリティ = ハイブリッド/マルチクラウドの基盤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人の数だけ構成がある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• Aさん: Claude Code + Obsidian + Azure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• Bさん: Copilot CLI + GitHub + AWS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• Cさん: Cursor + Notion + GCP</a:t>
            </a:r>
          </a:p>
          <a:p>
            <a:pPr>
              <a:spcAft>
                <a:spcPts val="800"/>
              </a:spcAft>
            </a:pPr>
            <a:r>
              <a:rPr sz="3500">
                <a:solidFill>
                  <a:srgbClr val="323130"/>
                </a:solidFill>
                <a:latin typeface="Meiryo"/>
              </a:rPr>
              <a:t>• Dさん: ローカルLLM + VS Code + オンプレ</a:t>
            </a:r>
          </a:p>
          <a:p>
            <a:pPr>
              <a:spcAft>
                <a:spcPts val="700"/>
              </a:spcAft>
            </a:pPr>
            <a:r>
              <a:rPr sz="3500" b="1">
                <a:solidFill>
                  <a:srgbClr val="323130"/>
                </a:solidFill>
                <a:latin typeface="Meiryo"/>
              </a:rPr>
              <a:t>同じ「AIでコーディング」でも構成は十人十色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🧠 頭の体操タイム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あなたの環境を整理してみよう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100" b="1">
                <a:solidFill>
                  <a:srgbClr val="0078D4"/>
                </a:solidFill>
                <a:latin typeface="Meiryo"/>
              </a:rPr>
              <a:t>3つの要素で考えてみてください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</a:rPr>
              <a:t>: どのLLMを、どこで動かしている？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2700">
                <a:solidFill>
                  <a:srgbClr val="323130"/>
                </a:solidFill>
                <a:latin typeface="Meiryo"/>
              </a:rPr>
              <a:t>: どのソフトを使っている？ローカル？SaaS？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</a:t>
            </a:r>
            <a:r>
              <a:rPr sz="27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</a:rPr>
              <a:t>: 情報はどこに、どんな形で持っている？何が使えれば便利？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もしも制約がないなら、どんな構成にしたいですか？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Part 7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AIエージェントの動力源 =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AIエージェントは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38379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</a:rPr>
              <a:t>APIがなければ</a:t>
            </a:r>
          </a:p>
          <a:p>
            <a:pPr>
              <a:spcAft>
                <a:spcPts val="1700"/>
              </a:spcAft>
            </a:pPr>
            <a:r>
              <a:rPr sz="5800" b="1">
                <a:solidFill>
                  <a:srgbClr val="0078D4"/>
                </a:solidFill>
                <a:latin typeface="Meiryo"/>
              </a:rPr>
              <a:t>手も足も出ない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エージェントが仕事をする仕組み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9199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0078D4"/>
                </a:solidFill>
                <a:latin typeface="Meiryo"/>
              </a:rPr>
              <a:t>外部サービスへのアクセス = すべてAPI経由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88768"/>
          <a:ext cx="11183112" cy="253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1556"/>
                <a:gridCol w="5591556"/>
              </a:tblGrid>
              <a:tr h="36267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</a:rPr>
                        <a:t>操作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43A5E"/>
                          </a:solidFill>
                          <a:latin typeface="Meiryo"/>
                        </a:rPr>
                        <a:t>手段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ファイル読み書き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OS API（ローカル）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コマンド実行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シェル = 広義のAPI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Git操作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git コマンド / GitHub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カレンダー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Google Calendar API</a:t>
                      </a:r>
                    </a:p>
                  </a:txBody>
                  <a:tcPr/>
                </a:tc>
              </a:tr>
              <a:tr h="3626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Azureリソース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Azure Resource Manager API</a:t>
                      </a:r>
                    </a:p>
                  </a:txBody>
                  <a:tcPr/>
                </a:tc>
              </a:tr>
              <a:tr h="3626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複数ツール統合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23130"/>
                          </a:solidFill>
                          <a:latin typeface="Meiryo"/>
                        </a:rPr>
                        <a:t>MCP（内部でREST API等を呼び出し）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8938"/>
            <a:ext cx="11183112" cy="77038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700">
                <a:solidFill>
                  <a:srgbClr val="323130"/>
                </a:solidFill>
                <a:latin typeface="Meiryo"/>
              </a:rPr>
              <a:t>MCPも結局は</a:t>
            </a:r>
            <a:r>
              <a:rPr sz="1700" b="1">
                <a:solidFill>
                  <a:srgbClr val="323130"/>
                </a:solidFill>
                <a:latin typeface="Meiryo"/>
              </a:rPr>
              <a:t>裏でAPIを叩いている</a:t>
            </a:r>
            <a:r>
              <a:rPr sz="1700">
                <a:solidFill>
                  <a:srgbClr val="323130"/>
                </a:solidFill>
                <a:latin typeface="Meiryo"/>
              </a:rPr>
              <a:t>。標準化で抽象化されても、土台はAPI。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323130"/>
                </a:solidFill>
                <a:latin typeface="Meiryo"/>
              </a:rPr>
              <a:t>APIがない場所 = エージェントが「触れない場所」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クラウドはAPIが当たり前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• Azure: Resource Manager API、Storage API、Kubernetes API…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• AWS / GCP: 全リソースがREST API経由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</a:rPr>
              <a:t>エージェントにとってクラウドは「天国」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    • 読める・作れる・消せる・設定できる → すべてAPIで自在に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💬 Kelsey Hightower（Google / Kubernetes）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2900" b="1">
                <a:solidFill>
                  <a:srgbClr val="0078D4"/>
                </a:solidFill>
                <a:latin typeface="Meiryo"/>
              </a:rPr>
              <a:t>"No one wants to manage infrastructure.
They want to consume it via API."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</a:rPr>
              <a:t>• Kubernetes の生みの親の一人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</a:rPr>
              <a:t>• 「インフラはAPIで消費するもの」という思想を一貫して主張</a:t>
            </a:r>
          </a:p>
          <a:p>
            <a:pPr>
              <a:spcAft>
                <a:spcPts val="600"/>
              </a:spcAft>
            </a:pPr>
            <a:r>
              <a:rPr sz="2600">
                <a:solidFill>
                  <a:srgbClr val="323130"/>
                </a:solidFill>
                <a:latin typeface="Meiryo"/>
              </a:rPr>
              <a:t>• KubernetesはオンプレをAPIで包む「プラットフォームのプラットフォーム」</a:t>
            </a:r>
          </a:p>
          <a:p>
            <a:pPr>
              <a:spcAft>
                <a:spcPts val="500"/>
              </a:spcAft>
            </a:pPr>
            <a:r>
              <a:rPr sz="2600">
                <a:solidFill>
                  <a:srgbClr val="323130"/>
                </a:solidFill>
                <a:latin typeface="Meiryo"/>
              </a:rPr>
              <a:t>この哲学がそのままAIエージェント時代の答えになっている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オンプレミスは？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3600" b="1">
                <a:solidFill>
                  <a:srgbClr val="0078D4"/>
                </a:solidFill>
                <a:latin typeface="Meiryo"/>
              </a:rPr>
              <a:t>APIが限定的だった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</a:rPr>
              <a:t>• 昔のシステム: GUIや独自プロトコルが中心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</a:rPr>
              <a:t>• 管理: 専用コンソールを人間が直接操作</a:t>
            </a:r>
          </a:p>
          <a:p>
            <a:pPr>
              <a:spcAft>
                <a:spcPts val="800"/>
              </a:spcAft>
            </a:pPr>
            <a:r>
              <a:rPr sz="3200">
                <a:solidFill>
                  <a:srgbClr val="323130"/>
                </a:solidFill>
                <a:latin typeface="Meiryo"/>
              </a:rPr>
              <a:t>• 自動化: スクリプト職人が個別に対応</a:t>
            </a:r>
          </a:p>
          <a:p>
            <a:pPr>
              <a:spcAft>
                <a:spcPts val="600"/>
              </a:spcAft>
            </a:pPr>
            <a:r>
              <a:rPr sz="3200" b="1">
                <a:solidFill>
                  <a:srgbClr val="323130"/>
                </a:solidFill>
                <a:latin typeface="Meiryo"/>
              </a:rPr>
              <a:t>「手作業で困っていない」が通用した時代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AIエージェントの目線で見ると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1160"/>
          <a:ext cx="11183112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57277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</a:rPr>
                        <a:t>環境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</a:rPr>
                        <a:t>APIの充実度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243A5E"/>
                          </a:solidFill>
                          <a:latin typeface="Meiryo"/>
                        </a:rPr>
                        <a:t>エージェントの働ける範囲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クラウド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◎ 全操作がAPI化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自在に仕事できる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API整備済みオンプレ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かなり仕事できる</a:t>
                      </a:r>
                    </a:p>
                  </a:txBody>
                  <a:tcPr/>
                </a:tc>
              </a:tr>
              <a:tr h="57277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従来型オンプレ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△〜×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323130"/>
                          </a:solidFill>
                          <a:latin typeface="Meiryo"/>
                        </a:rPr>
                        <a:t>手を出せる範囲が限定的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043679"/>
            <a:ext cx="11183112" cy="171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323130"/>
                </a:solidFill>
                <a:latin typeface="Meiryo"/>
              </a:rPr>
              <a:t>インフラのAPI化 = エージェントへの「権限委譲」が可能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Azure Arcで実現する世界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2600" b="1">
                <a:solidFill>
                  <a:srgbClr val="0078D4"/>
                </a:solidFill>
                <a:latin typeface="Meiryo"/>
              </a:rPr>
              <a:t>オンプレにも同じAPIと同じセキュリティモデルを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</a:rPr>
              <a:t>Azure Local</a:t>
            </a:r>
            <a:r>
              <a:rPr sz="2300">
                <a:solidFill>
                  <a:srgbClr val="323130"/>
                </a:solidFill>
                <a:latin typeface="Meiryo"/>
              </a:rPr>
              <a:t> → オンプレのインフラをAzure APIで操作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</a:rPr>
              <a:t>Arc-enabled Servers</a:t>
            </a:r>
            <a:r>
              <a:rPr sz="2300">
                <a:solidFill>
                  <a:srgbClr val="323130"/>
                </a:solidFill>
                <a:latin typeface="Meiryo"/>
              </a:rPr>
              <a:t> → 普通のサーバーもAzure Resource Managerで管理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</a:rPr>
              <a:t>Arc-enabled Kubernetes</a:t>
            </a:r>
            <a:r>
              <a:rPr sz="2300">
                <a:solidFill>
                  <a:srgbClr val="323130"/>
                </a:solidFill>
                <a:latin typeface="Meiryo"/>
              </a:rPr>
              <a:t> → 既存のK8sクラスターをAzure APIで管理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</a:rPr>
              <a:t>AKS enabled by Azure Arc</a:t>
            </a:r>
            <a:r>
              <a:rPr sz="2300">
                <a:solidFill>
                  <a:srgbClr val="323130"/>
                </a:solidFill>
                <a:latin typeface="Meiryo"/>
              </a:rPr>
              <a:t> → Azure Local上でAKSを運用</a:t>
            </a:r>
          </a:p>
          <a:p>
            <a:pPr>
              <a:spcAft>
                <a:spcPts val="5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• </a:t>
            </a:r>
            <a:r>
              <a:rPr sz="2300" b="1">
                <a:solidFill>
                  <a:srgbClr val="323130"/>
                </a:solidFill>
                <a:latin typeface="Meiryo"/>
              </a:rPr>
              <a:t>Arc-enabled Data Services</a:t>
            </a:r>
            <a:r>
              <a:rPr sz="2300">
                <a:solidFill>
                  <a:srgbClr val="323130"/>
                </a:solidFill>
                <a:latin typeface="Meiryo"/>
              </a:rPr>
              <a:t> → DBもAzure APIで運用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→ </a:t>
            </a:r>
            <a:r>
              <a:rPr sz="2300" b="1">
                <a:solidFill>
                  <a:srgbClr val="323130"/>
                </a:solidFill>
                <a:latin typeface="Meiryo"/>
              </a:rPr>
              <a:t>API</a:t>
            </a:r>
            <a:r>
              <a:rPr sz="2300">
                <a:solidFill>
                  <a:srgbClr val="323130"/>
                </a:solidFill>
                <a:latin typeface="Meiryo"/>
              </a:rPr>
              <a:t> だけでなく </a:t>
            </a:r>
            <a:r>
              <a:rPr sz="2300" b="1">
                <a:solidFill>
                  <a:srgbClr val="323130"/>
                </a:solidFill>
                <a:latin typeface="Meiryo"/>
              </a:rPr>
              <a:t>Azure RBAC</a:t>
            </a:r>
            <a:r>
              <a:rPr sz="2300">
                <a:solidFill>
                  <a:srgbClr val="323130"/>
                </a:solidFill>
                <a:latin typeface="Meiryo"/>
              </a:rPr>
              <a:t> も統一される</a:t>
            </a:r>
          </a:p>
          <a:p>
            <a:pPr>
              <a:spcAft>
                <a:spcPts val="400"/>
              </a:spcAft>
            </a:pPr>
            <a:r>
              <a:rPr sz="2300">
                <a:solidFill>
                  <a:srgbClr val="323130"/>
                </a:solidFill>
                <a:latin typeface="Meiryo"/>
              </a:rPr>
              <a:t>→ エージェントから見ると「クラウドとオンプレの差がなくなる」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クラウドとオンプレを同じAPIと同じRBACで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7340"/>
            <a:ext cx="11183112" cy="38633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>
                <a:solidFill>
                  <a:srgbClr val="323130"/>
                </a:solidFill>
                <a:latin typeface="MS Gothic"/>
              </a:rPr>
              <a:t>AIエージェント（Claude Code / Cursor / Copilot...）
              | 同じ API + 同じ RBAC
+-------------------------------------+
|       Azure Resource Manager        |
|     (API + RBAC + Azure Policy)     |
+------------------+------------------+
| Azure (クラウド) |  オンプレミス    |
|  - VMs           |  - Azure Local   |
|  - AKS           |  - Arc Servers   |
|  - Databases     |  - AKS Arc       |
|  - Functions     |  - Arc Data Svc  |
+------------------+------------------+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11183112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500" b="1">
                <a:solidFill>
                  <a:srgbClr val="323130"/>
                </a:solidFill>
                <a:latin typeface="Meiryo"/>
              </a:rPr>
              <a:t>エージェントは自由に動ける。管理者はRBACで権限をコントロールできる。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Azure Arc =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300" b="1">
                <a:solidFill>
                  <a:srgbClr val="0078D4"/>
                </a:solidFill>
                <a:latin typeface="Meiryo"/>
              </a:rPr>
              <a:t>AIエージェントにとって最高の環境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</a:rPr>
              <a:t>API</a:t>
            </a:r>
            <a:r>
              <a:rPr sz="3100">
                <a:solidFill>
                  <a:srgbClr val="323130"/>
                </a:solidFill>
                <a:latin typeface="Meiryo"/>
              </a:rPr>
              <a:t>: クラウドもオンプレも同じように操作できる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</a:rPr>
              <a:t>RBAC</a:t>
            </a:r>
            <a:r>
              <a:rPr sz="3100">
                <a:solidFill>
                  <a:srgbClr val="323130"/>
                </a:solidFill>
                <a:latin typeface="Meiryo"/>
              </a:rPr>
              <a:t>: 一貫したセキュリティモデルで権限制御</a:t>
            </a:r>
          </a:p>
          <a:p>
            <a:pPr>
              <a:spcAft>
                <a:spcPts val="700"/>
              </a:spcAft>
            </a:pPr>
            <a:r>
              <a:rPr sz="3100">
                <a:solidFill>
                  <a:srgbClr val="323130"/>
                </a:solidFill>
                <a:latin typeface="Meiryo"/>
              </a:rPr>
              <a:t>• </a:t>
            </a:r>
            <a:r>
              <a:rPr sz="3100" b="1">
                <a:solidFill>
                  <a:srgbClr val="323130"/>
                </a:solidFill>
                <a:latin typeface="Meiryo"/>
              </a:rPr>
              <a:t>自由 × 統制</a:t>
            </a:r>
            <a:r>
              <a:rPr sz="3100">
                <a:solidFill>
                  <a:srgbClr val="323130"/>
                </a:solidFill>
                <a:latin typeface="Meiryo"/>
              </a:rPr>
              <a:t>: エージェントは縦横無尽、管理者はしっかり制御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「セルフサービス化・クラウドネイティブ化」の真の意味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0574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194560"/>
          <a:ext cx="1118311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7704"/>
                <a:gridCol w="3727704"/>
                <a:gridCol w="3727704"/>
              </a:tblGrid>
              <a:tr h="670560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</a:rPr>
                        <a:t>時代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</a:rPr>
                        <a:t>理解されにくかった理由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243A5E"/>
                          </a:solidFill>
                          <a:latin typeface="Meiryo"/>
                        </a:rPr>
                        <a:t>AIエージェント時代の説明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</a:rPr>
                        <a:t>従来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</a:rPr>
                        <a:t>「手作業で困ってません」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</a:rPr>
                        <a:t>✗ 刺さらない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</a:rPr>
                        <a:t>AI時代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</a:rPr>
                        <a:t>「APIがないとエージェントが仕事できません」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323130"/>
                          </a:solidFill>
                          <a:latin typeface="Meiryo"/>
                        </a:rPr>
                        <a:t>✓ 即わかる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79"/>
            <a:ext cx="11183112" cy="980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323130"/>
                </a:solidFill>
                <a:latin typeface="Meiryo"/>
              </a:rPr>
              <a:t>インフラを整えることの意味が、初めて全員に伝わる時代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まとめ</a:t>
            </a:r>
          </a:p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じゃあ、何をすればいいのか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もう一度この表を見てみよう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77340"/>
          <a:ext cx="11183112" cy="221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5778"/>
                <a:gridCol w="2795778"/>
                <a:gridCol w="2795778"/>
                <a:gridCol w="2795778"/>
              </a:tblGrid>
              <a:tr h="5537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</a:rPr>
                        <a:t>オンプレ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</a:rPr>
                        <a:t>クラウド基盤（IaaS/PaaS）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43A5E"/>
                          </a:solidFill>
                          <a:latin typeface="Meiryo"/>
                        </a:rPr>
                        <a:t>SaaS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モデル(実行基盤)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Ollama, vLLM等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Microsoft Foundry等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OpenAI API, Anthropic API, Google AI API等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エージェントソフト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自作, Claude Code, Codex, Gemini CLI, GitHub Copilot CLI　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GitHub Copilot Coding Agent, Claude Code on the Web, Devin　など</a:t>
                      </a:r>
                    </a:p>
                  </a:txBody>
                  <a:tcPr/>
                </a:tc>
              </a:tr>
              <a:tr h="553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コンテキスト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ファイル（CLAUDE.md, フォルダ構造で工夫）/ Gitレポジトリ, GitLab / DB・ベクトルストア など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23130"/>
                          </a:solidFill>
                          <a:latin typeface="Meiryo"/>
                        </a:rPr>
                        <a:t>GitHubレポジトリ, Copilot Spaces, M365, WorkIQ, Google Workspaces, Notion 等(※API, MCP経由でどこでもつながる)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883659"/>
            <a:ext cx="11183112" cy="21056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🧠 </a:t>
            </a:r>
            <a:r>
              <a:rPr sz="16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1600">
                <a:solidFill>
                  <a:srgbClr val="323130"/>
                </a:solidFill>
                <a:latin typeface="Meiryo"/>
              </a:rPr>
              <a:t> → 用途に合わせて自由に選択すればいい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🤖 </a:t>
            </a:r>
            <a:r>
              <a:rPr sz="1600" b="1">
                <a:solidFill>
                  <a:srgbClr val="323130"/>
                </a:solidFill>
                <a:latin typeface="Meiryo"/>
              </a:rPr>
              <a:t>エージェントソフト</a:t>
            </a:r>
            <a:r>
              <a:rPr sz="1600">
                <a:solidFill>
                  <a:srgbClr val="323130"/>
                </a:solidFill>
                <a:latin typeface="Meiryo"/>
              </a:rPr>
              <a:t> → その時々の最強を使えばいい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🏃 </a:t>
            </a:r>
            <a:r>
              <a:rPr sz="1600" b="1">
                <a:solidFill>
                  <a:srgbClr val="323130"/>
                </a:solidFill>
                <a:latin typeface="Meiryo"/>
              </a:rPr>
              <a:t>配置先</a:t>
            </a:r>
            <a:r>
              <a:rPr sz="1600">
                <a:solidFill>
                  <a:srgbClr val="323130"/>
                </a:solidFill>
                <a:latin typeface="Meiryo"/>
              </a:rPr>
              <a:t> → 本質的にどこでもOK。きちんと整備しておけばいい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⚡ </a:t>
            </a:r>
            <a:r>
              <a:rPr sz="1600" b="1">
                <a:solidFill>
                  <a:srgbClr val="323130"/>
                </a:solidFill>
                <a:latin typeface="Meiryo"/>
              </a:rPr>
              <a:t>前提: すべてにAPIがあること</a:t>
            </a:r>
            <a:r>
              <a:rPr sz="1600">
                <a:solidFill>
                  <a:srgbClr val="323130"/>
                </a:solidFill>
                <a:latin typeface="Meiryo"/>
              </a:rPr>
              <a:t>（APIがなければエージェントは動けない）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</a:rPr>
              <a:t>→ APIさえあればAIエージェント側は自由に動ける。残るのは…？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113157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5400" b="1">
                <a:solidFill>
                  <a:srgbClr val="0078D4"/>
                </a:solidFill>
                <a:latin typeface="Meiryo"/>
              </a:rPr>
              <a:t>残るのはコンテキスト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1737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54530"/>
            <a:ext cx="11183112" cy="403478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</a:rPr>
              <a:t>• M365、DB、社内システム、ファイルサーバー…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</a:rPr>
              <a:t>• </a:t>
            </a:r>
            <a:r>
              <a:rPr sz="3800" b="1">
                <a:solidFill>
                  <a:srgbClr val="323130"/>
                </a:solidFill>
                <a:latin typeface="Meiryo"/>
              </a:rPr>
              <a:t>「動かせない既存の大量のデータやシステム」</a:t>
            </a:r>
          </a:p>
          <a:p>
            <a:pPr>
              <a:spcAft>
                <a:spcPts val="900"/>
              </a:spcAft>
            </a:pPr>
            <a:r>
              <a:rPr sz="3800">
                <a:solidFill>
                  <a:srgbClr val="323130"/>
                </a:solidFill>
                <a:latin typeface="Meiryo"/>
              </a:rPr>
              <a:t>• これは企業ごとに全く違う。ここだけは自分たちで整備するしかない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ここでもArcが効く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例：オンプレのファイルサーバーにもArcを入れて管理しておけば → </a:t>
            </a:r>
            <a:r>
              <a:rPr sz="2200" b="1">
                <a:solidFill>
                  <a:srgbClr val="323130"/>
                </a:solidFill>
                <a:latin typeface="Meiryo"/>
              </a:rPr>
              <a:t>AIエージェントがそこにアクセスしてコンテキストを取得できる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Arcは「基盤の管理」だけでなく「コンテキストへの道」でもある</a:t>
            </a:r>
          </a:p>
          <a:p>
            <a:pPr>
              <a:spcAft>
                <a:spcPts val="5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</a:t>
            </a:r>
            <a:r>
              <a:rPr sz="2200" b="1">
                <a:solidFill>
                  <a:srgbClr val="323130"/>
                </a:solidFill>
                <a:latin typeface="Meiryo"/>
              </a:rPr>
              <a:t>どこにあるデータにもエージェントが届く世界</a:t>
            </a:r>
            <a:r>
              <a:rPr sz="2200">
                <a:solidFill>
                  <a:srgbClr val="323130"/>
                </a:solidFill>
                <a:latin typeface="Meiryo"/>
              </a:rPr>
              <a:t>を作る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→ コンテキストをAIエージェント向けに整備して、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エージェントにガンガン動いてもらおう！</a:t>
            </a:r>
          </a:p>
          <a:p>
            <a:pPr>
              <a:spcAft>
                <a:spcPts val="4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これがこれからのインフラ設計の核心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※コンテキスト整備の具体的な方法論は、まだ自分もまとめきれていません。</a:t>
            </a:r>
          </a:p>
          <a:p>
            <a:pPr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別の回で詳しく掘り下げたいと思います！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これを実現した者が先行できる！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2400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1160"/>
            <a:ext cx="11183112" cy="4328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🧠 </a:t>
            </a:r>
            <a:r>
              <a:rPr sz="2700" b="1">
                <a:solidFill>
                  <a:srgbClr val="323130"/>
                </a:solidFill>
                <a:latin typeface="Meiryo"/>
              </a:rPr>
              <a:t>モデル</a:t>
            </a:r>
            <a:r>
              <a:rPr sz="2700">
                <a:solidFill>
                  <a:srgbClr val="323130"/>
                </a:solidFill>
                <a:latin typeface="Meiryo"/>
              </a:rPr>
              <a:t>: 自由に選び・切り替えられる設計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🏃 </a:t>
            </a:r>
            <a:r>
              <a:rPr sz="2700" b="1">
                <a:solidFill>
                  <a:srgbClr val="323130"/>
                </a:solidFill>
                <a:latin typeface="Meiryo"/>
              </a:rPr>
              <a:t>実行環境</a:t>
            </a:r>
            <a:r>
              <a:rPr sz="2700">
                <a:solidFill>
                  <a:srgbClr val="323130"/>
                </a:solidFill>
                <a:latin typeface="Meiryo"/>
              </a:rPr>
              <a:t>: API + RBACでどこでも動ける基盤（Arc!）</a:t>
            </a:r>
          </a:p>
          <a:p>
            <a:pPr>
              <a:spcAft>
                <a:spcPts val="6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• 📜 </a:t>
            </a:r>
            <a:r>
              <a:rPr sz="2700" b="1">
                <a:solidFill>
                  <a:srgbClr val="323130"/>
                </a:solidFill>
                <a:latin typeface="Meiryo"/>
              </a:rPr>
              <a:t>コンテキスト</a:t>
            </a:r>
            <a:r>
              <a:rPr sz="2700">
                <a:solidFill>
                  <a:srgbClr val="323130"/>
                </a:solidFill>
                <a:latin typeface="Meiryo"/>
              </a:rPr>
              <a:t>: 自社のデータ・システムをエージェントに開放（Arc!）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→ </a:t>
            </a:r>
            <a:r>
              <a:rPr sz="2700" b="1">
                <a:solidFill>
                  <a:srgbClr val="323130"/>
                </a:solidFill>
                <a:latin typeface="Meiryo"/>
              </a:rPr>
              <a:t>圧倒的な生産性優位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他社がベンダーロックインや環境制約と格闘している間に、</a:t>
            </a:r>
          </a:p>
          <a:p>
            <a:pPr>
              <a:spcAft>
                <a:spcPts val="500"/>
              </a:spcAft>
            </a:pPr>
            <a:r>
              <a:rPr sz="2700">
                <a:solidFill>
                  <a:srgbClr val="323130"/>
                </a:solidFill>
                <a:latin typeface="Meiryo"/>
              </a:rPr>
              <a:t>この問いを解いた組織が次の時代を作る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AI時代の「本当の」ハイブリッドクラウド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胡田 昌彦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sara_event_th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818" y="2229958"/>
            <a:ext cx="4266133" cy="2398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045360" cy="67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200" b="1">
                <a:solidFill>
                  <a:srgbClr val="0078D4"/>
                </a:solidFill>
                <a:latin typeface="Meiryo"/>
              </a:rPr>
              <a:t>📢 勉強会のお知らせ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56360"/>
            <a:ext cx="7045360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93520"/>
            <a:ext cx="7045360" cy="449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</a:rPr>
              <a:t>Claude Codeライブ × 制約環境の自動化オフレコ</a:t>
            </a:r>
          </a:p>
          <a:p>
            <a:pPr>
              <a:spcAft>
                <a:spcPts val="500"/>
              </a:spcAft>
            </a:pPr>
            <a:r>
              <a:rPr sz="1800" b="1">
                <a:solidFill>
                  <a:srgbClr val="0078D4"/>
                </a:solidFill>
                <a:latin typeface="Meiryo"/>
              </a:rPr>
              <a:t>音楽バーで語るAI昼会 #1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📅 </a:t>
            </a:r>
            <a:r>
              <a:rPr sz="1600" b="1">
                <a:solidFill>
                  <a:srgbClr val="323130"/>
                </a:solidFill>
                <a:latin typeface="Meiryo"/>
              </a:rPr>
              <a:t>2026年4月18日（土）13:30〜16:00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📍 </a:t>
            </a:r>
            <a:r>
              <a:rPr sz="1600" b="1">
                <a:solidFill>
                  <a:srgbClr val="323130"/>
                </a:solidFill>
                <a:latin typeface="Meiryo"/>
              </a:rPr>
              <a:t>Live Bar CheSara（南柏駅 徒歩1分）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💰 </a:t>
            </a:r>
            <a:r>
              <a:rPr sz="1600" b="1">
                <a:solidFill>
                  <a:srgbClr val="323130"/>
                </a:solidFill>
                <a:latin typeface="Meiryo"/>
              </a:rPr>
              <a:t>参加費無料</a:t>
            </a:r>
            <a:r>
              <a:rPr sz="1600">
                <a:solidFill>
                  <a:srgbClr val="323130"/>
                </a:solidFill>
                <a:latin typeface="Meiryo"/>
              </a:rPr>
              <a:t>（ドリンクオーダー別途）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内容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🤖 参加者全員で「今日作るもの」を決めてClaude Codeに実装させる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🎵 AIがコード書いてる間は</a:t>
            </a:r>
            <a:r>
              <a:rPr sz="1600" b="1">
                <a:solidFill>
                  <a:srgbClr val="323130"/>
                </a:solidFill>
                <a:latin typeface="Meiryo"/>
              </a:rPr>
              <a:t>生演奏セッション</a:t>
            </a:r>
            <a:r>
              <a:rPr sz="1600">
                <a:solidFill>
                  <a:srgbClr val="323130"/>
                </a:solidFill>
                <a:latin typeface="Meiryo"/>
              </a:rPr>
              <a:t>！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23130"/>
                </a:solidFill>
                <a:latin typeface="Meiryo"/>
              </a:rPr>
              <a:t>• 🔒 オフレコセッション「会社のルールを守りながら、どこまで自動化できるか」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323130"/>
                </a:solidFill>
                <a:latin typeface="Meiryo"/>
              </a:rPr>
              <a:t>Connpassで参加受付中！</a:t>
            </a:r>
            <a:r>
              <a:rPr sz="1600">
                <a:solidFill>
                  <a:srgbClr val="323130"/>
                </a:solidFill>
                <a:latin typeface="Meiryo"/>
              </a:rPr>
              <a:t> https://ebisuda.connpass.com/event/385849/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💬 質問にお答えします！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どんな質問でも大歓迎です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⏱️ 14:45 - 14:55（10分）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777240"/>
            <a:ext cx="7604516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セッション②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Microsoft "Adaptive Cloud" 最新動向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23130"/>
                </a:solidFill>
                <a:latin typeface="Meiryo"/>
              </a:rPr>
              <a:t>高添 修 氏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Meiryo"/>
              </a:rPr>
              <a:t>日本マイクロソフト株式会社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⏱️ 14:55 - 15:15（20分）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Q&amp;A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💬 質問にお答えします！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⏱️ 15:15 - 15:25（10分）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クロージング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本日のご参加ありがとうございました！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アーカイブはYouTubeチャンネルから視聴可能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資料は後日公開予定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ハッシュタグは </a:t>
            </a:r>
            <a:r>
              <a:rPr sz="2200" b="1">
                <a:solidFill>
                  <a:srgbClr val="323130"/>
                </a:solidFill>
                <a:latin typeface="Meiryo"/>
              </a:rPr>
              <a:t>#HCCJP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266" y="1737472"/>
            <a:ext cx="3656685" cy="3383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0080"/>
            <a:ext cx="7604516" cy="838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000" b="1">
                <a:solidFill>
                  <a:srgbClr val="0078D4"/>
                </a:solidFill>
                <a:latin typeface="Meiryo"/>
              </a:rPr>
              <a:t>📺 チャンネル登録を！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24000"/>
            <a:ext cx="7604516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1160"/>
            <a:ext cx="7604516" cy="40629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</a:pPr>
            <a:r>
              <a:rPr sz="4100" b="1">
                <a:solidFill>
                  <a:srgbClr val="0078D4"/>
                </a:solidFill>
                <a:latin typeface="Meiryo"/>
              </a:rPr>
              <a:t>目指せ 1000人！</a:t>
            </a:r>
          </a:p>
          <a:p>
            <a:pPr>
              <a:spcAft>
                <a:spcPts val="700"/>
              </a:spcAft>
            </a:pPr>
            <a:r>
              <a:rPr sz="3600" b="1">
                <a:solidFill>
                  <a:srgbClr val="323130"/>
                </a:solidFill>
                <a:latin typeface="Meiryo"/>
              </a:rPr>
              <a:t>YouTube HCCJPチャンネル</a:t>
            </a:r>
          </a:p>
          <a:p>
            <a:pPr>
              <a:spcAft>
                <a:spcPts val="700"/>
              </a:spcAft>
            </a:pPr>
            <a:r>
              <a:rPr sz="3600">
                <a:solidFill>
                  <a:srgbClr val="323130"/>
                </a:solidFill>
                <a:latin typeface="Meiryo"/>
              </a:rPr>
              <a:t>毎月第2金曜日の最新情報をお見逃しなく！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183112" cy="754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600" b="1">
                <a:solidFill>
                  <a:srgbClr val="0078D4"/>
                </a:solidFill>
                <a:latin typeface="Meiryo"/>
              </a:rPr>
              <a:t>🙌 HCCJPを一緒に盛り上げませんか？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0180"/>
            <a:ext cx="11183112" cy="25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77340"/>
            <a:ext cx="11183112" cy="44119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HCCJPは</a:t>
            </a:r>
            <a:r>
              <a:rPr sz="2400" b="1">
                <a:solidFill>
                  <a:srgbClr val="323130"/>
                </a:solidFill>
                <a:latin typeface="Meiryo"/>
              </a:rPr>
              <a:t>企業・個人を問わず、誰でも参加できるオープンなコミュニティ</a:t>
            </a:r>
            <a:r>
              <a:rPr sz="2400">
                <a:solidFill>
                  <a:srgbClr val="323130"/>
                </a:solidFill>
                <a:latin typeface="Meiryo"/>
              </a:rPr>
              <a:t>です。</a:t>
            </a:r>
          </a:p>
          <a:p>
            <a:pPr>
              <a:spcAft>
                <a:spcPts val="4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今、特に</a:t>
            </a:r>
            <a:r>
              <a:rPr sz="2400" b="1">
                <a:solidFill>
                  <a:srgbClr val="323130"/>
                </a:solidFill>
                <a:latin typeface="Meiryo"/>
              </a:rPr>
              <a:t>こんな仲間</a:t>
            </a:r>
            <a:r>
              <a:rPr sz="2400">
                <a:solidFill>
                  <a:srgbClr val="323130"/>
                </a:solidFill>
                <a:latin typeface="Meiryo"/>
              </a:rPr>
              <a:t>を募集しています！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🏢 </a:t>
            </a:r>
            <a:r>
              <a:rPr sz="2400" b="1">
                <a:solidFill>
                  <a:srgbClr val="323130"/>
                </a:solidFill>
                <a:latin typeface="Meiryo"/>
              </a:rPr>
              <a:t>ユーザー企業の担当者</a:t>
            </a:r>
            <a:r>
              <a:rPr sz="2400">
                <a:solidFill>
                  <a:srgbClr val="323130"/>
                </a:solidFill>
                <a:latin typeface="Meiryo"/>
              </a:rPr>
              <a:t> — 「うちはこう使ってる」というリアルな導入事例の共有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💬 </a:t>
            </a:r>
            <a:r>
              <a:rPr sz="2400" b="1">
                <a:solidFill>
                  <a:srgbClr val="323130"/>
                </a:solidFill>
                <a:latin typeface="Meiryo"/>
              </a:rPr>
              <a:t>構成相談したい方</a:t>
            </a:r>
            <a:r>
              <a:rPr sz="2400">
                <a:solidFill>
                  <a:srgbClr val="323130"/>
                </a:solidFill>
                <a:latin typeface="Meiryo"/>
              </a:rPr>
              <a:t> — 「こういう構成どう？」をみんなで議論しましょう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🤖 </a:t>
            </a:r>
            <a:r>
              <a:rPr sz="2400" b="1">
                <a:solidFill>
                  <a:srgbClr val="323130"/>
                </a:solidFill>
                <a:latin typeface="Meiryo"/>
              </a:rPr>
              <a:t>生成AI × インフラに興味がある方</a:t>
            </a:r>
            <a:r>
              <a:rPr sz="2400">
                <a:solidFill>
                  <a:srgbClr val="323130"/>
                </a:solidFill>
                <a:latin typeface="Meiryo"/>
              </a:rPr>
              <a:t> — AI活用事例を持ち寄りましょう</a:t>
            </a:r>
          </a:p>
          <a:p>
            <a:pPr>
              <a:spcAft>
                <a:spcPts val="600"/>
              </a:spcAft>
            </a:pPr>
            <a:r>
              <a:rPr sz="2400">
                <a:solidFill>
                  <a:srgbClr val="323130"/>
                </a:solidFill>
                <a:latin typeface="Meiryo"/>
              </a:rPr>
              <a:t>• 🎤 </a:t>
            </a:r>
            <a:r>
              <a:rPr sz="2400" b="1">
                <a:solidFill>
                  <a:srgbClr val="323130"/>
                </a:solidFill>
                <a:latin typeface="Meiryo"/>
              </a:rPr>
              <a:t>登壇してみたい方</a:t>
            </a:r>
            <a:r>
              <a:rPr sz="2400">
                <a:solidFill>
                  <a:srgbClr val="323130"/>
                </a:solidFill>
                <a:latin typeface="Meiryo"/>
              </a:rPr>
              <a:t> — 初登壇も大歓迎！発表の場を提供します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183112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次回予告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📅 2026/4/10（金）14:00〜</a:t>
            </a:r>
          </a:p>
          <a:p>
            <a:pPr algn="ctr">
              <a:spcAft>
                <a:spcPts val="800"/>
              </a:spcAft>
            </a:pPr>
            <a:r>
              <a:rPr sz="2600">
                <a:solidFill>
                  <a:srgbClr val="323130"/>
                </a:solidFill>
                <a:latin typeface="Meiryo"/>
              </a:rPr>
              <a:t>次回以降のセッション候補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🔧 </a:t>
            </a:r>
            <a:r>
              <a:rPr sz="2200" b="1">
                <a:solidFill>
                  <a:srgbClr val="323130"/>
                </a:solidFill>
                <a:latin typeface="Meiryo"/>
              </a:rPr>
              <a:t>Arcでつないだら？Arc×AIエージェント実演セッション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📜 </a:t>
            </a:r>
            <a:r>
              <a:rPr sz="2200" b="1">
                <a:solidFill>
                  <a:srgbClr val="323130"/>
                </a:solidFill>
                <a:latin typeface="Meiryo"/>
              </a:rPr>
              <a:t>AIエージェントのコンテキスト整備の方法論</a:t>
            </a:r>
          </a:p>
          <a:p>
            <a:pPr algn="ctr">
              <a:spcAft>
                <a:spcPts val="4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• 🎤 </a:t>
            </a:r>
            <a:r>
              <a:rPr sz="2200" b="1">
                <a:solidFill>
                  <a:srgbClr val="323130"/>
                </a:solidFill>
                <a:latin typeface="Meiryo"/>
              </a:rPr>
              <a:t>ネットワールド 後藤さん登壇！？</a:t>
            </a:r>
            <a:r>
              <a:rPr sz="2200">
                <a:solidFill>
                  <a:srgbClr val="323130"/>
                </a:solidFill>
                <a:latin typeface="Meiryo"/>
              </a:rPr>
              <a:t>（ご快諾いただいてます！）</a:t>
            </a:r>
          </a:p>
          <a:p>
            <a:pPr algn="ctr">
              <a:spcAft>
                <a:spcPts val="600"/>
              </a:spcAft>
            </a:pPr>
            <a:r>
              <a:rPr sz="2200">
                <a:solidFill>
                  <a:srgbClr val="323130"/>
                </a:solidFill>
                <a:latin typeface="Meiryo"/>
              </a:rPr>
              <a:t>希望あればコメントで！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cc-logo0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50241"/>
            <a:ext cx="3412906" cy="3157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5631" y="777240"/>
            <a:ext cx="7828178" cy="54864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78D4"/>
                </a:solidFill>
                <a:latin typeface="Meiryo"/>
              </a:rPr>
              <a:t>ご参加ありがとうございました！</a:t>
            </a:r>
          </a:p>
          <a:p>
            <a:pPr algn="ctr">
              <a:spcAft>
                <a:spcPts val="800"/>
              </a:spcAft>
            </a:pPr>
            <a:r>
              <a:rPr sz="3300">
                <a:solidFill>
                  <a:srgbClr val="0078D4"/>
                </a:solidFill>
                <a:latin typeface="Meiryo"/>
              </a:rPr>
              <a:t>また次回お会いしましょう！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Meiryo"/>
              </a:rPr>
              <a:t>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