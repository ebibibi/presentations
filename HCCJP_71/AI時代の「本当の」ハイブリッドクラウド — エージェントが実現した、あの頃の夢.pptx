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 第71回勉強会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2026年3月13日（金）14:00開始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AI時代の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オープニング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司会：胡田 昌彦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日本ビジネスシステムズ株式会社
Microsoft MVP for Cloud and Datacenter Management,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タイムテーブル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4157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9399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時刻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スピーカー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14:00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オープニング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昌彦（JBS / MVP）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14:05 (40分)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AI時代の「本当の」ハイブリッドクラウド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14:45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全員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14:55 (20分)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"Adaptive Cloud" 最新動向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氏（日本マイクロソフト）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15:15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高添 修 氏</a:t>
                      </a:r>
                    </a:p>
                  </a:txBody>
                  <a:tcPr/>
                </a:tc>
              </a:tr>
              <a:tr h="59399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15:25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クロージング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胡田 昌彦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HCCJPとは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ハイブリッドクラウド研究会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毎月第2金曜日 14時から開催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Azure + ハイブリッドクラウド関連の最新情報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オンライン配信（YouTube HCCJPチャンネル）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📺チャンネル登録お願いします！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本日の注意事項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366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📹 配信は録画されています（アーカイブ視聴可）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💬 質問・コメント大歓迎！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• 📝 Q&amp;Aセッションでまとめてお答えします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質問・コメント方法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100"/>
              </a:spcAft>
            </a:pPr>
            <a:r>
              <a:rPr sz="3900" b="1">
                <a:solidFill>
                  <a:srgbClr val="0078D4"/>
                </a:solidFill>
                <a:latin typeface="Meiryo"/>
                <a:ea typeface="Meiryo"/>
              </a:rPr>
              <a:t>💬 YouTubeチャットで質問・コメント大歓迎！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右側のライブチャット欄から投稿してください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セッション中でもお気軽にどうぞ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固定コメントに各種リンクを掲載します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セッション①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エージェントが実現した、あの頃の夢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14:05 - 14:45（40分）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👨‍💻 自己紹介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0078D4"/>
                </a:solidFill>
                <a:latin typeface="Meiryo"/>
                <a:ea typeface="Meiryo"/>
              </a:rPr>
              <a:t>胡田 昌彦（えびすだ まさひこ）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日本ビジネスシステムズ株式会社（JBS）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🏆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Microsoft MVP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Cloud and Datacenter Management / Microsoft Azure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📖 著書: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「Windowsインフラ管理者入門」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📺 YouTube: https://youtube.com/@ebibibi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🌐 Web: https://ebisuda.net/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🎵 趣味: ベース、ドラム、セッション、将棋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1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HCCJPの原点と「あの頃の夢」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「ハイブリッドクラウド」「マルチクラウド」</a:t>
            </a:r>
          </a:p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本当に実現してましたか？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2018年〜 HCCJP立ち上げの頃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「ハイブリッドクラウド」は</a:t>
            </a: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ホットワード</a:t>
            </a: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だった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Azure Stack (HUB)、AWS Outposts、Google Anthos…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  <a:ea typeface="Meiryo"/>
              </a:rPr>
              <a:t>• 各ベンダーが「ハイブリッドこそ未来」と言っていた</a:t>
            </a:r>
          </a:p>
          <a:p>
            <a:pPr>
              <a:spcAft>
                <a:spcPts val="600"/>
              </a:spcAft>
            </a:pPr>
            <a:r>
              <a:rPr sz="3400" b="1">
                <a:solidFill>
                  <a:srgbClr val="323130"/>
                </a:solidFill>
                <a:latin typeface="Meiryo"/>
                <a:ea typeface="Meiryo"/>
              </a:rPr>
              <a:t>でも…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正直なところ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1つのシステムは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1箇所にまとまって動く</a:t>
            </a: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のが普通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オンプレはオンプレ、クラウドはクラウド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「ハイブリッド」はネットワーク接続がメイン。管理コンソールの統合...までもなかなか行けなかった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• 1システム内でのワークロードの分散配置や移動ではなかった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3000" b="1">
                <a:solidFill>
                  <a:srgbClr val="323130"/>
                </a:solidFill>
                <a:latin typeface="Meiryo"/>
                <a:ea typeface="Meiryo"/>
              </a:rPr>
              <a:t>本当にハイブリッドに跨って動くシステムは少なかった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2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時代は変わった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2025-2026年、AIエージェントの時代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AIエージェント多数登場&amp;進化中 （Claude Code, Codex, Gemini CLI, GitHub Copilot CLI, Devin…）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1つのAIエージェントが、複数の場所を跨いで動く</a:t>
            </a:r>
          </a:p>
          <a:p>
            <a:pPr>
              <a:spcAft>
                <a:spcPts val="7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→ これ、</a:t>
            </a: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本当のハイブリッドクラウド</a:t>
            </a: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じゃない？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3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3つの要素 × 3つの配置先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⚠️ 今日一番伝えたいことの１つ！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難しいけどよく理解が必要！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※製品名・サービス名は覚えなくてOK。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注目してほしいのは表の中身ではなく「表の構造」そのもの。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AIエージェント時代のハイブリッドを整理する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  <a:ea typeface="Meiryo"/>
              </a:rPr>
              <a:t>3つの要素が、それぞれ自由な場所に配置される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620772"/>
          <a:ext cx="11183112" cy="257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644207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64420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89041"/>
            <a:ext cx="11183112" cy="70027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3要素(それぞれ選択肢膨大) × 3配置先 = 無数の組み合わせ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それぞれが別々の場所にあっていい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4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具体例で見てみよう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例1: M365 Copilot — フルSaaS構成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27675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436364"/>
            <a:ext cx="11183112" cy="15529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  <a:ea typeface="Meiryo"/>
              </a:rPr>
              <a:t>• → </a:t>
            </a: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すべてSaaS。多くの企業が最初に触れるAIエージェント体験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例2: 典型的なRAG構成（Azure）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41696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例3: 典型的なRAG構成（オンプレ）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41696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例4: GitHub Copilot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608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77612"/>
            <a:ext cx="11183112" cy="7117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GPT / Claude / Gemini（選択可）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Copilot CLI（ローカルPC）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ソースコード等 + </a:t>
            </a:r>
            <a:r>
              <a:rPr sz="17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  <a:ea typeface="Meiryo"/>
              </a:rPr>
              <a:t> GitHub Issues, Copilot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例5: 私の環境（Claude Code）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8892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558028"/>
            <a:ext cx="11183112" cy="4312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Anthropic API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 Code（ローカルPC）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CLAUDE.md, Obsidian等 +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GitHub, Todoist等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   • 必要な情報はClaude Code自体が必要に応じてエージェンティックに取得する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例6: 前回(第70回)の勉強会の例（DGX Spark × 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2194560"/>
            <a:ext cx="11180064" cy="37947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同じモデルでも、エージェントソフトが違えば動きが違う。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
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同じエージェントソフトでも、配置先が違えば使い方が変わる。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5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AIエージェントにおける「引き継ぎ」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エージェントの「作業」を</a:t>
            </a:r>
          </a:p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別の場所に持っていけるとしたら？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VM時代は「移行」に数時間〜数日かかった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AIエージェント時代は？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Remote Control — UIだけリモート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  <a:ea typeface="Meiryo"/>
              </a:rPr>
              <a:t>（2026/02/24 発表 · Max/Proプラン）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2620772"/>
            <a:ext cx="11180064" cy="27675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79796"/>
            <a:ext cx="11183112" cy="5095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500">
                <a:solidFill>
                  <a:srgbClr val="C7254E"/>
                </a:solidFill>
                <a:latin typeface="Consolas"/>
                <a:ea typeface="Consolas"/>
              </a:rPr>
              <a:t>claude remote-control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または </a:t>
            </a:r>
            <a:r>
              <a:rPr sz="1500">
                <a:solidFill>
                  <a:srgbClr val="C7254E"/>
                </a:solidFill>
                <a:latin typeface="Consolas"/>
                <a:ea typeface="Consolas"/>
              </a:rPr>
              <a:t>/rc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で起動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受信ポートは一切開かない（アウトバウンドHTTPSのみ）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  <a:ea typeface="Meiryo"/>
              </a:rPr>
              <a:t>操作UI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  <a:ea typeface="Meiryo"/>
              </a:rPr>
              <a:t> claude.ai（Web / モバイル）← 実行はオンプレのまま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Claude Code on the Web — クラウドで自律実行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608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77612"/>
            <a:ext cx="11183112" cy="7117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並列実行可能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：</a:t>
            </a:r>
            <a:r>
              <a:rPr sz="1400">
                <a:solidFill>
                  <a:srgbClr val="C7254E"/>
                </a:solidFill>
                <a:latin typeface="Consolas"/>
                <a:ea typeface="Consolas"/>
              </a:rPr>
              <a:t>--remote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を複数回叩けばタスクが並走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Web → ローカルの一方向ハンドオフ（逆は新規セッション）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クラウド実行時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（GitHub経由のみ）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teleport後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  <a:ea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+ </a:t>
            </a:r>
            <a:r>
              <a:rPr sz="1400" b="1">
                <a:solidFill>
                  <a:srgbClr val="C62828"/>
                </a:solidFill>
                <a:latin typeface="Meiryo"/>
                <a:ea typeface="Meiryo"/>
              </a:rPr>
              <a:t>SaaS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    • ローカルファイル・MCP・認証情報が加わり、コンテキストを大幅に拡張できる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2つの「引き継ぎ」パターン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38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Remote Control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（クラウド実行時）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Cloud on the Web
（teleport後）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実行場所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ローカルPC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→ ローカルPC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会話履歴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そのまま継続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クラウドに蓄積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ローカルに引き継ぎ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全てアクセス可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GitHub経由のみ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全て + 会話履歴も引き継ぎ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 サーバー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使えない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使える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並列実行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❌ 1セッション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✅ 何タスクでも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9660"/>
            <a:ext cx="11183112" cy="10896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共通点: VMを引っ越すより圧倒的に軽い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これが「本当のハイブリッド」を可能にする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6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なぜ今「本当のハイブリッド」なのか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昔と今の決定的な違い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30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471532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VM時代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VM（数十GB〜）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会話・設定ファイル（数KB〜MB）・コンテキスト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移動コスト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高い（ダウンタイム）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構成の自由度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ベンダーロックイン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ツール・モデル・場所を自由選択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標準化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各社独自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MCP, OpenAI互換API等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最強の頭脳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自社で構築・運用可能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外部サービスに依存せざるを得ない</a:t>
                      </a:r>
                    </a:p>
                  </a:txBody>
                  <a:tcPr/>
                </a:tc>
              </a:tr>
              <a:tr h="47153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乗り換えコスト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高い（再構築・移行）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ほぼゼロ（モデル・ツールを即座に切替可）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69510"/>
            <a:ext cx="11183112" cy="1019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323130"/>
                </a:solidFill>
                <a:latin typeface="Meiryo"/>
                <a:ea typeface="Meiryo"/>
              </a:rPr>
              <a:t>モビリティが高い + 最強モデルは外部 + 乗り換えコストほぼゼロ</a:t>
            </a: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323130"/>
                </a:solidFill>
                <a:latin typeface="Meiryo"/>
                <a:ea typeface="Meiryo"/>
              </a:rPr>
              <a:t>→ ハイブリッド/マルチクラウドが「必然」になる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標準化の波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MCP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（Model Context Protocol） — エージェントとツール・データの接続標準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A2A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（Agent2Agent Protocol） — エージェント間の通信・タスク委任標準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CLAUDE.md / AGENTS.md / GEMINI.md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エージェント設定のファイル化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 Skills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再利用可能な知識パッケージ（クロスプラットフォーム）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OpenAI互換API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異なるモデルプロバイダーを同じIFで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Agentic AI Foundation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（Linux Foundation, 2025/12〜）で中立的に推進中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標準化 = ポータビリティ = ハイブリッド/マルチクラウドの基盤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人の数だけ構成がある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Aさん: Claude Code + Obsidian + Azure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Bさん: Copilot CLI + GitHub + AWS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Cさん: Cursor + Notion + GCP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  <a:ea typeface="Meiryo"/>
              </a:rPr>
              <a:t>• Dさん: ローカルLLM + VS Code + オンプレ</a:t>
            </a:r>
          </a:p>
          <a:p>
            <a:pPr>
              <a:spcAft>
                <a:spcPts val="700"/>
              </a:spcAft>
            </a:pPr>
            <a:r>
              <a:rPr sz="3500" b="1">
                <a:solidFill>
                  <a:srgbClr val="323130"/>
                </a:solidFill>
                <a:latin typeface="Meiryo"/>
                <a:ea typeface="Meiryo"/>
              </a:rPr>
              <a:t>同じ「AIでコーディング」でも構成は十人十色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🧠 頭の体操タイム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あなたの環境を整理してみよう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  <a:ea typeface="Meiryo"/>
              </a:rPr>
              <a:t>3つの要素で考えてみてください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どのLLMを、どこで動かしている？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どのソフトを使っている？ローカル？SaaS？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情報はどこに、どんな形で持っている？何が使えれば便利？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もしも制約がないなら、どんな構成にしたいですか？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Part 7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AIエージェントの動力源 =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AIエージェントは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38379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APIがなければ</a:t>
            </a:r>
          </a:p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  <a:ea typeface="Meiryo"/>
              </a:rPr>
              <a:t>手も足も出ない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エージェントが仕事をする仕組み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199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0078D4"/>
                </a:solidFill>
                <a:latin typeface="Meiryo"/>
                <a:ea typeface="Meiryo"/>
              </a:rPr>
              <a:t>外部サービスへのアクセス = すべてAPI経由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88768"/>
          <a:ext cx="11183112" cy="253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1556"/>
                <a:gridCol w="5591556"/>
              </a:tblGrid>
              <a:tr h="36267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操作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手段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ファイル読み書き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OS API（ローカル）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コマンド実行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シェル = 広義のAPI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Git操作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 コマンド / GitHub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カレンダー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Google Calendar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Azureリソース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Azure Resource Manager API</a:t>
                      </a:r>
                    </a:p>
                  </a:txBody>
                  <a:tcPr/>
                </a:tc>
              </a:tr>
              <a:tr h="362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複数ツール統合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MCP（内部でREST API等を呼び出し）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8938"/>
            <a:ext cx="11183112" cy="77038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MCPも結局は</a:t>
            </a: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裏でAPIを叩いている</a:t>
            </a:r>
            <a:r>
              <a:rPr sz="1700">
                <a:solidFill>
                  <a:srgbClr val="323130"/>
                </a:solidFill>
                <a:latin typeface="Meiryo"/>
                <a:ea typeface="Meiryo"/>
              </a:rPr>
              <a:t>。標準化で抽象化されても、土台はAPI。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323130"/>
                </a:solidFill>
                <a:latin typeface="Meiryo"/>
                <a:ea typeface="Meiryo"/>
              </a:rPr>
              <a:t>APIがない場所 = エージェントが「触れない場所」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クラウドはAPIが当たり前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Azure: Resource Manager API、Storage API、Kubernetes API…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AWS / GCP: 全リソースがREST API経由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エージェントにとってクラウドは「天国」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    • 読める・作れる・消せる・設定できる → すべてAPIで自在に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💬 Kelsey Hightower（Google / Kubernetes）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0078D4"/>
                </a:solidFill>
                <a:latin typeface="Meiryo"/>
                <a:ea typeface="Meiryo"/>
              </a:rPr>
              <a:t>"No one wants to manage infrastructure.
They want to consume it via API."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 の生みの親の一人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「インフラはAPIで消費するもの」という思想を一貫して主張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• KubernetesはオンプレをAPIで包む「プラットフォームのプラットフォーム」</a:t>
            </a:r>
          </a:p>
          <a:p>
            <a:pPr>
              <a:spcAft>
                <a:spcPts val="5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この哲学がそのままAIエージェント時代の答えになっている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オンプレミスは？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APIが限定的だった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昔のシステム: GUIや独自プロトコルが中心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管理: 専用コンソールを人間が直接操作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  <a:ea typeface="Meiryo"/>
              </a:rPr>
              <a:t>• 自動化: スクリプト職人が個別に対応</a:t>
            </a:r>
          </a:p>
          <a:p>
            <a:pPr>
              <a:spcAft>
                <a:spcPts val="600"/>
              </a:spcAft>
            </a:pPr>
            <a:r>
              <a:rPr sz="3200" b="1">
                <a:solidFill>
                  <a:srgbClr val="323130"/>
                </a:solidFill>
                <a:latin typeface="Meiryo"/>
                <a:ea typeface="Meiryo"/>
              </a:rPr>
              <a:t>「手作業で困っていない」が通用した時代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AIエージェントの目線で見ると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1160"/>
          <a:ext cx="11183112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7277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APIの充実度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エージェントの働ける範囲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◎ 全操作がAPI化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自在に仕事できる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API整備済みオンプレ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かなり仕事できる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従来型オンプレ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△〜×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手を出せる範囲が限定的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43679"/>
            <a:ext cx="11183112" cy="171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インフラのAPI化 = エージェントへの「権限委譲」が可能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Azure Arcで実現する世界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600" b="1">
                <a:solidFill>
                  <a:srgbClr val="0078D4"/>
                </a:solidFill>
                <a:latin typeface="Meiryo"/>
                <a:ea typeface="Meiryo"/>
              </a:rPr>
              <a:t>オンプレにも同じAPIと同じセキュリティモデルを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Local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オンプレのインフラをAzure APIで操作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Servers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普通のサーバーもAzure Resource Managerで管理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Kubernetes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既存のK8sクラスターをAzure APIで管理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AKS enabled by Azure Arc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Azure Local上でAKSを運用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Arc-enabled Data Services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→ DBもAzure APIで運用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だけでなく </a:t>
            </a:r>
            <a:r>
              <a:rPr sz="2300" b="1">
                <a:solidFill>
                  <a:srgbClr val="323130"/>
                </a:solidFill>
                <a:latin typeface="Meiryo"/>
                <a:ea typeface="Meiryo"/>
              </a:rPr>
              <a:t>Azure RBAC</a:t>
            </a: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 も統一される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  <a:ea typeface="Meiryo"/>
              </a:rPr>
              <a:t>→ エージェントから見ると「クラウドとオンプレの差がなくなる」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クラウドとオンプレを同じAPIと同じRBACで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4" y="1577340"/>
            <a:ext cx="11180064" cy="36088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77612"/>
            <a:ext cx="11183112" cy="7117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500" b="1">
                <a:solidFill>
                  <a:srgbClr val="323130"/>
                </a:solidFill>
                <a:latin typeface="Meiryo"/>
                <a:ea typeface="Meiryo"/>
              </a:rPr>
              <a:t>エージェントは自由に動ける。管理者はRBACで権限をコントロールできる。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Azure Arc =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300" b="1">
                <a:solidFill>
                  <a:srgbClr val="0078D4"/>
                </a:solidFill>
                <a:latin typeface="Meiryo"/>
                <a:ea typeface="Meiryo"/>
              </a:rPr>
              <a:t>AIエージェントにとって最高の環境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API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クラウドもオンプレも同じように操作できる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RBAC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一貫したセキュリティモデルで権限制御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  <a:ea typeface="Meiryo"/>
              </a:rPr>
              <a:t>自由 × 統制</a:t>
            </a:r>
            <a:r>
              <a:rPr sz="3100">
                <a:solidFill>
                  <a:srgbClr val="323130"/>
                </a:solidFill>
                <a:latin typeface="Meiryo"/>
                <a:ea typeface="Meiryo"/>
              </a:rPr>
              <a:t>: エージェントは縦横無尽、管理者はしっかり制御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「セルフサービス化・クラウドネイティブ化」の真の意味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194560"/>
          <a:ext cx="111831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670560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理解されにくかった理由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AIエージェント時代の説明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従来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「手作業で困ってません」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✗ 刺さらない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AI時代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「APIがないとエージェントが仕事できません」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✓ 即わかる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79"/>
            <a:ext cx="11183112" cy="98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323130"/>
                </a:solidFill>
                <a:latin typeface="Meiryo"/>
                <a:ea typeface="Meiryo"/>
              </a:rPr>
              <a:t>インフラを整えることの意味が、初めて全員に伝わる時代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まとめ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じゃあ、何をすればいいのか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もう一度この表を見てみよう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221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537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  <a:ea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  <a:ea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883659"/>
            <a:ext cx="11183112" cy="2105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用途に合わせて自由に選択すればいい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エージェントソフト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その時々の最強を使えばいい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配置先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→ 本質的にどこでもOK。きちんと整備しておけばいい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⚡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前提: すべてにAPIがあること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（APIがなければエージェントは動けない）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→ APIさえあればAIエージェント側は自由に動ける。残るのは…？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  <a:ea typeface="Meiryo"/>
              </a:rPr>
              <a:t>残るのはコンテキスト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M365、DB、社内システム、ファイルサーバー…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3800" b="1">
                <a:solidFill>
                  <a:srgbClr val="323130"/>
                </a:solidFill>
                <a:latin typeface="Meiryo"/>
                <a:ea typeface="Meiryo"/>
              </a:rPr>
              <a:t>「動かせない既存の大量のデータやシステム」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  <a:ea typeface="Meiryo"/>
              </a:rPr>
              <a:t>• これは企業ごとに全く違う。ここだけは自分たちで整備するしかない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ここでもArcが効く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例：オンプレのファイルサーバーにもArcを入れて管理しておけば →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AIエージェントがそこにアクセスしてコンテキストを取得できる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Arcは「基盤の管理」だけでなく「コンテキストへの道」でもある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どこにあるデータにもエージェントが届く世界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を作る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→ コンテキストをAIエージェント向けに整備して、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エージェントにガンガン動いてもらおう！</a:t>
            </a:r>
          </a:p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これがこれからのインフラ設計の核心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※コンテキスト整備の具体的な方法論は、まだ自分もまとめきれていません。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別の回で詳しく掘り下げたいと思います！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これを実現した者が先行できる！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🧠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自由に選び・切り替えられる設計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🏃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実行環境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API + RBACでどこでも動ける基盤（Arc!）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: 自社のデータ・システムをエージェントに開放（Arc!）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→ </a:t>
            </a:r>
            <a:r>
              <a:rPr sz="2700" b="1">
                <a:solidFill>
                  <a:srgbClr val="323130"/>
                </a:solidFill>
                <a:latin typeface="Meiryo"/>
                <a:ea typeface="Meiryo"/>
              </a:rPr>
              <a:t>圧倒的な生産性優位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他社がベンダーロックインや環境制約と格闘している間に、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  <a:ea typeface="Meiryo"/>
              </a:rPr>
              <a:t>この問いを解いた組織が次の時代を作る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AI時代の「本当の」ハイブリッドクラウド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胡田 昌彦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sara_event_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818" y="2229958"/>
            <a:ext cx="4266133" cy="2398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045360" cy="67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0078D4"/>
                </a:solidFill>
                <a:latin typeface="Meiryo"/>
                <a:ea typeface="Meiryo"/>
              </a:rPr>
              <a:t>📢 勉強会のお知らせ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56360"/>
            <a:ext cx="7045360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93520"/>
            <a:ext cx="7045360" cy="449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Claude Codeライブ × 制約環境の自動化オフレコ</a:t>
            </a:r>
          </a:p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  <a:ea typeface="Meiryo"/>
              </a:rPr>
              <a:t>音楽バーで語るAI昼会 #1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📅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2026年4月18日（土）13:30〜16:00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📍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Live Bar CheSara（南柏駅 徒歩1分）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💰 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参加費無料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（ドリンクオーダー別途）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内容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🤖 参加者全員で「今日作るもの」を決めてClaude Codeに実装させる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🎵 AIがコード書いてる間は</a:t>
            </a: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生演奏セッション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！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• 🔒 オフレコセッション「会社のルールを守りながら、どこまで自動化できるか」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  <a:ea typeface="Meiryo"/>
              </a:rPr>
              <a:t>Connpassで参加受付中！</a:t>
            </a:r>
            <a:r>
              <a:rPr sz="1600">
                <a:solidFill>
                  <a:srgbClr val="323130"/>
                </a:solidFill>
                <a:latin typeface="Meiryo"/>
                <a:ea typeface="Meiryo"/>
              </a:rPr>
              <a:t> https://ebisuda.connpass.com/event/385849/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どんな質問でも大歓迎です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14:45 - 14:55（10分）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セッション②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Microsoft "Adaptive Cloud" 最新動向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高添 修 氏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  <a:ea typeface="Meiryo"/>
              </a:rPr>
              <a:t>日本マイクロソフト株式会社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14:55 - 15:15（20分）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💬 質問にお答えします！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⏱️ 15:15 - 15:25（10分）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クロージング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本日のご参加ありがとうございました！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アーカイブはYouTubeチャンネルから視聴可能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資料は後日公開予定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ハッシュタグは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#HCCJP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  <a:ea typeface="Meiryo"/>
              </a:rPr>
              <a:t>📺 チャンネル登録を！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06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  <a:ea typeface="Meiryo"/>
              </a:rPr>
              <a:t>目指せ 1000人！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  <a:ea typeface="Meiryo"/>
              </a:rPr>
              <a:t>YouTube HCCJPチャンネル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  <a:ea typeface="Meiryo"/>
              </a:rPr>
              <a:t>毎月第2金曜日の最新情報をお見逃しなく！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  <a:ea typeface="Meiryo"/>
              </a:rPr>
              <a:t>🙌 HCCJPを一緒に盛り上げませんか？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HCCJPは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企業・個人を問わず、誰でも参加できるオープンなコミュニティ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です。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今、特に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こんな仲間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を募集しています！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ユーザー企業の担当者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「うちはこう使ってる」というリアルな導入事例の共有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💬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構成相談したい方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「こういう構成どう？」をみんなで議論しましょう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🤖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生成AI × インフラに興味がある方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AI活用事例を持ち寄りましょう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400" b="1">
                <a:solidFill>
                  <a:srgbClr val="323130"/>
                </a:solidFill>
                <a:latin typeface="Meiryo"/>
                <a:ea typeface="Meiryo"/>
              </a:rPr>
              <a:t>登壇してみたい方</a:t>
            </a:r>
            <a:r>
              <a:rPr sz="2400">
                <a:solidFill>
                  <a:srgbClr val="323130"/>
                </a:solidFill>
                <a:latin typeface="Meiryo"/>
                <a:ea typeface="Meiryo"/>
              </a:rPr>
              <a:t> — 初登壇も大歓迎！発表の場を提供します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次回予告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📅 2026/4/10（金）14:00〜</a:t>
            </a:r>
          </a:p>
          <a:p>
            <a:pPr algn="ctr">
              <a:spcAft>
                <a:spcPts val="800"/>
              </a:spcAft>
            </a:pPr>
            <a:r>
              <a:rPr sz="2600">
                <a:solidFill>
                  <a:srgbClr val="323130"/>
                </a:solidFill>
                <a:latin typeface="Meiryo"/>
                <a:ea typeface="Meiryo"/>
              </a:rPr>
              <a:t>次回以降のセッション候補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🔧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Arcでつないだら？Arc×AIエージェント実演セッション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📜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AIエージェントのコンテキスト整備の方法論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• 🎤 </a:t>
            </a:r>
            <a:r>
              <a:rPr sz="2200" b="1">
                <a:solidFill>
                  <a:srgbClr val="323130"/>
                </a:solidFill>
                <a:latin typeface="Meiryo"/>
                <a:ea typeface="Meiryo"/>
              </a:rPr>
              <a:t>ネットワールド 後藤さん登壇！？</a:t>
            </a: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（ご快諾いただいてます！）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  <a:ea typeface="Meiryo"/>
              </a:rPr>
              <a:t>希望あればコメントで！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  <a:ea typeface="Meiryo"/>
              </a:rPr>
              <a:t>ご参加ありがとうございました！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  <a:ea typeface="Meiryo"/>
              </a:rPr>
              <a:t>また次回お会いしましょう！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