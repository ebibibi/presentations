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hcc-logo02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32266" y="1737472"/>
            <a:ext cx="3656685" cy="33830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2920" y="777240"/>
            <a:ext cx="7604516" cy="54864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spcAft>
                <a:spcPts val="800"/>
              </a:spcAft>
            </a:pPr>
            <a:r>
              <a:rPr sz="4800" b="1">
                <a:solidFill>
                  <a:srgbClr val="0078D4"/>
                </a:solidFill>
                <a:latin typeface="Meiryo"/>
                <a:ea typeface="Meiryo"/>
              </a:rPr>
              <a:t>HCCJP 第71回勉強会</a:t>
            </a:r>
          </a:p>
          <a:p>
            <a:pPr algn="ctr">
              <a:spcAft>
                <a:spcPts val="800"/>
              </a:spcAft>
            </a:pPr>
            <a:r>
              <a:rPr sz="3300">
                <a:solidFill>
                  <a:srgbClr val="0078D4"/>
                </a:solidFill>
                <a:latin typeface="Meiryo"/>
                <a:ea typeface="Meiryo"/>
              </a:rPr>
              <a:t>ハイブリッドクラウド研究会</a:t>
            </a:r>
          </a:p>
          <a:p>
            <a:pPr algn="ctr">
              <a:spcAft>
                <a:spcPts val="600"/>
              </a:spcAft>
            </a:pPr>
            <a:r>
              <a:rPr sz="2200" b="1">
                <a:solidFill>
                  <a:srgbClr val="323130"/>
                </a:solidFill>
                <a:latin typeface="Meiryo"/>
                <a:ea typeface="Meiryo"/>
              </a:rPr>
              <a:t>2026年3月13日（金）14:00開始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17352" y="649224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606060"/>
                </a:solidFill>
                <a:latin typeface="Meiryo"/>
              </a:rPr>
              <a:t>1 / 63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777240"/>
            <a:ext cx="11183112" cy="54864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spcAft>
                <a:spcPts val="800"/>
              </a:spcAft>
            </a:pPr>
            <a:r>
              <a:rPr sz="4800" b="1">
                <a:solidFill>
                  <a:srgbClr val="0078D4"/>
                </a:solidFill>
                <a:latin typeface="Meiryo"/>
                <a:ea typeface="Meiryo"/>
              </a:rPr>
              <a:t>AI時代の</a:t>
            </a:r>
          </a:p>
          <a:p>
            <a:pPr algn="ctr">
              <a:spcAft>
                <a:spcPts val="800"/>
              </a:spcAft>
            </a:pPr>
            <a:r>
              <a:rPr sz="4800" b="1">
                <a:solidFill>
                  <a:srgbClr val="0078D4"/>
                </a:solidFill>
                <a:latin typeface="Meiryo"/>
                <a:ea typeface="Meiryo"/>
              </a:rPr>
              <a:t>「本当の」ハイブリッドクラウド</a:t>
            </a:r>
          </a:p>
          <a:p>
            <a:pPr algn="ctr">
              <a:spcAft>
                <a:spcPts val="800"/>
              </a:spcAft>
            </a:pPr>
            <a:r>
              <a:rPr sz="3300">
                <a:solidFill>
                  <a:srgbClr val="0078D4"/>
                </a:solidFill>
                <a:latin typeface="Meiryo"/>
                <a:ea typeface="Meiryo"/>
              </a:rPr>
              <a:t>エージェントが実現した、あの頃の夢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17352" y="649224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606060"/>
                </a:solidFill>
                <a:latin typeface="Meiryo"/>
              </a:rPr>
              <a:t>2 / 63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hcc-logo02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32266" y="1737472"/>
            <a:ext cx="3656685" cy="33830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2920" y="777240"/>
            <a:ext cx="7604516" cy="54864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spcAft>
                <a:spcPts val="800"/>
              </a:spcAft>
            </a:pPr>
            <a:r>
              <a:rPr sz="4800" b="1">
                <a:solidFill>
                  <a:srgbClr val="0078D4"/>
                </a:solidFill>
                <a:latin typeface="Meiryo"/>
                <a:ea typeface="Meiryo"/>
              </a:rPr>
              <a:t>オープニング</a:t>
            </a:r>
          </a:p>
          <a:p>
            <a:pPr algn="ctr">
              <a:spcAft>
                <a:spcPts val="600"/>
              </a:spcAft>
            </a:pPr>
            <a:r>
              <a:rPr sz="2200" b="1">
                <a:solidFill>
                  <a:srgbClr val="323130"/>
                </a:solidFill>
                <a:latin typeface="Meiryo"/>
                <a:ea typeface="Meiryo"/>
              </a:rPr>
              <a:t>司会：胡田 昌彦</a:t>
            </a:r>
          </a:p>
          <a:p>
            <a:pPr algn="ctr">
              <a:spcAft>
                <a:spcPts val="600"/>
              </a:spcAft>
            </a:pPr>
            <a:r>
              <a:rPr sz="1600">
                <a:solidFill>
                  <a:srgbClr val="606060"/>
                </a:solidFill>
                <a:latin typeface="Meiryo"/>
                <a:ea typeface="Meiryo"/>
              </a:rPr>
              <a:t>日本ビジネスシステムズ株式会社
Microsoft MVP for Cloud and Datacenter Management, Microsoft Azure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17352" y="649224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606060"/>
                </a:solidFill>
                <a:latin typeface="Meiryo"/>
              </a:rPr>
              <a:t>3 / 63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183112" cy="7543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3600" b="1">
                <a:solidFill>
                  <a:srgbClr val="0078D4"/>
                </a:solidFill>
                <a:latin typeface="Meiryo"/>
                <a:ea typeface="Meiryo"/>
              </a:rPr>
              <a:t>タイムテーブル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440180"/>
            <a:ext cx="11183112" cy="254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577340"/>
          <a:ext cx="11183112" cy="4157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27704"/>
                <a:gridCol w="3727704"/>
                <a:gridCol w="3727704"/>
              </a:tblGrid>
              <a:tr h="593997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43A5E"/>
                          </a:solidFill>
                          <a:latin typeface="Meiryo"/>
                          <a:ea typeface="Meiryo"/>
                        </a:rPr>
                        <a:t>時刻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43A5E"/>
                          </a:solidFill>
                          <a:latin typeface="Meiryo"/>
                          <a:ea typeface="Meiryo"/>
                        </a:rPr>
                        <a:t>内容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43A5E"/>
                          </a:solidFill>
                          <a:latin typeface="Meiryo"/>
                          <a:ea typeface="Meiryo"/>
                        </a:rPr>
                        <a:t>スピーカー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</a:tr>
              <a:tr h="593997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323130"/>
                          </a:solidFill>
                          <a:latin typeface="Meiryo"/>
                          <a:ea typeface="Meiryo"/>
                        </a:rPr>
                        <a:t>14:00 (5分)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323130"/>
                          </a:solidFill>
                          <a:latin typeface="Meiryo"/>
                          <a:ea typeface="Meiryo"/>
                        </a:rPr>
                        <a:t>オープニング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323130"/>
                          </a:solidFill>
                          <a:latin typeface="Meiryo"/>
                          <a:ea typeface="Meiryo"/>
                        </a:rPr>
                        <a:t>胡田 昌彦（JBS / MVP）</a:t>
                      </a:r>
                    </a:p>
                  </a:txBody>
                  <a:tcPr/>
                </a:tc>
              </a:tr>
              <a:tr h="593997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323130"/>
                          </a:solidFill>
                          <a:latin typeface="Meiryo"/>
                          <a:ea typeface="Meiryo"/>
                        </a:rPr>
                        <a:t>14:05 (40分)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323130"/>
                          </a:solidFill>
                          <a:latin typeface="Meiryo"/>
                          <a:ea typeface="Meiryo"/>
                        </a:rPr>
                        <a:t>AI時代の「本当の」ハイブリッドクラウド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323130"/>
                          </a:solidFill>
                          <a:latin typeface="Meiryo"/>
                          <a:ea typeface="Meiryo"/>
                        </a:rPr>
                        <a:t>胡田 昌彦</a:t>
                      </a:r>
                    </a:p>
                  </a:txBody>
                  <a:tcPr/>
                </a:tc>
              </a:tr>
              <a:tr h="593997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323130"/>
                          </a:solidFill>
                          <a:latin typeface="Meiryo"/>
                          <a:ea typeface="Meiryo"/>
                        </a:rPr>
                        <a:t>14:45 (10分)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323130"/>
                          </a:solidFill>
                          <a:latin typeface="Meiryo"/>
                          <a:ea typeface="Meiryo"/>
                        </a:rPr>
                        <a:t>Q&amp;A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323130"/>
                          </a:solidFill>
                          <a:latin typeface="Meiryo"/>
                          <a:ea typeface="Meiryo"/>
                        </a:rPr>
                        <a:t>全員</a:t>
                      </a:r>
                    </a:p>
                  </a:txBody>
                  <a:tcPr/>
                </a:tc>
              </a:tr>
              <a:tr h="593997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323130"/>
                          </a:solidFill>
                          <a:latin typeface="Meiryo"/>
                          <a:ea typeface="Meiryo"/>
                        </a:rPr>
                        <a:t>14:55 (20分)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323130"/>
                          </a:solidFill>
                          <a:latin typeface="Meiryo"/>
                          <a:ea typeface="Meiryo"/>
                        </a:rPr>
                        <a:t>Microsoft "Adaptive Cloud" 最新動向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323130"/>
                          </a:solidFill>
                          <a:latin typeface="Meiryo"/>
                          <a:ea typeface="Meiryo"/>
                        </a:rPr>
                        <a:t>高添 修 氏（日本マイクロソフト）</a:t>
                      </a:r>
                    </a:p>
                  </a:txBody>
                  <a:tcPr/>
                </a:tc>
              </a:tr>
              <a:tr h="593997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323130"/>
                          </a:solidFill>
                          <a:latin typeface="Meiryo"/>
                          <a:ea typeface="Meiryo"/>
                        </a:rPr>
                        <a:t>15:15 (10分)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323130"/>
                          </a:solidFill>
                          <a:latin typeface="Meiryo"/>
                          <a:ea typeface="Meiryo"/>
                        </a:rPr>
                        <a:t>Q&amp;A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323130"/>
                          </a:solidFill>
                          <a:latin typeface="Meiryo"/>
                          <a:ea typeface="Meiryo"/>
                        </a:rPr>
                        <a:t>高添 修 氏</a:t>
                      </a:r>
                    </a:p>
                  </a:txBody>
                  <a:tcPr/>
                </a:tc>
              </a:tr>
              <a:tr h="593998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323130"/>
                          </a:solidFill>
                          <a:latin typeface="Meiryo"/>
                          <a:ea typeface="Meiryo"/>
                        </a:rPr>
                        <a:t>15:25 (5分)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323130"/>
                          </a:solidFill>
                          <a:latin typeface="Meiryo"/>
                          <a:ea typeface="Meiryo"/>
                        </a:rPr>
                        <a:t>クロージング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323130"/>
                          </a:solidFill>
                          <a:latin typeface="Meiryo"/>
                          <a:ea typeface="Meiryo"/>
                        </a:rPr>
                        <a:t>胡田 昌彦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0817352" y="649224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606060"/>
                </a:solidFill>
                <a:latin typeface="Meiryo"/>
              </a:rPr>
              <a:t>4 / 63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hcc-logo02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32266" y="1737472"/>
            <a:ext cx="3656685" cy="33830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2920" y="640080"/>
            <a:ext cx="7604516" cy="838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4000" b="1">
                <a:solidFill>
                  <a:srgbClr val="0078D4"/>
                </a:solidFill>
                <a:latin typeface="Meiryo"/>
                <a:ea typeface="Meiryo"/>
              </a:rPr>
              <a:t>HCCJPとは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524000"/>
            <a:ext cx="7604516" cy="254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661160"/>
            <a:ext cx="7604516" cy="43281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900"/>
              </a:spcAft>
            </a:pPr>
            <a:r>
              <a:rPr sz="3100" b="1">
                <a:solidFill>
                  <a:srgbClr val="0078D4"/>
                </a:solidFill>
                <a:latin typeface="Meiryo"/>
                <a:ea typeface="Meiryo"/>
              </a:rPr>
              <a:t>ハイブリッドクラウド研究会</a:t>
            </a:r>
          </a:p>
          <a:p>
            <a:pPr>
              <a:spcAft>
                <a:spcPts val="600"/>
              </a:spcAft>
            </a:pPr>
            <a:r>
              <a:rPr sz="2700">
                <a:solidFill>
                  <a:srgbClr val="323130"/>
                </a:solidFill>
                <a:latin typeface="Meiryo"/>
                <a:ea typeface="Meiryo"/>
              </a:rPr>
              <a:t>• 毎月第2金曜日 14時から開催</a:t>
            </a:r>
          </a:p>
          <a:p>
            <a:pPr>
              <a:spcAft>
                <a:spcPts val="600"/>
              </a:spcAft>
            </a:pPr>
            <a:r>
              <a:rPr sz="2700">
                <a:solidFill>
                  <a:srgbClr val="323130"/>
                </a:solidFill>
                <a:latin typeface="Meiryo"/>
                <a:ea typeface="Meiryo"/>
              </a:rPr>
              <a:t>• Azure + ハイブリッドクラウド関連の最新情報</a:t>
            </a:r>
          </a:p>
          <a:p>
            <a:pPr>
              <a:spcAft>
                <a:spcPts val="600"/>
              </a:spcAft>
            </a:pPr>
            <a:r>
              <a:rPr sz="2700">
                <a:solidFill>
                  <a:srgbClr val="323130"/>
                </a:solidFill>
                <a:latin typeface="Meiryo"/>
                <a:ea typeface="Meiryo"/>
              </a:rPr>
              <a:t>• オンライン配信（YouTube HCCJPチャンネル）</a:t>
            </a:r>
          </a:p>
          <a:p>
            <a:pPr>
              <a:spcAft>
                <a:spcPts val="500"/>
              </a:spcAft>
            </a:pPr>
            <a:r>
              <a:rPr sz="2700">
                <a:solidFill>
                  <a:srgbClr val="323130"/>
                </a:solidFill>
                <a:latin typeface="Meiryo"/>
                <a:ea typeface="Meiryo"/>
              </a:rPr>
              <a:t>📺チャンネル登録お願いします！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17352" y="649224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606060"/>
                </a:solidFill>
                <a:latin typeface="Meiryo"/>
              </a:rPr>
              <a:t>5 / 63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183112" cy="838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4000" b="1">
                <a:solidFill>
                  <a:srgbClr val="0078D4"/>
                </a:solidFill>
                <a:latin typeface="Meiryo"/>
                <a:ea typeface="Meiryo"/>
              </a:rPr>
              <a:t>本日の注意事項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524000"/>
            <a:ext cx="11183112" cy="254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661160"/>
            <a:ext cx="11183112" cy="3667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900"/>
              </a:spcAft>
            </a:pPr>
            <a:r>
              <a:rPr sz="3600">
                <a:solidFill>
                  <a:srgbClr val="323130"/>
                </a:solidFill>
                <a:latin typeface="Meiryo"/>
                <a:ea typeface="Meiryo"/>
              </a:rPr>
              <a:t>• 📹 配信は録画されています（アーカイブ視聴可）</a:t>
            </a:r>
          </a:p>
          <a:p>
            <a:pPr>
              <a:spcAft>
                <a:spcPts val="900"/>
              </a:spcAft>
            </a:pPr>
            <a:r>
              <a:rPr sz="3600">
                <a:solidFill>
                  <a:srgbClr val="323130"/>
                </a:solidFill>
                <a:latin typeface="Meiryo"/>
                <a:ea typeface="Meiryo"/>
              </a:rPr>
              <a:t>• 💬 質問・コメント大歓迎！</a:t>
            </a:r>
          </a:p>
          <a:p>
            <a:pPr>
              <a:spcAft>
                <a:spcPts val="900"/>
              </a:spcAft>
            </a:pPr>
            <a:r>
              <a:rPr sz="3600">
                <a:solidFill>
                  <a:srgbClr val="323130"/>
                </a:solidFill>
                <a:latin typeface="Meiryo"/>
                <a:ea typeface="Meiryo"/>
              </a:rPr>
              <a:t>• 📝 Q&amp;Aセッションでまとめてお答えします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17352" y="649224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606060"/>
                </a:solidFill>
                <a:latin typeface="Meiryo"/>
              </a:rPr>
              <a:t>6 / 63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183112" cy="838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4000" b="1">
                <a:solidFill>
                  <a:srgbClr val="0078D4"/>
                </a:solidFill>
                <a:latin typeface="Meiryo"/>
                <a:ea typeface="Meiryo"/>
              </a:rPr>
              <a:t>質問・コメント方法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524000"/>
            <a:ext cx="11183112" cy="254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661160"/>
            <a:ext cx="11183112" cy="43281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1100"/>
              </a:spcAft>
            </a:pPr>
            <a:r>
              <a:rPr sz="3900" b="1">
                <a:solidFill>
                  <a:srgbClr val="0078D4"/>
                </a:solidFill>
                <a:latin typeface="Meiryo"/>
                <a:ea typeface="Meiryo"/>
              </a:rPr>
              <a:t>💬 YouTubeチャットで質問・コメント大歓迎！</a:t>
            </a:r>
          </a:p>
          <a:p>
            <a:pPr>
              <a:spcAft>
                <a:spcPts val="800"/>
              </a:spcAft>
            </a:pPr>
            <a:r>
              <a:rPr sz="3400">
                <a:solidFill>
                  <a:srgbClr val="323130"/>
                </a:solidFill>
                <a:latin typeface="Meiryo"/>
                <a:ea typeface="Meiryo"/>
              </a:rPr>
              <a:t>• 右側のライブチャット欄から投稿してください</a:t>
            </a:r>
          </a:p>
          <a:p>
            <a:pPr>
              <a:spcAft>
                <a:spcPts val="800"/>
              </a:spcAft>
            </a:pPr>
            <a:r>
              <a:rPr sz="3400">
                <a:solidFill>
                  <a:srgbClr val="323130"/>
                </a:solidFill>
                <a:latin typeface="Meiryo"/>
                <a:ea typeface="Meiryo"/>
              </a:rPr>
              <a:t>• セッション中でもお気軽にどうぞ</a:t>
            </a:r>
          </a:p>
          <a:p>
            <a:pPr>
              <a:spcAft>
                <a:spcPts val="800"/>
              </a:spcAft>
            </a:pPr>
            <a:r>
              <a:rPr sz="3400">
                <a:solidFill>
                  <a:srgbClr val="323130"/>
                </a:solidFill>
                <a:latin typeface="Meiryo"/>
                <a:ea typeface="Meiryo"/>
              </a:rPr>
              <a:t>• 固定コメントに各種リンクを掲載します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17352" y="649224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606060"/>
                </a:solidFill>
                <a:latin typeface="Meiryo"/>
              </a:rPr>
              <a:t>7 / 63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777240"/>
            <a:ext cx="11183112" cy="54864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spcAft>
                <a:spcPts val="800"/>
              </a:spcAft>
            </a:pPr>
            <a:r>
              <a:rPr sz="4800" b="1">
                <a:solidFill>
                  <a:srgbClr val="0078D4"/>
                </a:solidFill>
                <a:latin typeface="Meiryo"/>
                <a:ea typeface="Meiryo"/>
              </a:rPr>
              <a:t>セッション①</a:t>
            </a:r>
          </a:p>
          <a:p>
            <a:pPr algn="ctr">
              <a:spcAft>
                <a:spcPts val="800"/>
              </a:spcAft>
            </a:pPr>
            <a:r>
              <a:rPr sz="3300">
                <a:solidFill>
                  <a:srgbClr val="0078D4"/>
                </a:solidFill>
                <a:latin typeface="Meiryo"/>
                <a:ea typeface="Meiryo"/>
              </a:rPr>
              <a:t>AI時代の「本当の」ハイブリッドクラウド</a:t>
            </a:r>
          </a:p>
          <a:p>
            <a:pPr algn="ctr">
              <a:spcAft>
                <a:spcPts val="800"/>
              </a:spcAft>
            </a:pPr>
            <a:r>
              <a:rPr sz="3300">
                <a:solidFill>
                  <a:srgbClr val="0078D4"/>
                </a:solidFill>
                <a:latin typeface="Meiryo"/>
                <a:ea typeface="Meiryo"/>
              </a:rPr>
              <a:t>エージェントが実現した、あの頃の夢</a:t>
            </a:r>
          </a:p>
          <a:p>
            <a:pPr algn="ctr">
              <a:spcAft>
                <a:spcPts val="600"/>
              </a:spcAft>
            </a:pPr>
            <a:r>
              <a:rPr sz="2200" b="1">
                <a:solidFill>
                  <a:srgbClr val="323130"/>
                </a:solidFill>
                <a:latin typeface="Meiryo"/>
                <a:ea typeface="Meiryo"/>
              </a:rPr>
              <a:t>胡田 昌彦</a:t>
            </a:r>
          </a:p>
          <a:p>
            <a:pPr algn="ctr">
              <a:spcAft>
                <a:spcPts val="600"/>
              </a:spcAft>
            </a:pPr>
            <a:r>
              <a:rPr sz="2200">
                <a:solidFill>
                  <a:srgbClr val="323130"/>
                </a:solidFill>
                <a:latin typeface="Meiryo"/>
                <a:ea typeface="Meiryo"/>
              </a:rPr>
              <a:t>⏱️ 14:05 - 14:45（40分）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17352" y="649224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606060"/>
                </a:solidFill>
                <a:latin typeface="Meiryo"/>
              </a:rPr>
              <a:t>8 / 63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183112" cy="838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4000" b="1">
                <a:solidFill>
                  <a:srgbClr val="0078D4"/>
                </a:solidFill>
                <a:latin typeface="Meiryo"/>
                <a:ea typeface="Meiryo"/>
              </a:rPr>
              <a:t>👨‍💻 自己紹介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524000"/>
            <a:ext cx="11183112" cy="254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661160"/>
            <a:ext cx="11183112" cy="43281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</a:pPr>
            <a:r>
              <a:rPr sz="2700" b="1">
                <a:solidFill>
                  <a:srgbClr val="0078D4"/>
                </a:solidFill>
                <a:latin typeface="Meiryo"/>
                <a:ea typeface="Meiryo"/>
              </a:rPr>
              <a:t>胡田 昌彦（えびすだ まさひこ）</a:t>
            </a:r>
          </a:p>
          <a:p>
            <a:pPr>
              <a:spcAft>
                <a:spcPts val="600"/>
              </a:spcAft>
            </a:pPr>
            <a:r>
              <a:rPr sz="2400">
                <a:solidFill>
                  <a:srgbClr val="323130"/>
                </a:solidFill>
                <a:latin typeface="Meiryo"/>
                <a:ea typeface="Meiryo"/>
              </a:rPr>
              <a:t>• 🏢 </a:t>
            </a:r>
            <a:r>
              <a:rPr sz="2400" b="1">
                <a:solidFill>
                  <a:srgbClr val="323130"/>
                </a:solidFill>
                <a:latin typeface="Meiryo"/>
                <a:ea typeface="Meiryo"/>
              </a:rPr>
              <a:t>日本ビジネスシステムズ株式会社（JBS）</a:t>
            </a:r>
          </a:p>
          <a:p>
            <a:pPr>
              <a:spcAft>
                <a:spcPts val="600"/>
              </a:spcAft>
            </a:pPr>
            <a:r>
              <a:rPr sz="2400">
                <a:solidFill>
                  <a:srgbClr val="323130"/>
                </a:solidFill>
                <a:latin typeface="Meiryo"/>
                <a:ea typeface="Meiryo"/>
              </a:rPr>
              <a:t>• 🏆 </a:t>
            </a:r>
            <a:r>
              <a:rPr sz="2400" b="1">
                <a:solidFill>
                  <a:srgbClr val="323130"/>
                </a:solidFill>
                <a:latin typeface="Meiryo"/>
                <a:ea typeface="Meiryo"/>
              </a:rPr>
              <a:t>Microsoft MVP</a:t>
            </a:r>
            <a:r>
              <a:rPr sz="2400">
                <a:solidFill>
                  <a:srgbClr val="323130"/>
                </a:solidFill>
                <a:latin typeface="Meiryo"/>
                <a:ea typeface="Meiryo"/>
              </a:rPr>
              <a:t> — Cloud and Datacenter Management / Microsoft Azure</a:t>
            </a:r>
          </a:p>
          <a:p>
            <a:pPr>
              <a:spcAft>
                <a:spcPts val="600"/>
              </a:spcAft>
            </a:pPr>
            <a:r>
              <a:rPr sz="2400">
                <a:solidFill>
                  <a:srgbClr val="323130"/>
                </a:solidFill>
                <a:latin typeface="Meiryo"/>
                <a:ea typeface="Meiryo"/>
              </a:rPr>
              <a:t>• 📖 著書: </a:t>
            </a:r>
            <a:r>
              <a:rPr sz="2400" b="1">
                <a:solidFill>
                  <a:srgbClr val="323130"/>
                </a:solidFill>
                <a:latin typeface="Meiryo"/>
                <a:ea typeface="Meiryo"/>
              </a:rPr>
              <a:t>「Windowsインフラ管理者入門」</a:t>
            </a:r>
          </a:p>
          <a:p>
            <a:pPr>
              <a:spcAft>
                <a:spcPts val="600"/>
              </a:spcAft>
            </a:pPr>
            <a:r>
              <a:rPr sz="2400">
                <a:solidFill>
                  <a:srgbClr val="323130"/>
                </a:solidFill>
                <a:latin typeface="Meiryo"/>
                <a:ea typeface="Meiryo"/>
              </a:rPr>
              <a:t>• 📺 YouTube: https://youtube.com/@ebibibi</a:t>
            </a:r>
          </a:p>
          <a:p>
            <a:pPr>
              <a:spcAft>
                <a:spcPts val="600"/>
              </a:spcAft>
            </a:pPr>
            <a:r>
              <a:rPr sz="2400">
                <a:solidFill>
                  <a:srgbClr val="323130"/>
                </a:solidFill>
                <a:latin typeface="Meiryo"/>
                <a:ea typeface="Meiryo"/>
              </a:rPr>
              <a:t>• 🌐 Web: https://ebisuda.net/</a:t>
            </a:r>
          </a:p>
          <a:p>
            <a:pPr>
              <a:spcAft>
                <a:spcPts val="600"/>
              </a:spcAft>
            </a:pPr>
            <a:r>
              <a:rPr sz="2400">
                <a:solidFill>
                  <a:srgbClr val="323130"/>
                </a:solidFill>
                <a:latin typeface="Meiryo"/>
                <a:ea typeface="Meiryo"/>
              </a:rPr>
              <a:t>• 🎵 趣味: ベース、ドラム、セッション、将棋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17352" y="649224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606060"/>
                </a:solidFill>
                <a:latin typeface="Meiryo"/>
              </a:rPr>
              <a:t>9 / 63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777240"/>
            <a:ext cx="11183112" cy="54864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spcAft>
                <a:spcPts val="800"/>
              </a:spcAft>
            </a:pPr>
            <a:r>
              <a:rPr sz="4800" b="1">
                <a:solidFill>
                  <a:srgbClr val="0078D4"/>
                </a:solidFill>
                <a:latin typeface="Meiryo"/>
                <a:ea typeface="Meiryo"/>
              </a:rPr>
              <a:t>Part 1</a:t>
            </a:r>
          </a:p>
          <a:p>
            <a:pPr algn="ctr">
              <a:spcAft>
                <a:spcPts val="800"/>
              </a:spcAft>
            </a:pPr>
            <a:r>
              <a:rPr sz="4800" b="1">
                <a:solidFill>
                  <a:srgbClr val="0078D4"/>
                </a:solidFill>
                <a:latin typeface="Meiryo"/>
                <a:ea typeface="Meiryo"/>
              </a:rPr>
              <a:t>HCCJPの原点と「あの頃の夢」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17352" y="649224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606060"/>
                </a:solidFill>
                <a:latin typeface="Meiryo"/>
              </a:rPr>
              <a:t>10 / 63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183112" cy="113157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5400" b="1">
                <a:solidFill>
                  <a:srgbClr val="0078D4"/>
                </a:solidFill>
                <a:latin typeface="Meiryo"/>
                <a:ea typeface="Meiryo"/>
              </a:rPr>
              <a:t>問いかけ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817370"/>
            <a:ext cx="11183112" cy="254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954530"/>
            <a:ext cx="11183112" cy="403478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1400"/>
              </a:spcAft>
            </a:pPr>
            <a:r>
              <a:rPr sz="4800" b="1">
                <a:solidFill>
                  <a:srgbClr val="0078D4"/>
                </a:solidFill>
                <a:latin typeface="Meiryo"/>
                <a:ea typeface="Meiryo"/>
              </a:rPr>
              <a:t>「ハイブリッドクラウド」「マルチクラウド」</a:t>
            </a:r>
          </a:p>
          <a:p>
            <a:pPr>
              <a:spcAft>
                <a:spcPts val="1400"/>
              </a:spcAft>
            </a:pPr>
            <a:r>
              <a:rPr sz="4800" b="1">
                <a:solidFill>
                  <a:srgbClr val="0078D4"/>
                </a:solidFill>
                <a:latin typeface="Meiryo"/>
                <a:ea typeface="Meiryo"/>
              </a:rPr>
              <a:t>本当に実現してましたか？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17352" y="649224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606060"/>
                </a:solidFill>
                <a:latin typeface="Meiryo"/>
              </a:rPr>
              <a:t>11 / 63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183112" cy="838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4000" b="1">
                <a:solidFill>
                  <a:srgbClr val="0078D4"/>
                </a:solidFill>
                <a:latin typeface="Meiryo"/>
                <a:ea typeface="Meiryo"/>
              </a:rPr>
              <a:t>2018年〜 HCCJP立ち上げの頃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524000"/>
            <a:ext cx="11183112" cy="254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661160"/>
            <a:ext cx="11183112" cy="43281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</a:pPr>
            <a:r>
              <a:rPr sz="3400">
                <a:solidFill>
                  <a:srgbClr val="323130"/>
                </a:solidFill>
                <a:latin typeface="Meiryo"/>
                <a:ea typeface="Meiryo"/>
              </a:rPr>
              <a:t>• 「ハイブリッドクラウド」は</a:t>
            </a:r>
            <a:r>
              <a:rPr sz="3400" b="1">
                <a:solidFill>
                  <a:srgbClr val="323130"/>
                </a:solidFill>
                <a:latin typeface="Meiryo"/>
                <a:ea typeface="Meiryo"/>
              </a:rPr>
              <a:t>ホットワード</a:t>
            </a:r>
            <a:r>
              <a:rPr sz="3400">
                <a:solidFill>
                  <a:srgbClr val="323130"/>
                </a:solidFill>
                <a:latin typeface="Meiryo"/>
                <a:ea typeface="Meiryo"/>
              </a:rPr>
              <a:t>だった</a:t>
            </a:r>
          </a:p>
          <a:p>
            <a:pPr>
              <a:spcAft>
                <a:spcPts val="800"/>
              </a:spcAft>
            </a:pPr>
            <a:r>
              <a:rPr sz="3400">
                <a:solidFill>
                  <a:srgbClr val="323130"/>
                </a:solidFill>
                <a:latin typeface="Meiryo"/>
                <a:ea typeface="Meiryo"/>
              </a:rPr>
              <a:t>• Azure Stack (HUB)、AWS Outposts、Google Anthos…</a:t>
            </a:r>
          </a:p>
          <a:p>
            <a:pPr>
              <a:spcAft>
                <a:spcPts val="800"/>
              </a:spcAft>
            </a:pPr>
            <a:r>
              <a:rPr sz="3400">
                <a:solidFill>
                  <a:srgbClr val="323130"/>
                </a:solidFill>
                <a:latin typeface="Meiryo"/>
                <a:ea typeface="Meiryo"/>
              </a:rPr>
              <a:t>• 各ベンダーが「ハイブリッドこそ未来」と言っていた</a:t>
            </a:r>
          </a:p>
          <a:p>
            <a:pPr>
              <a:spcAft>
                <a:spcPts val="600"/>
              </a:spcAft>
            </a:pPr>
            <a:r>
              <a:rPr sz="3400" b="1">
                <a:solidFill>
                  <a:srgbClr val="323130"/>
                </a:solidFill>
                <a:latin typeface="Meiryo"/>
                <a:ea typeface="Meiryo"/>
              </a:rPr>
              <a:t>でも…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17352" y="649224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606060"/>
                </a:solidFill>
                <a:latin typeface="Meiryo"/>
              </a:rPr>
              <a:t>12 / 63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183112" cy="113157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5400" b="1">
                <a:solidFill>
                  <a:srgbClr val="0078D4"/>
                </a:solidFill>
                <a:latin typeface="Meiryo"/>
                <a:ea typeface="Meiryo"/>
              </a:rPr>
              <a:t>正直なところ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817370"/>
            <a:ext cx="11183112" cy="254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954530"/>
            <a:ext cx="11183112" cy="403478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700"/>
              </a:spcAft>
            </a:pPr>
            <a:r>
              <a:rPr sz="3000">
                <a:solidFill>
                  <a:srgbClr val="323130"/>
                </a:solidFill>
                <a:latin typeface="Meiryo"/>
                <a:ea typeface="Meiryo"/>
              </a:rPr>
              <a:t>• 1つのシステムは</a:t>
            </a:r>
            <a:r>
              <a:rPr sz="3000" b="1">
                <a:solidFill>
                  <a:srgbClr val="323130"/>
                </a:solidFill>
                <a:latin typeface="Meiryo"/>
                <a:ea typeface="Meiryo"/>
              </a:rPr>
              <a:t>1箇所にまとまって動く</a:t>
            </a:r>
            <a:r>
              <a:rPr sz="3000">
                <a:solidFill>
                  <a:srgbClr val="323130"/>
                </a:solidFill>
                <a:latin typeface="Meiryo"/>
                <a:ea typeface="Meiryo"/>
              </a:rPr>
              <a:t>のが普通</a:t>
            </a:r>
          </a:p>
          <a:p>
            <a:pPr>
              <a:spcAft>
                <a:spcPts val="700"/>
              </a:spcAft>
            </a:pPr>
            <a:r>
              <a:rPr sz="3000">
                <a:solidFill>
                  <a:srgbClr val="323130"/>
                </a:solidFill>
                <a:latin typeface="Meiryo"/>
                <a:ea typeface="Meiryo"/>
              </a:rPr>
              <a:t>• オンプレはオンプレ、クラウドはクラウド</a:t>
            </a:r>
          </a:p>
          <a:p>
            <a:pPr>
              <a:spcAft>
                <a:spcPts val="700"/>
              </a:spcAft>
            </a:pPr>
            <a:r>
              <a:rPr sz="3000">
                <a:solidFill>
                  <a:srgbClr val="323130"/>
                </a:solidFill>
                <a:latin typeface="Meiryo"/>
                <a:ea typeface="Meiryo"/>
              </a:rPr>
              <a:t>• 「ハイブリッド」はネットワーク接続がメイン。管理コンソールの統合...までもなかなか行けなかった</a:t>
            </a:r>
          </a:p>
          <a:p>
            <a:pPr>
              <a:spcAft>
                <a:spcPts val="700"/>
              </a:spcAft>
            </a:pPr>
            <a:r>
              <a:rPr sz="3000">
                <a:solidFill>
                  <a:srgbClr val="323130"/>
                </a:solidFill>
                <a:latin typeface="Meiryo"/>
                <a:ea typeface="Meiryo"/>
              </a:rPr>
              <a:t>• 1システム内でのワークロードの分散配置や移動ではなかった</a:t>
            </a:r>
          </a:p>
          <a:p>
            <a:pPr>
              <a:spcAft>
                <a:spcPts val="600"/>
              </a:spcAft>
            </a:pPr>
            <a:r>
              <a:rPr sz="3000">
                <a:solidFill>
                  <a:srgbClr val="323130"/>
                </a:solidFill>
                <a:latin typeface="Meiryo"/>
                <a:ea typeface="Meiryo"/>
              </a:rPr>
              <a:t>→ </a:t>
            </a:r>
            <a:r>
              <a:rPr sz="3000" b="1">
                <a:solidFill>
                  <a:srgbClr val="323130"/>
                </a:solidFill>
                <a:latin typeface="Meiryo"/>
                <a:ea typeface="Meiryo"/>
              </a:rPr>
              <a:t>本当にハイブリッドに跨って動くシステムは少なかった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17352" y="649224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606060"/>
                </a:solidFill>
                <a:latin typeface="Meiryo"/>
              </a:rPr>
              <a:t>13 / 63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777240"/>
            <a:ext cx="11183112" cy="54864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spcAft>
                <a:spcPts val="800"/>
              </a:spcAft>
            </a:pPr>
            <a:r>
              <a:rPr sz="4800" b="1">
                <a:solidFill>
                  <a:srgbClr val="0078D4"/>
                </a:solidFill>
                <a:latin typeface="Meiryo"/>
                <a:ea typeface="Meiryo"/>
              </a:rPr>
              <a:t>Part 2</a:t>
            </a:r>
          </a:p>
          <a:p>
            <a:pPr algn="ctr">
              <a:spcAft>
                <a:spcPts val="800"/>
              </a:spcAft>
            </a:pPr>
            <a:r>
              <a:rPr sz="4800" b="1">
                <a:solidFill>
                  <a:srgbClr val="0078D4"/>
                </a:solidFill>
                <a:latin typeface="Meiryo"/>
                <a:ea typeface="Meiryo"/>
              </a:rPr>
              <a:t>時代は変わった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17352" y="649224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606060"/>
                </a:solidFill>
                <a:latin typeface="Meiryo"/>
              </a:rPr>
              <a:t>14 / 63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183112" cy="1645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5400" b="1">
                <a:solidFill>
                  <a:srgbClr val="0078D4"/>
                </a:solidFill>
                <a:latin typeface="Meiryo"/>
                <a:ea typeface="Meiryo"/>
              </a:rPr>
              <a:t>2025-2026年、AIエージェントの時代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2331720"/>
            <a:ext cx="11183112" cy="254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468880"/>
            <a:ext cx="11183112" cy="35204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</a:pPr>
            <a:r>
              <a:rPr sz="3500">
                <a:solidFill>
                  <a:srgbClr val="323130"/>
                </a:solidFill>
                <a:latin typeface="Meiryo"/>
                <a:ea typeface="Meiryo"/>
              </a:rPr>
              <a:t>• AIエージェント多数登場&amp;進化中 （Claude Code, Codex, Gemini CLI, GitHub Copilot CLI, Devin…）</a:t>
            </a:r>
          </a:p>
          <a:p>
            <a:pPr>
              <a:spcAft>
                <a:spcPts val="800"/>
              </a:spcAft>
            </a:pPr>
            <a:r>
              <a:rPr sz="3500">
                <a:solidFill>
                  <a:srgbClr val="323130"/>
                </a:solidFill>
                <a:latin typeface="Meiryo"/>
                <a:ea typeface="Meiryo"/>
              </a:rPr>
              <a:t>• </a:t>
            </a:r>
            <a:r>
              <a:rPr sz="3500" b="1">
                <a:solidFill>
                  <a:srgbClr val="323130"/>
                </a:solidFill>
                <a:latin typeface="Meiryo"/>
                <a:ea typeface="Meiryo"/>
              </a:rPr>
              <a:t>1つのAIエージェントが、複数の場所を跨いで動く</a:t>
            </a:r>
          </a:p>
          <a:p>
            <a:pPr>
              <a:spcAft>
                <a:spcPts val="700"/>
              </a:spcAft>
            </a:pPr>
            <a:r>
              <a:rPr sz="3500">
                <a:solidFill>
                  <a:srgbClr val="323130"/>
                </a:solidFill>
                <a:latin typeface="Meiryo"/>
                <a:ea typeface="Meiryo"/>
              </a:rPr>
              <a:t>→ これ、</a:t>
            </a:r>
            <a:r>
              <a:rPr sz="3500" b="1">
                <a:solidFill>
                  <a:srgbClr val="323130"/>
                </a:solidFill>
                <a:latin typeface="Meiryo"/>
                <a:ea typeface="Meiryo"/>
              </a:rPr>
              <a:t>本当のハイブリッドクラウド</a:t>
            </a:r>
            <a:r>
              <a:rPr sz="3500">
                <a:solidFill>
                  <a:srgbClr val="323130"/>
                </a:solidFill>
                <a:latin typeface="Meiryo"/>
                <a:ea typeface="Meiryo"/>
              </a:rPr>
              <a:t>じゃない？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17352" y="649224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606060"/>
                </a:solidFill>
                <a:latin typeface="Meiryo"/>
              </a:rPr>
              <a:t>15 / 63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777240"/>
            <a:ext cx="11183112" cy="54864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spcAft>
                <a:spcPts val="800"/>
              </a:spcAft>
            </a:pPr>
            <a:r>
              <a:rPr sz="4800" b="1">
                <a:solidFill>
                  <a:srgbClr val="0078D4"/>
                </a:solidFill>
                <a:latin typeface="Meiryo"/>
                <a:ea typeface="Meiryo"/>
              </a:rPr>
              <a:t>Part 3</a:t>
            </a:r>
          </a:p>
          <a:p>
            <a:pPr algn="ctr">
              <a:spcAft>
                <a:spcPts val="800"/>
              </a:spcAft>
            </a:pPr>
            <a:r>
              <a:rPr sz="4800" b="1">
                <a:solidFill>
                  <a:srgbClr val="0078D4"/>
                </a:solidFill>
                <a:latin typeface="Meiryo"/>
                <a:ea typeface="Meiryo"/>
              </a:rPr>
              <a:t>3つの要素 × 3つの配置先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17352" y="649224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606060"/>
                </a:solidFill>
                <a:latin typeface="Meiryo"/>
              </a:rPr>
              <a:t>16 / 63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183112" cy="1645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5400" b="1">
                <a:solidFill>
                  <a:srgbClr val="0078D4"/>
                </a:solidFill>
                <a:latin typeface="Meiryo"/>
                <a:ea typeface="Meiryo"/>
              </a:rPr>
              <a:t>⚠️ 今日一番伝えたいことの１つ！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2331720"/>
            <a:ext cx="11183112" cy="254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468880"/>
            <a:ext cx="11183112" cy="35204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1200"/>
              </a:spcAft>
            </a:pPr>
            <a:r>
              <a:rPr sz="4100" b="1">
                <a:solidFill>
                  <a:srgbClr val="0078D4"/>
                </a:solidFill>
                <a:latin typeface="Meiryo"/>
                <a:ea typeface="Meiryo"/>
              </a:rPr>
              <a:t>難しいけどよく理解が必要！</a:t>
            </a:r>
          </a:p>
          <a:p>
            <a:pPr>
              <a:spcAft>
                <a:spcPts val="700"/>
              </a:spcAft>
            </a:pPr>
            <a:r>
              <a:rPr sz="3600">
                <a:solidFill>
                  <a:srgbClr val="323130"/>
                </a:solidFill>
                <a:latin typeface="Meiryo"/>
                <a:ea typeface="Meiryo"/>
              </a:rPr>
              <a:t>※製品名・サービス名は覚えなくてOK。</a:t>
            </a:r>
          </a:p>
          <a:p>
            <a:pPr>
              <a:spcAft>
                <a:spcPts val="700"/>
              </a:spcAft>
            </a:pPr>
            <a:r>
              <a:rPr sz="3600" b="1">
                <a:solidFill>
                  <a:srgbClr val="323130"/>
                </a:solidFill>
                <a:latin typeface="Meiryo"/>
                <a:ea typeface="Meiryo"/>
              </a:rPr>
              <a:t>注目してほしいのは表の中身ではなく「表の構造」そのもの。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17352" y="649224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606060"/>
                </a:solidFill>
                <a:latin typeface="Meiryo"/>
              </a:rPr>
              <a:t>17 / 63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183112" cy="7543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3600" b="1">
                <a:solidFill>
                  <a:srgbClr val="0078D4"/>
                </a:solidFill>
                <a:latin typeface="Meiryo"/>
                <a:ea typeface="Meiryo"/>
              </a:rPr>
              <a:t>AIエージェント時代のハイブリッドを整理する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440180"/>
            <a:ext cx="11183112" cy="254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577340"/>
            <a:ext cx="11183112" cy="9519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600"/>
              </a:spcAft>
            </a:pPr>
            <a:r>
              <a:rPr sz="2000" b="1">
                <a:solidFill>
                  <a:srgbClr val="0078D4"/>
                </a:solidFill>
                <a:latin typeface="Meiryo"/>
                <a:ea typeface="Meiryo"/>
              </a:rPr>
              <a:t>3つの要素が、それぞれ自由な場所に配置される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2620772"/>
          <a:ext cx="11183112" cy="25768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95778"/>
                <a:gridCol w="2795778"/>
                <a:gridCol w="2795778"/>
                <a:gridCol w="2795778"/>
              </a:tblGrid>
              <a:tr h="644207">
                <a:tc>
                  <a:txBody>
                    <a:bodyPr/>
                    <a:lstStyle/>
                    <a:p/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243A5E"/>
                          </a:solidFill>
                          <a:latin typeface="Meiryo"/>
                          <a:ea typeface="Meiryo"/>
                        </a:rPr>
                        <a:t>オンプレ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243A5E"/>
                          </a:solidFill>
                          <a:latin typeface="Meiryo"/>
                          <a:ea typeface="Meiryo"/>
                        </a:rPr>
                        <a:t>クラウド基盤（IaaS/PaaS）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243A5E"/>
                          </a:solidFill>
                          <a:latin typeface="Meiryo"/>
                          <a:ea typeface="Meiryo"/>
                        </a:rPr>
                        <a:t>SaaS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</a:tr>
              <a:tr h="644207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23130"/>
                          </a:solidFill>
                          <a:latin typeface="Meiryo"/>
                          <a:ea typeface="Meiryo"/>
                        </a:rPr>
                        <a:t>モデル(実行基盤)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23130"/>
                          </a:solidFill>
                          <a:latin typeface="Meiryo"/>
                          <a:ea typeface="Meiryo"/>
                        </a:rPr>
                        <a:t>Ollama, vLLM等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23130"/>
                          </a:solidFill>
                          <a:latin typeface="Meiryo"/>
                          <a:ea typeface="Meiryo"/>
                        </a:rPr>
                        <a:t>Microsoft Foundry等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23130"/>
                          </a:solidFill>
                          <a:latin typeface="Meiryo"/>
                          <a:ea typeface="Meiryo"/>
                        </a:rPr>
                        <a:t>OpenAI API, Anthropic API, Google AI API等</a:t>
                      </a:r>
                    </a:p>
                  </a:txBody>
                  <a:tcPr/>
                </a:tc>
              </a:tr>
              <a:tr h="644207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23130"/>
                          </a:solidFill>
                          <a:latin typeface="Meiryo"/>
                          <a:ea typeface="Meiryo"/>
                        </a:rPr>
                        <a:t>エージェントソフト</a:t>
                      </a: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sz="1100">
                          <a:solidFill>
                            <a:srgbClr val="323130"/>
                          </a:solidFill>
                          <a:latin typeface="Meiryo"/>
                          <a:ea typeface="Meiryo"/>
                        </a:rPr>
                        <a:t>自作, Claude Code, Codex, Gemini CLI, GitHub Copilot CLI　など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23130"/>
                          </a:solidFill>
                          <a:latin typeface="Meiryo"/>
                          <a:ea typeface="Meiryo"/>
                        </a:rPr>
                        <a:t>GitHub Copilot Coding Agent, Claude Code on the Web, Devin　など</a:t>
                      </a:r>
                    </a:p>
                  </a:txBody>
                  <a:tcPr/>
                </a:tc>
              </a:tr>
              <a:tr h="64420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23130"/>
                          </a:solidFill>
                          <a:latin typeface="Meiryo"/>
                          <a:ea typeface="Meiryo"/>
                        </a:rPr>
                        <a:t>コンテキスト</a:t>
                      </a: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sz="1100">
                          <a:solidFill>
                            <a:srgbClr val="323130"/>
                          </a:solidFill>
                          <a:latin typeface="Meiryo"/>
                          <a:ea typeface="Meiryo"/>
                        </a:rPr>
                        <a:t>ファイル（CLAUDE.md, フォルダ構造で工夫）/ Gitレポジトリ, GitLab / DB・ベクトルストア など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23130"/>
                          </a:solidFill>
                          <a:latin typeface="Meiryo"/>
                          <a:ea typeface="Meiryo"/>
                        </a:rPr>
                        <a:t>GitHubレポジトリ, Copilot Spaces, M365, WorkIQ, Google Workspaces, Notion 等(※API, MCP経由でどこでもつながる)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02920" y="5289041"/>
            <a:ext cx="11183112" cy="70027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400"/>
              </a:spcAft>
            </a:pPr>
            <a:r>
              <a:rPr sz="1800">
                <a:solidFill>
                  <a:srgbClr val="323130"/>
                </a:solidFill>
                <a:latin typeface="Meiryo"/>
                <a:ea typeface="Meiryo"/>
              </a:rPr>
              <a:t>• </a:t>
            </a:r>
            <a:r>
              <a:rPr sz="1800" b="1">
                <a:solidFill>
                  <a:srgbClr val="323130"/>
                </a:solidFill>
                <a:latin typeface="Meiryo"/>
                <a:ea typeface="Meiryo"/>
              </a:rPr>
              <a:t>3要素(それぞれ選択肢膨大) × 3配置先 = 無数の組み合わせ</a:t>
            </a:r>
          </a:p>
          <a:p>
            <a:pPr>
              <a:spcAft>
                <a:spcPts val="400"/>
              </a:spcAft>
            </a:pPr>
            <a:r>
              <a:rPr sz="1800">
                <a:solidFill>
                  <a:srgbClr val="323130"/>
                </a:solidFill>
                <a:latin typeface="Meiryo"/>
                <a:ea typeface="Meiryo"/>
              </a:rPr>
              <a:t>• それぞれが別々の場所にあっていい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17352" y="649224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606060"/>
                </a:solidFill>
                <a:latin typeface="Meiryo"/>
              </a:rPr>
              <a:t>18 / 63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777240"/>
            <a:ext cx="11183112" cy="54864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spcAft>
                <a:spcPts val="800"/>
              </a:spcAft>
            </a:pPr>
            <a:r>
              <a:rPr sz="4800" b="1">
                <a:solidFill>
                  <a:srgbClr val="0078D4"/>
                </a:solidFill>
                <a:latin typeface="Meiryo"/>
                <a:ea typeface="Meiryo"/>
              </a:rPr>
              <a:t>Part 4</a:t>
            </a:r>
          </a:p>
          <a:p>
            <a:pPr algn="ctr">
              <a:spcAft>
                <a:spcPts val="800"/>
              </a:spcAft>
            </a:pPr>
            <a:r>
              <a:rPr sz="4800" b="1">
                <a:solidFill>
                  <a:srgbClr val="0078D4"/>
                </a:solidFill>
                <a:latin typeface="Meiryo"/>
                <a:ea typeface="Meiryo"/>
              </a:rPr>
              <a:t>具体例で見てみよう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17352" y="649224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606060"/>
                </a:solidFill>
                <a:latin typeface="Meiryo"/>
              </a:rPr>
              <a:t>19 / 63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183112" cy="7543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3600" b="1">
                <a:solidFill>
                  <a:srgbClr val="0078D4"/>
                </a:solidFill>
                <a:latin typeface="Meiryo"/>
                <a:ea typeface="Meiryo"/>
              </a:rPr>
              <a:t>例1: M365 Copilot — フルSaaS構成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440180"/>
            <a:ext cx="11183112" cy="254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444" y="1577340"/>
            <a:ext cx="11180064" cy="220599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3874770"/>
            <a:ext cx="11183112" cy="211455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700"/>
              </a:spcAft>
            </a:pPr>
            <a:r>
              <a:rPr sz="2800">
                <a:solidFill>
                  <a:srgbClr val="323130"/>
                </a:solidFill>
                <a:latin typeface="Meiryo"/>
                <a:ea typeface="Meiryo"/>
              </a:rPr>
              <a:t>• </a:t>
            </a:r>
            <a:r>
              <a:rPr sz="2800" b="1">
                <a:solidFill>
                  <a:srgbClr val="323130"/>
                </a:solidFill>
                <a:latin typeface="Meiryo"/>
                <a:ea typeface="Meiryo"/>
              </a:rPr>
              <a:t>モデル</a:t>
            </a:r>
            <a:r>
              <a:rPr sz="2800">
                <a:solidFill>
                  <a:srgbClr val="323130"/>
                </a:solidFill>
                <a:latin typeface="Meiryo"/>
                <a:ea typeface="Meiryo"/>
              </a:rPr>
              <a:t> </a:t>
            </a:r>
            <a:r>
              <a:rPr sz="2300" b="1">
                <a:solidFill>
                  <a:srgbClr val="C62828"/>
                </a:solidFill>
                <a:latin typeface="Meiryo"/>
                <a:ea typeface="Meiryo"/>
              </a:rPr>
              <a:t>SaaS</a:t>
            </a:r>
            <a:r>
              <a:rPr sz="2800">
                <a:solidFill>
                  <a:srgbClr val="323130"/>
                </a:solidFill>
                <a:latin typeface="Meiryo"/>
                <a:ea typeface="Meiryo"/>
              </a:rPr>
              <a:t> / </a:t>
            </a:r>
            <a:r>
              <a:rPr sz="2800" b="1">
                <a:solidFill>
                  <a:srgbClr val="323130"/>
                </a:solidFill>
                <a:latin typeface="Meiryo"/>
                <a:ea typeface="Meiryo"/>
              </a:rPr>
              <a:t>エージェントソフト</a:t>
            </a:r>
            <a:r>
              <a:rPr sz="2800">
                <a:solidFill>
                  <a:srgbClr val="323130"/>
                </a:solidFill>
                <a:latin typeface="Meiryo"/>
                <a:ea typeface="Meiryo"/>
              </a:rPr>
              <a:t> </a:t>
            </a:r>
            <a:r>
              <a:rPr sz="2300" b="1">
                <a:solidFill>
                  <a:srgbClr val="C62828"/>
                </a:solidFill>
                <a:latin typeface="Meiryo"/>
                <a:ea typeface="Meiryo"/>
              </a:rPr>
              <a:t>SaaS</a:t>
            </a:r>
            <a:r>
              <a:rPr sz="2800">
                <a:solidFill>
                  <a:srgbClr val="323130"/>
                </a:solidFill>
                <a:latin typeface="Meiryo"/>
                <a:ea typeface="Meiryo"/>
              </a:rPr>
              <a:t> / </a:t>
            </a:r>
            <a:r>
              <a:rPr sz="2800" b="1">
                <a:solidFill>
                  <a:srgbClr val="323130"/>
                </a:solidFill>
                <a:latin typeface="Meiryo"/>
                <a:ea typeface="Meiryo"/>
              </a:rPr>
              <a:t>コンテキスト</a:t>
            </a:r>
            <a:r>
              <a:rPr sz="2800">
                <a:solidFill>
                  <a:srgbClr val="323130"/>
                </a:solidFill>
                <a:latin typeface="Meiryo"/>
                <a:ea typeface="Meiryo"/>
              </a:rPr>
              <a:t> </a:t>
            </a:r>
            <a:r>
              <a:rPr sz="2300" b="1">
                <a:solidFill>
                  <a:srgbClr val="C62828"/>
                </a:solidFill>
                <a:latin typeface="Meiryo"/>
                <a:ea typeface="Meiryo"/>
              </a:rPr>
              <a:t>SaaS</a:t>
            </a:r>
          </a:p>
          <a:p>
            <a:pPr>
              <a:spcAft>
                <a:spcPts val="700"/>
              </a:spcAft>
            </a:pPr>
            <a:r>
              <a:rPr sz="2800">
                <a:solidFill>
                  <a:srgbClr val="323130"/>
                </a:solidFill>
                <a:latin typeface="Meiryo"/>
                <a:ea typeface="Meiryo"/>
              </a:rPr>
              <a:t>• → </a:t>
            </a:r>
            <a:r>
              <a:rPr sz="2800" b="1">
                <a:solidFill>
                  <a:srgbClr val="323130"/>
                </a:solidFill>
                <a:latin typeface="Meiryo"/>
                <a:ea typeface="Meiryo"/>
              </a:rPr>
              <a:t>すべてSaaS。多くの企業が最初に触れるAIエージェント体験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17352" y="649224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606060"/>
                </a:solidFill>
                <a:latin typeface="Meiryo"/>
              </a:rPr>
              <a:t>20 / 63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183112" cy="7543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3600" b="1">
                <a:solidFill>
                  <a:srgbClr val="0078D4"/>
                </a:solidFill>
                <a:latin typeface="Meiryo"/>
                <a:ea typeface="Meiryo"/>
              </a:rPr>
              <a:t>例2: 典型的なRAG構成（Azure）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440180"/>
            <a:ext cx="11183112" cy="254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444" y="1577340"/>
            <a:ext cx="11180064" cy="34975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5166360"/>
            <a:ext cx="11183112" cy="82295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300"/>
              </a:spcAft>
            </a:pPr>
            <a:r>
              <a:rPr sz="1400">
                <a:solidFill>
                  <a:srgbClr val="323130"/>
                </a:solidFill>
                <a:latin typeface="Meiryo"/>
                <a:ea typeface="Meiryo"/>
              </a:rPr>
              <a:t>• </a:t>
            </a:r>
            <a:r>
              <a:rPr sz="1400" b="1">
                <a:solidFill>
                  <a:srgbClr val="323130"/>
                </a:solidFill>
                <a:latin typeface="Meiryo"/>
                <a:ea typeface="Meiryo"/>
              </a:rPr>
              <a:t>モデル</a:t>
            </a:r>
            <a:r>
              <a:rPr sz="1400">
                <a:solidFill>
                  <a:srgbClr val="323130"/>
                </a:solidFill>
                <a:latin typeface="Meiryo"/>
                <a:ea typeface="Meiryo"/>
              </a:rPr>
              <a:t> </a:t>
            </a:r>
            <a:r>
              <a:rPr sz="1100" b="1">
                <a:solidFill>
                  <a:srgbClr val="1565C0"/>
                </a:solidFill>
                <a:latin typeface="Meiryo"/>
                <a:ea typeface="Meiryo"/>
              </a:rPr>
              <a:t>クラウド基盤</a:t>
            </a:r>
            <a:r>
              <a:rPr sz="1400">
                <a:solidFill>
                  <a:srgbClr val="323130"/>
                </a:solidFill>
                <a:latin typeface="Meiryo"/>
                <a:ea typeface="Meiryo"/>
              </a:rPr>
              <a:t> / </a:t>
            </a:r>
            <a:r>
              <a:rPr sz="1400" b="1">
                <a:solidFill>
                  <a:srgbClr val="323130"/>
                </a:solidFill>
                <a:latin typeface="Meiryo"/>
                <a:ea typeface="Meiryo"/>
              </a:rPr>
              <a:t>エージェントソフト</a:t>
            </a:r>
            <a:r>
              <a:rPr sz="1400">
                <a:solidFill>
                  <a:srgbClr val="323130"/>
                </a:solidFill>
                <a:latin typeface="Meiryo"/>
                <a:ea typeface="Meiryo"/>
              </a:rPr>
              <a:t> </a:t>
            </a:r>
            <a:r>
              <a:rPr sz="1100" b="1">
                <a:solidFill>
                  <a:srgbClr val="1565C0"/>
                </a:solidFill>
                <a:latin typeface="Meiryo"/>
                <a:ea typeface="Meiryo"/>
              </a:rPr>
              <a:t>クラウド基盤</a:t>
            </a:r>
            <a:r>
              <a:rPr sz="1400">
                <a:solidFill>
                  <a:srgbClr val="323130"/>
                </a:solidFill>
                <a:latin typeface="Meiryo"/>
                <a:ea typeface="Meiryo"/>
              </a:rPr>
              <a:t> / </a:t>
            </a:r>
            <a:r>
              <a:rPr sz="1400" b="1">
                <a:solidFill>
                  <a:srgbClr val="323130"/>
                </a:solidFill>
                <a:latin typeface="Meiryo"/>
                <a:ea typeface="Meiryo"/>
              </a:rPr>
              <a:t>コンテキスト</a:t>
            </a:r>
            <a:r>
              <a:rPr sz="1400">
                <a:solidFill>
                  <a:srgbClr val="323130"/>
                </a:solidFill>
                <a:latin typeface="Meiryo"/>
                <a:ea typeface="Meiryo"/>
              </a:rPr>
              <a:t> </a:t>
            </a:r>
            <a:r>
              <a:rPr sz="1100" b="1">
                <a:solidFill>
                  <a:srgbClr val="1565C0"/>
                </a:solidFill>
                <a:latin typeface="Meiryo"/>
                <a:ea typeface="Meiryo"/>
              </a:rPr>
              <a:t>クラウド基盤</a:t>
            </a:r>
          </a:p>
          <a:p>
            <a:pPr>
              <a:spcAft>
                <a:spcPts val="300"/>
              </a:spcAft>
            </a:pPr>
            <a:r>
              <a:rPr sz="1400">
                <a:solidFill>
                  <a:srgbClr val="323130"/>
                </a:solidFill>
                <a:latin typeface="Meiryo"/>
                <a:ea typeface="Meiryo"/>
              </a:rPr>
              <a:t>• → </a:t>
            </a:r>
            <a:r>
              <a:rPr sz="1400" b="1">
                <a:solidFill>
                  <a:srgbClr val="323130"/>
                </a:solidFill>
                <a:latin typeface="Meiryo"/>
                <a:ea typeface="Meiryo"/>
              </a:rPr>
              <a:t>すべてクラウド基盤。自前で構築・管理する典型的なエンタープライズ構成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17352" y="649224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606060"/>
                </a:solidFill>
                <a:latin typeface="Meiryo"/>
              </a:rPr>
              <a:t>21 / 63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183112" cy="7543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3600" b="1">
                <a:solidFill>
                  <a:srgbClr val="0078D4"/>
                </a:solidFill>
                <a:latin typeface="Meiryo"/>
                <a:ea typeface="Meiryo"/>
              </a:rPr>
              <a:t>例3: 典型的なRAG構成（オンプレ）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440180"/>
            <a:ext cx="11183112" cy="254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444" y="1577340"/>
            <a:ext cx="11180064" cy="34975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5166360"/>
            <a:ext cx="11183112" cy="82295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300"/>
              </a:spcAft>
            </a:pPr>
            <a:r>
              <a:rPr sz="1400">
                <a:solidFill>
                  <a:srgbClr val="323130"/>
                </a:solidFill>
                <a:latin typeface="Meiryo"/>
                <a:ea typeface="Meiryo"/>
              </a:rPr>
              <a:t>• </a:t>
            </a:r>
            <a:r>
              <a:rPr sz="1400" b="1">
                <a:solidFill>
                  <a:srgbClr val="323130"/>
                </a:solidFill>
                <a:latin typeface="Meiryo"/>
                <a:ea typeface="Meiryo"/>
              </a:rPr>
              <a:t>モデル</a:t>
            </a:r>
            <a:r>
              <a:rPr sz="1400">
                <a:solidFill>
                  <a:srgbClr val="323130"/>
                </a:solidFill>
                <a:latin typeface="Meiryo"/>
                <a:ea typeface="Meiryo"/>
              </a:rPr>
              <a:t> </a:t>
            </a:r>
            <a:r>
              <a:rPr sz="1100" b="1">
                <a:solidFill>
                  <a:srgbClr val="2E7D32"/>
                </a:solidFill>
                <a:latin typeface="Meiryo"/>
                <a:ea typeface="Meiryo"/>
              </a:rPr>
              <a:t>オンプレ</a:t>
            </a:r>
            <a:r>
              <a:rPr sz="1400">
                <a:solidFill>
                  <a:srgbClr val="323130"/>
                </a:solidFill>
                <a:latin typeface="Meiryo"/>
                <a:ea typeface="Meiryo"/>
              </a:rPr>
              <a:t> / </a:t>
            </a:r>
            <a:r>
              <a:rPr sz="1400" b="1">
                <a:solidFill>
                  <a:srgbClr val="323130"/>
                </a:solidFill>
                <a:latin typeface="Meiryo"/>
                <a:ea typeface="Meiryo"/>
              </a:rPr>
              <a:t>エージェントソフト</a:t>
            </a:r>
            <a:r>
              <a:rPr sz="1400">
                <a:solidFill>
                  <a:srgbClr val="323130"/>
                </a:solidFill>
                <a:latin typeface="Meiryo"/>
                <a:ea typeface="Meiryo"/>
              </a:rPr>
              <a:t> </a:t>
            </a:r>
            <a:r>
              <a:rPr sz="1100" b="1">
                <a:solidFill>
                  <a:srgbClr val="2E7D32"/>
                </a:solidFill>
                <a:latin typeface="Meiryo"/>
                <a:ea typeface="Meiryo"/>
              </a:rPr>
              <a:t>オンプレ</a:t>
            </a:r>
            <a:r>
              <a:rPr sz="1400">
                <a:solidFill>
                  <a:srgbClr val="323130"/>
                </a:solidFill>
                <a:latin typeface="Meiryo"/>
                <a:ea typeface="Meiryo"/>
              </a:rPr>
              <a:t> / </a:t>
            </a:r>
            <a:r>
              <a:rPr sz="1400" b="1">
                <a:solidFill>
                  <a:srgbClr val="323130"/>
                </a:solidFill>
                <a:latin typeface="Meiryo"/>
                <a:ea typeface="Meiryo"/>
              </a:rPr>
              <a:t>コンテキスト</a:t>
            </a:r>
            <a:r>
              <a:rPr sz="1400">
                <a:solidFill>
                  <a:srgbClr val="323130"/>
                </a:solidFill>
                <a:latin typeface="Meiryo"/>
                <a:ea typeface="Meiryo"/>
              </a:rPr>
              <a:t> </a:t>
            </a:r>
            <a:r>
              <a:rPr sz="1100" b="1">
                <a:solidFill>
                  <a:srgbClr val="2E7D32"/>
                </a:solidFill>
                <a:latin typeface="Meiryo"/>
                <a:ea typeface="Meiryo"/>
              </a:rPr>
              <a:t>オンプレ</a:t>
            </a:r>
          </a:p>
          <a:p>
            <a:pPr>
              <a:spcAft>
                <a:spcPts val="300"/>
              </a:spcAft>
            </a:pPr>
            <a:r>
              <a:rPr sz="1400">
                <a:solidFill>
                  <a:srgbClr val="323130"/>
                </a:solidFill>
                <a:latin typeface="Meiryo"/>
                <a:ea typeface="Meiryo"/>
              </a:rPr>
              <a:t>• → </a:t>
            </a:r>
            <a:r>
              <a:rPr sz="1400" b="1">
                <a:solidFill>
                  <a:srgbClr val="323130"/>
                </a:solidFill>
                <a:latin typeface="Meiryo"/>
                <a:ea typeface="Meiryo"/>
              </a:rPr>
              <a:t>すべてオンプレ。データを外に出せない要件がある場合の構成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17352" y="649224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606060"/>
                </a:solidFill>
                <a:latin typeface="Meiryo"/>
              </a:rPr>
              <a:t>22 / 63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183112" cy="7543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3600" b="1">
                <a:solidFill>
                  <a:srgbClr val="0078D4"/>
                </a:solidFill>
                <a:latin typeface="Meiryo"/>
                <a:ea typeface="Meiryo"/>
              </a:rPr>
              <a:t>例4: GitHub Copilot CLI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440180"/>
            <a:ext cx="11183112" cy="254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444" y="1577340"/>
            <a:ext cx="11180064" cy="31699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4838699"/>
            <a:ext cx="11183112" cy="11506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300"/>
              </a:spcAft>
            </a:pPr>
            <a:r>
              <a:rPr sz="1400">
                <a:solidFill>
                  <a:srgbClr val="323130"/>
                </a:solidFill>
                <a:latin typeface="Meiryo"/>
                <a:ea typeface="Meiryo"/>
              </a:rPr>
              <a:t>• </a:t>
            </a:r>
            <a:r>
              <a:rPr sz="1400" b="1">
                <a:solidFill>
                  <a:srgbClr val="323130"/>
                </a:solidFill>
                <a:latin typeface="Meiryo"/>
                <a:ea typeface="Meiryo"/>
              </a:rPr>
              <a:t>モデル</a:t>
            </a:r>
            <a:r>
              <a:rPr sz="1400">
                <a:solidFill>
                  <a:srgbClr val="323130"/>
                </a:solidFill>
                <a:latin typeface="Meiryo"/>
                <a:ea typeface="Meiryo"/>
              </a:rPr>
              <a:t> </a:t>
            </a:r>
            <a:r>
              <a:rPr sz="1100" b="1">
                <a:solidFill>
                  <a:srgbClr val="C62828"/>
                </a:solidFill>
                <a:latin typeface="Meiryo"/>
                <a:ea typeface="Meiryo"/>
              </a:rPr>
              <a:t>SaaS</a:t>
            </a:r>
            <a:r>
              <a:rPr sz="1400">
                <a:solidFill>
                  <a:srgbClr val="323130"/>
                </a:solidFill>
                <a:latin typeface="Meiryo"/>
                <a:ea typeface="Meiryo"/>
              </a:rPr>
              <a:t> GPT / Claude / Gemini（選択可）</a:t>
            </a:r>
          </a:p>
          <a:p>
            <a:pPr>
              <a:spcAft>
                <a:spcPts val="300"/>
              </a:spcAft>
            </a:pPr>
            <a:r>
              <a:rPr sz="1400">
                <a:solidFill>
                  <a:srgbClr val="323130"/>
                </a:solidFill>
                <a:latin typeface="Meiryo"/>
                <a:ea typeface="Meiryo"/>
              </a:rPr>
              <a:t>• </a:t>
            </a:r>
            <a:r>
              <a:rPr sz="1400" b="1">
                <a:solidFill>
                  <a:srgbClr val="323130"/>
                </a:solidFill>
                <a:latin typeface="Meiryo"/>
                <a:ea typeface="Meiryo"/>
              </a:rPr>
              <a:t>エージェントソフト</a:t>
            </a:r>
            <a:r>
              <a:rPr sz="1400">
                <a:solidFill>
                  <a:srgbClr val="323130"/>
                </a:solidFill>
                <a:latin typeface="Meiryo"/>
                <a:ea typeface="Meiryo"/>
              </a:rPr>
              <a:t> </a:t>
            </a:r>
            <a:r>
              <a:rPr sz="1100" b="1">
                <a:solidFill>
                  <a:srgbClr val="2E7D32"/>
                </a:solidFill>
                <a:latin typeface="Meiryo"/>
                <a:ea typeface="Meiryo"/>
              </a:rPr>
              <a:t>オンプレ</a:t>
            </a:r>
            <a:r>
              <a:rPr sz="1400">
                <a:solidFill>
                  <a:srgbClr val="323130"/>
                </a:solidFill>
                <a:latin typeface="Meiryo"/>
                <a:ea typeface="Meiryo"/>
              </a:rPr>
              <a:t> Copilot CLI（ローカルPC）</a:t>
            </a:r>
          </a:p>
          <a:p>
            <a:pPr>
              <a:spcAft>
                <a:spcPts val="300"/>
              </a:spcAft>
            </a:pPr>
            <a:r>
              <a:rPr sz="1400">
                <a:solidFill>
                  <a:srgbClr val="323130"/>
                </a:solidFill>
                <a:latin typeface="Meiryo"/>
                <a:ea typeface="Meiryo"/>
              </a:rPr>
              <a:t>• </a:t>
            </a:r>
            <a:r>
              <a:rPr sz="1400" b="1">
                <a:solidFill>
                  <a:srgbClr val="323130"/>
                </a:solidFill>
                <a:latin typeface="Meiryo"/>
                <a:ea typeface="Meiryo"/>
              </a:rPr>
              <a:t>コンテキスト</a:t>
            </a:r>
            <a:r>
              <a:rPr sz="1400">
                <a:solidFill>
                  <a:srgbClr val="323130"/>
                </a:solidFill>
                <a:latin typeface="Meiryo"/>
                <a:ea typeface="Meiryo"/>
              </a:rPr>
              <a:t> </a:t>
            </a:r>
            <a:r>
              <a:rPr sz="1100" b="1">
                <a:solidFill>
                  <a:srgbClr val="2E7D32"/>
                </a:solidFill>
                <a:latin typeface="Meiryo"/>
                <a:ea typeface="Meiryo"/>
              </a:rPr>
              <a:t>オンプレ</a:t>
            </a:r>
            <a:r>
              <a:rPr sz="1400">
                <a:solidFill>
                  <a:srgbClr val="323130"/>
                </a:solidFill>
                <a:latin typeface="Meiryo"/>
                <a:ea typeface="Meiryo"/>
              </a:rPr>
              <a:t> ソースコード等 + </a:t>
            </a:r>
            <a:r>
              <a:rPr sz="1100" b="1">
                <a:solidFill>
                  <a:srgbClr val="C62828"/>
                </a:solidFill>
                <a:latin typeface="Meiryo"/>
                <a:ea typeface="Meiryo"/>
              </a:rPr>
              <a:t>SaaS</a:t>
            </a:r>
            <a:r>
              <a:rPr sz="1400">
                <a:solidFill>
                  <a:srgbClr val="323130"/>
                </a:solidFill>
                <a:latin typeface="Meiryo"/>
                <a:ea typeface="Meiryo"/>
              </a:rPr>
              <a:t> GitHub Issues, Copilot Spaces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17352" y="649224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606060"/>
                </a:solidFill>
                <a:latin typeface="Meiryo"/>
              </a:rPr>
              <a:t>23 / 63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183112" cy="7543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3600" b="1">
                <a:solidFill>
                  <a:srgbClr val="0078D4"/>
                </a:solidFill>
                <a:latin typeface="Meiryo"/>
                <a:ea typeface="Meiryo"/>
              </a:rPr>
              <a:t>例5: 私の環境（Claude Code）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440180"/>
            <a:ext cx="11183112" cy="254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444" y="1577340"/>
            <a:ext cx="11180064" cy="285902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4527804"/>
            <a:ext cx="11183112" cy="146151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300"/>
              </a:spcAft>
            </a:pPr>
            <a:r>
              <a:rPr sz="1400">
                <a:solidFill>
                  <a:srgbClr val="323130"/>
                </a:solidFill>
                <a:latin typeface="Meiryo"/>
                <a:ea typeface="Meiryo"/>
              </a:rPr>
              <a:t>• </a:t>
            </a:r>
            <a:r>
              <a:rPr sz="1400" b="1">
                <a:solidFill>
                  <a:srgbClr val="323130"/>
                </a:solidFill>
                <a:latin typeface="Meiryo"/>
                <a:ea typeface="Meiryo"/>
              </a:rPr>
              <a:t>モデル</a:t>
            </a:r>
            <a:r>
              <a:rPr sz="1400">
                <a:solidFill>
                  <a:srgbClr val="323130"/>
                </a:solidFill>
                <a:latin typeface="Meiryo"/>
                <a:ea typeface="Meiryo"/>
              </a:rPr>
              <a:t> </a:t>
            </a:r>
            <a:r>
              <a:rPr sz="1100" b="1">
                <a:solidFill>
                  <a:srgbClr val="C62828"/>
                </a:solidFill>
                <a:latin typeface="Meiryo"/>
                <a:ea typeface="Meiryo"/>
              </a:rPr>
              <a:t>SaaS</a:t>
            </a:r>
            <a:r>
              <a:rPr sz="1400">
                <a:solidFill>
                  <a:srgbClr val="323130"/>
                </a:solidFill>
                <a:latin typeface="Meiryo"/>
                <a:ea typeface="Meiryo"/>
              </a:rPr>
              <a:t> Anthropic API</a:t>
            </a:r>
          </a:p>
          <a:p>
            <a:pPr>
              <a:spcAft>
                <a:spcPts val="300"/>
              </a:spcAft>
            </a:pPr>
            <a:r>
              <a:rPr sz="1400">
                <a:solidFill>
                  <a:srgbClr val="323130"/>
                </a:solidFill>
                <a:latin typeface="Meiryo"/>
                <a:ea typeface="Meiryo"/>
              </a:rPr>
              <a:t>• </a:t>
            </a:r>
            <a:r>
              <a:rPr sz="1400" b="1">
                <a:solidFill>
                  <a:srgbClr val="323130"/>
                </a:solidFill>
                <a:latin typeface="Meiryo"/>
                <a:ea typeface="Meiryo"/>
              </a:rPr>
              <a:t>エージェントソフト</a:t>
            </a:r>
            <a:r>
              <a:rPr sz="1400">
                <a:solidFill>
                  <a:srgbClr val="323130"/>
                </a:solidFill>
                <a:latin typeface="Meiryo"/>
                <a:ea typeface="Meiryo"/>
              </a:rPr>
              <a:t> </a:t>
            </a:r>
            <a:r>
              <a:rPr sz="1100" b="1">
                <a:solidFill>
                  <a:srgbClr val="2E7D32"/>
                </a:solidFill>
                <a:latin typeface="Meiryo"/>
                <a:ea typeface="Meiryo"/>
              </a:rPr>
              <a:t>オンプレ</a:t>
            </a:r>
            <a:r>
              <a:rPr sz="1400">
                <a:solidFill>
                  <a:srgbClr val="323130"/>
                </a:solidFill>
                <a:latin typeface="Meiryo"/>
                <a:ea typeface="Meiryo"/>
              </a:rPr>
              <a:t> Claude Code（ローカルPC）</a:t>
            </a:r>
          </a:p>
          <a:p>
            <a:pPr>
              <a:spcAft>
                <a:spcPts val="300"/>
              </a:spcAft>
            </a:pPr>
            <a:r>
              <a:rPr sz="1400">
                <a:solidFill>
                  <a:srgbClr val="323130"/>
                </a:solidFill>
                <a:latin typeface="Meiryo"/>
                <a:ea typeface="Meiryo"/>
              </a:rPr>
              <a:t>• </a:t>
            </a:r>
            <a:r>
              <a:rPr sz="1400" b="1">
                <a:solidFill>
                  <a:srgbClr val="323130"/>
                </a:solidFill>
                <a:latin typeface="Meiryo"/>
                <a:ea typeface="Meiryo"/>
              </a:rPr>
              <a:t>コンテキスト</a:t>
            </a:r>
            <a:r>
              <a:rPr sz="1400">
                <a:solidFill>
                  <a:srgbClr val="323130"/>
                </a:solidFill>
                <a:latin typeface="Meiryo"/>
                <a:ea typeface="Meiryo"/>
              </a:rPr>
              <a:t> </a:t>
            </a:r>
            <a:r>
              <a:rPr sz="1100" b="1">
                <a:solidFill>
                  <a:srgbClr val="2E7D32"/>
                </a:solidFill>
                <a:latin typeface="Meiryo"/>
                <a:ea typeface="Meiryo"/>
              </a:rPr>
              <a:t>オンプレ</a:t>
            </a:r>
            <a:r>
              <a:rPr sz="1400">
                <a:solidFill>
                  <a:srgbClr val="323130"/>
                </a:solidFill>
                <a:latin typeface="Meiryo"/>
                <a:ea typeface="Meiryo"/>
              </a:rPr>
              <a:t> CLAUDE.md, Obsidian等 + </a:t>
            </a:r>
            <a:r>
              <a:rPr sz="1100" b="1">
                <a:solidFill>
                  <a:srgbClr val="C62828"/>
                </a:solidFill>
                <a:latin typeface="Meiryo"/>
                <a:ea typeface="Meiryo"/>
              </a:rPr>
              <a:t>SaaS</a:t>
            </a:r>
            <a:r>
              <a:rPr sz="1400">
                <a:solidFill>
                  <a:srgbClr val="323130"/>
                </a:solidFill>
                <a:latin typeface="Meiryo"/>
                <a:ea typeface="Meiryo"/>
              </a:rPr>
              <a:t> GitHub, Todoist等</a:t>
            </a:r>
          </a:p>
          <a:p>
            <a:pPr>
              <a:spcAft>
                <a:spcPts val="300"/>
              </a:spcAft>
            </a:pPr>
            <a:r>
              <a:rPr sz="1400">
                <a:solidFill>
                  <a:srgbClr val="323130"/>
                </a:solidFill>
                <a:latin typeface="Meiryo"/>
                <a:ea typeface="Meiryo"/>
              </a:rPr>
              <a:t>    • 必要な情報はClaude Code自体が必要に応じてエージェンティックに取得する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17352" y="649224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606060"/>
                </a:solidFill>
                <a:latin typeface="Meiryo"/>
              </a:rPr>
              <a:t>24 / 63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183112" cy="1371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3600" b="1">
                <a:solidFill>
                  <a:srgbClr val="0078D4"/>
                </a:solidFill>
                <a:latin typeface="Meiryo"/>
                <a:ea typeface="Meiryo"/>
              </a:rPr>
              <a:t>例6: 前回(第70回)の勉強会の例（DGX Spark × Azure）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2057400"/>
            <a:ext cx="11183112" cy="254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444" y="2194560"/>
            <a:ext cx="11180064" cy="257809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4864099"/>
            <a:ext cx="11183112" cy="11252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300"/>
              </a:spcAft>
            </a:pPr>
            <a:r>
              <a:rPr sz="1400">
                <a:solidFill>
                  <a:srgbClr val="323130"/>
                </a:solidFill>
                <a:latin typeface="Meiryo"/>
                <a:ea typeface="Meiryo"/>
              </a:rPr>
              <a:t>• </a:t>
            </a:r>
            <a:r>
              <a:rPr sz="1400" b="1">
                <a:solidFill>
                  <a:srgbClr val="323130"/>
                </a:solidFill>
                <a:latin typeface="Meiryo"/>
                <a:ea typeface="Meiryo"/>
              </a:rPr>
              <a:t>モデル</a:t>
            </a:r>
            <a:r>
              <a:rPr sz="1400">
                <a:solidFill>
                  <a:srgbClr val="323130"/>
                </a:solidFill>
                <a:latin typeface="Meiryo"/>
                <a:ea typeface="Meiryo"/>
              </a:rPr>
              <a:t> </a:t>
            </a:r>
            <a:r>
              <a:rPr sz="1100" b="1">
                <a:solidFill>
                  <a:srgbClr val="2E7D32"/>
                </a:solidFill>
                <a:latin typeface="Meiryo"/>
                <a:ea typeface="Meiryo"/>
              </a:rPr>
              <a:t>オンプレ</a:t>
            </a:r>
            <a:r>
              <a:rPr sz="1400">
                <a:solidFill>
                  <a:srgbClr val="323130"/>
                </a:solidFill>
                <a:latin typeface="Meiryo"/>
                <a:ea typeface="Meiryo"/>
              </a:rPr>
              <a:t> DGX Spark + </a:t>
            </a:r>
            <a:r>
              <a:rPr sz="1100" b="1">
                <a:solidFill>
                  <a:srgbClr val="1565C0"/>
                </a:solidFill>
                <a:latin typeface="Meiryo"/>
                <a:ea typeface="Meiryo"/>
              </a:rPr>
              <a:t>クラウド基盤</a:t>
            </a:r>
            <a:r>
              <a:rPr sz="1400">
                <a:solidFill>
                  <a:srgbClr val="323130"/>
                </a:solidFill>
                <a:latin typeface="Meiryo"/>
                <a:ea typeface="Meiryo"/>
              </a:rPr>
              <a:t> Microsoft Foundry（フォールバック）</a:t>
            </a:r>
          </a:p>
          <a:p>
            <a:pPr>
              <a:spcAft>
                <a:spcPts val="300"/>
              </a:spcAft>
            </a:pPr>
            <a:r>
              <a:rPr sz="1400">
                <a:solidFill>
                  <a:srgbClr val="323130"/>
                </a:solidFill>
                <a:latin typeface="Meiryo"/>
                <a:ea typeface="Meiryo"/>
              </a:rPr>
              <a:t>• </a:t>
            </a:r>
            <a:r>
              <a:rPr sz="1400" b="1">
                <a:solidFill>
                  <a:srgbClr val="323130"/>
                </a:solidFill>
                <a:latin typeface="Meiryo"/>
                <a:ea typeface="Meiryo"/>
              </a:rPr>
              <a:t>エージェントソフト</a:t>
            </a:r>
            <a:r>
              <a:rPr sz="1400">
                <a:solidFill>
                  <a:srgbClr val="323130"/>
                </a:solidFill>
                <a:latin typeface="Meiryo"/>
                <a:ea typeface="Meiryo"/>
              </a:rPr>
              <a:t> </a:t>
            </a:r>
            <a:r>
              <a:rPr sz="1100" b="1">
                <a:solidFill>
                  <a:srgbClr val="1565C0"/>
                </a:solidFill>
                <a:latin typeface="Meiryo"/>
                <a:ea typeface="Meiryo"/>
              </a:rPr>
              <a:t>クラウド基盤</a:t>
            </a:r>
            <a:r>
              <a:rPr sz="1400">
                <a:solidFill>
                  <a:srgbClr val="323130"/>
                </a:solidFill>
                <a:latin typeface="Meiryo"/>
                <a:ea typeface="Meiryo"/>
              </a:rPr>
              <a:t> 自作（Azure Agent SDK on App Service）</a:t>
            </a:r>
          </a:p>
          <a:p>
            <a:pPr>
              <a:spcAft>
                <a:spcPts val="300"/>
              </a:spcAft>
            </a:pPr>
            <a:r>
              <a:rPr sz="1400">
                <a:solidFill>
                  <a:srgbClr val="323130"/>
                </a:solidFill>
                <a:latin typeface="Meiryo"/>
                <a:ea typeface="Meiryo"/>
              </a:rPr>
              <a:t>• </a:t>
            </a:r>
            <a:r>
              <a:rPr sz="1400" b="1">
                <a:solidFill>
                  <a:srgbClr val="323130"/>
                </a:solidFill>
                <a:latin typeface="Meiryo"/>
                <a:ea typeface="Meiryo"/>
              </a:rPr>
              <a:t>コンテキスト</a:t>
            </a:r>
            <a:r>
              <a:rPr sz="1400">
                <a:solidFill>
                  <a:srgbClr val="323130"/>
                </a:solidFill>
                <a:latin typeface="Meiryo"/>
                <a:ea typeface="Meiryo"/>
              </a:rPr>
              <a:t> </a:t>
            </a:r>
            <a:r>
              <a:rPr sz="1100" b="1">
                <a:solidFill>
                  <a:srgbClr val="C62828"/>
                </a:solidFill>
                <a:latin typeface="Meiryo"/>
                <a:ea typeface="Meiryo"/>
              </a:rPr>
              <a:t>SaaS</a:t>
            </a:r>
            <a:r>
              <a:rPr sz="1400">
                <a:solidFill>
                  <a:srgbClr val="323130"/>
                </a:solidFill>
                <a:latin typeface="Meiryo"/>
                <a:ea typeface="Meiryo"/>
              </a:rPr>
              <a:t> SharePoint内の社内ドキュメント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17352" y="649224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606060"/>
                </a:solidFill>
                <a:latin typeface="Meiryo"/>
              </a:rPr>
              <a:t>25 / 63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777240"/>
            <a:ext cx="11183112" cy="54864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spcAft>
                <a:spcPts val="600"/>
              </a:spcAft>
            </a:pPr>
            <a:r>
              <a:rPr sz="2200" b="1">
                <a:solidFill>
                  <a:srgbClr val="323130"/>
                </a:solidFill>
                <a:latin typeface="Meiryo"/>
                <a:ea typeface="Meiryo"/>
              </a:rPr>
              <a:t>同じモデルでも、エージェントソフトが違えば動きが違う。</a:t>
            </a:r>
            <a:r>
              <a:rPr sz="2200">
                <a:solidFill>
                  <a:srgbClr val="323130"/>
                </a:solidFill>
                <a:latin typeface="Meiryo"/>
                <a:ea typeface="Meiryo"/>
              </a:rPr>
              <a:t>
</a:t>
            </a:r>
            <a:r>
              <a:rPr sz="2200" b="1">
                <a:solidFill>
                  <a:srgbClr val="323130"/>
                </a:solidFill>
                <a:latin typeface="Meiryo"/>
                <a:ea typeface="Meiryo"/>
              </a:rPr>
              <a:t>同じエージェントソフトでも、配置先が違えば使い方が変わる。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17352" y="649224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606060"/>
                </a:solidFill>
                <a:latin typeface="Meiryo"/>
              </a:rPr>
              <a:t>26 / 63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777240"/>
            <a:ext cx="11183112" cy="54864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spcAft>
                <a:spcPts val="800"/>
              </a:spcAft>
            </a:pPr>
            <a:r>
              <a:rPr sz="4800" b="1">
                <a:solidFill>
                  <a:srgbClr val="0078D4"/>
                </a:solidFill>
                <a:latin typeface="Meiryo"/>
                <a:ea typeface="Meiryo"/>
              </a:rPr>
              <a:t>Part 5</a:t>
            </a:r>
          </a:p>
          <a:p>
            <a:pPr algn="ctr">
              <a:spcAft>
                <a:spcPts val="800"/>
              </a:spcAft>
            </a:pPr>
            <a:r>
              <a:rPr sz="4800" b="1">
                <a:solidFill>
                  <a:srgbClr val="0078D4"/>
                </a:solidFill>
                <a:latin typeface="Meiryo"/>
                <a:ea typeface="Meiryo"/>
              </a:rPr>
              <a:t>AIエージェントにおける「引き継ぎ」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17352" y="649224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606060"/>
                </a:solidFill>
                <a:latin typeface="Meiryo"/>
              </a:rPr>
              <a:t>27 / 63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183112" cy="113157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5400" b="1">
                <a:solidFill>
                  <a:srgbClr val="0078D4"/>
                </a:solidFill>
                <a:latin typeface="Meiryo"/>
                <a:ea typeface="Meiryo"/>
              </a:rPr>
              <a:t>問いかけ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817370"/>
            <a:ext cx="11183112" cy="254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954530"/>
            <a:ext cx="11183112" cy="403478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1200"/>
              </a:spcAft>
            </a:pPr>
            <a:r>
              <a:rPr sz="4100" b="1">
                <a:solidFill>
                  <a:srgbClr val="0078D4"/>
                </a:solidFill>
                <a:latin typeface="Meiryo"/>
                <a:ea typeface="Meiryo"/>
              </a:rPr>
              <a:t>エージェントの「作業」を</a:t>
            </a:r>
          </a:p>
          <a:p>
            <a:pPr>
              <a:spcAft>
                <a:spcPts val="1200"/>
              </a:spcAft>
            </a:pPr>
            <a:r>
              <a:rPr sz="4100" b="1">
                <a:solidFill>
                  <a:srgbClr val="0078D4"/>
                </a:solidFill>
                <a:latin typeface="Meiryo"/>
                <a:ea typeface="Meiryo"/>
              </a:rPr>
              <a:t>別の場所に持っていけるとしたら？</a:t>
            </a:r>
          </a:p>
          <a:p>
            <a:pPr>
              <a:spcAft>
                <a:spcPts val="700"/>
              </a:spcAft>
            </a:pPr>
            <a:r>
              <a:rPr sz="3600">
                <a:solidFill>
                  <a:srgbClr val="323130"/>
                </a:solidFill>
                <a:latin typeface="Meiryo"/>
                <a:ea typeface="Meiryo"/>
              </a:rPr>
              <a:t>VM時代は「移行」に数時間〜数日かかった</a:t>
            </a:r>
          </a:p>
          <a:p>
            <a:pPr>
              <a:spcAft>
                <a:spcPts val="700"/>
              </a:spcAft>
            </a:pPr>
            <a:r>
              <a:rPr sz="3600">
                <a:solidFill>
                  <a:srgbClr val="323130"/>
                </a:solidFill>
                <a:latin typeface="Meiryo"/>
                <a:ea typeface="Meiryo"/>
              </a:rPr>
              <a:t>AIエージェント時代は？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17352" y="649224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606060"/>
                </a:solidFill>
                <a:latin typeface="Meiryo"/>
              </a:rPr>
              <a:t>28 / 63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183112" cy="7543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3600" b="1">
                <a:solidFill>
                  <a:srgbClr val="0078D4"/>
                </a:solidFill>
                <a:latin typeface="Meiryo"/>
                <a:ea typeface="Meiryo"/>
              </a:rPr>
              <a:t>Remote Control — UIだけリモート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440180"/>
            <a:ext cx="11183112" cy="254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577340"/>
            <a:ext cx="11183112" cy="82397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400"/>
              </a:spcAft>
            </a:pPr>
            <a:r>
              <a:rPr sz="1600" b="1">
                <a:solidFill>
                  <a:srgbClr val="0078D4"/>
                </a:solidFill>
                <a:latin typeface="Meiryo"/>
                <a:ea typeface="Meiryo"/>
              </a:rPr>
              <a:t>（2026/02/24 発表 · Max/Proプラン）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444" y="2492756"/>
            <a:ext cx="11180064" cy="197764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4561840"/>
            <a:ext cx="11183112" cy="142747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300"/>
              </a:spcAft>
            </a:pPr>
            <a:r>
              <a:rPr sz="1400">
                <a:solidFill>
                  <a:srgbClr val="323130"/>
                </a:solidFill>
                <a:latin typeface="Meiryo"/>
                <a:ea typeface="Meiryo"/>
              </a:rPr>
              <a:t>• </a:t>
            </a:r>
            <a:r>
              <a:rPr sz="1100">
                <a:solidFill>
                  <a:srgbClr val="C7254E"/>
                </a:solidFill>
                <a:latin typeface="Consolas"/>
                <a:ea typeface="Consolas"/>
              </a:rPr>
              <a:t>claude remote-control</a:t>
            </a:r>
            <a:r>
              <a:rPr sz="1400">
                <a:solidFill>
                  <a:srgbClr val="323130"/>
                </a:solidFill>
                <a:latin typeface="Meiryo"/>
                <a:ea typeface="Meiryo"/>
              </a:rPr>
              <a:t> または </a:t>
            </a:r>
            <a:r>
              <a:rPr sz="1100">
                <a:solidFill>
                  <a:srgbClr val="C7254E"/>
                </a:solidFill>
                <a:latin typeface="Consolas"/>
                <a:ea typeface="Consolas"/>
              </a:rPr>
              <a:t>/rc</a:t>
            </a:r>
            <a:r>
              <a:rPr sz="1400">
                <a:solidFill>
                  <a:srgbClr val="323130"/>
                </a:solidFill>
                <a:latin typeface="Meiryo"/>
                <a:ea typeface="Meiryo"/>
              </a:rPr>
              <a:t> で起動</a:t>
            </a:r>
          </a:p>
          <a:p>
            <a:pPr>
              <a:spcAft>
                <a:spcPts val="300"/>
              </a:spcAft>
            </a:pPr>
            <a:r>
              <a:rPr sz="1400">
                <a:solidFill>
                  <a:srgbClr val="323130"/>
                </a:solidFill>
                <a:latin typeface="Meiryo"/>
                <a:ea typeface="Meiryo"/>
              </a:rPr>
              <a:t>• 受信ポートは一切開かない（アウトバウンドHTTPSのみ）</a:t>
            </a:r>
          </a:p>
          <a:p>
            <a:pPr>
              <a:spcAft>
                <a:spcPts val="300"/>
              </a:spcAft>
            </a:pPr>
            <a:r>
              <a:rPr sz="1400">
                <a:solidFill>
                  <a:srgbClr val="323130"/>
                </a:solidFill>
                <a:latin typeface="Meiryo"/>
                <a:ea typeface="Meiryo"/>
              </a:rPr>
              <a:t>• </a:t>
            </a:r>
            <a:r>
              <a:rPr sz="1400" b="1">
                <a:solidFill>
                  <a:srgbClr val="323130"/>
                </a:solidFill>
                <a:latin typeface="Meiryo"/>
                <a:ea typeface="Meiryo"/>
              </a:rPr>
              <a:t>モデル</a:t>
            </a:r>
            <a:r>
              <a:rPr sz="1400">
                <a:solidFill>
                  <a:srgbClr val="323130"/>
                </a:solidFill>
                <a:latin typeface="Meiryo"/>
                <a:ea typeface="Meiryo"/>
              </a:rPr>
              <a:t> </a:t>
            </a:r>
            <a:r>
              <a:rPr sz="1100" b="1">
                <a:solidFill>
                  <a:srgbClr val="C62828"/>
                </a:solidFill>
                <a:latin typeface="Meiryo"/>
                <a:ea typeface="Meiryo"/>
              </a:rPr>
              <a:t>SaaS</a:t>
            </a:r>
            <a:r>
              <a:rPr sz="1400">
                <a:solidFill>
                  <a:srgbClr val="323130"/>
                </a:solidFill>
                <a:latin typeface="Meiryo"/>
                <a:ea typeface="Meiryo"/>
              </a:rPr>
              <a:t> / </a:t>
            </a:r>
            <a:r>
              <a:rPr sz="1400" b="1">
                <a:solidFill>
                  <a:srgbClr val="323130"/>
                </a:solidFill>
                <a:latin typeface="Meiryo"/>
                <a:ea typeface="Meiryo"/>
              </a:rPr>
              <a:t>エージェントソフト</a:t>
            </a:r>
            <a:r>
              <a:rPr sz="1400">
                <a:solidFill>
                  <a:srgbClr val="323130"/>
                </a:solidFill>
                <a:latin typeface="Meiryo"/>
                <a:ea typeface="Meiryo"/>
              </a:rPr>
              <a:t> </a:t>
            </a:r>
            <a:r>
              <a:rPr sz="1100" b="1">
                <a:solidFill>
                  <a:srgbClr val="2E7D32"/>
                </a:solidFill>
                <a:latin typeface="Meiryo"/>
                <a:ea typeface="Meiryo"/>
              </a:rPr>
              <a:t>オンプレ</a:t>
            </a:r>
            <a:r>
              <a:rPr sz="1400">
                <a:solidFill>
                  <a:srgbClr val="323130"/>
                </a:solidFill>
                <a:latin typeface="Meiryo"/>
                <a:ea typeface="Meiryo"/>
              </a:rPr>
              <a:t> / </a:t>
            </a:r>
            <a:r>
              <a:rPr sz="1400" b="1">
                <a:solidFill>
                  <a:srgbClr val="323130"/>
                </a:solidFill>
                <a:latin typeface="Meiryo"/>
                <a:ea typeface="Meiryo"/>
              </a:rPr>
              <a:t>コンテキスト</a:t>
            </a:r>
            <a:r>
              <a:rPr sz="1400">
                <a:solidFill>
                  <a:srgbClr val="323130"/>
                </a:solidFill>
                <a:latin typeface="Meiryo"/>
                <a:ea typeface="Meiryo"/>
              </a:rPr>
              <a:t> </a:t>
            </a:r>
            <a:r>
              <a:rPr sz="1100" b="1">
                <a:solidFill>
                  <a:srgbClr val="2E7D32"/>
                </a:solidFill>
                <a:latin typeface="Meiryo"/>
                <a:ea typeface="Meiryo"/>
              </a:rPr>
              <a:t>オンプレ</a:t>
            </a:r>
          </a:p>
          <a:p>
            <a:pPr>
              <a:spcAft>
                <a:spcPts val="300"/>
              </a:spcAft>
            </a:pPr>
            <a:r>
              <a:rPr sz="1400">
                <a:solidFill>
                  <a:srgbClr val="323130"/>
                </a:solidFill>
                <a:latin typeface="Meiryo"/>
                <a:ea typeface="Meiryo"/>
              </a:rPr>
              <a:t>• </a:t>
            </a:r>
            <a:r>
              <a:rPr sz="1400" b="1">
                <a:solidFill>
                  <a:srgbClr val="323130"/>
                </a:solidFill>
                <a:latin typeface="Meiryo"/>
                <a:ea typeface="Meiryo"/>
              </a:rPr>
              <a:t>操作UI</a:t>
            </a:r>
            <a:r>
              <a:rPr sz="1400">
                <a:solidFill>
                  <a:srgbClr val="323130"/>
                </a:solidFill>
                <a:latin typeface="Meiryo"/>
                <a:ea typeface="Meiryo"/>
              </a:rPr>
              <a:t> </a:t>
            </a:r>
            <a:r>
              <a:rPr sz="1100" b="1">
                <a:solidFill>
                  <a:srgbClr val="C62828"/>
                </a:solidFill>
                <a:latin typeface="Meiryo"/>
                <a:ea typeface="Meiryo"/>
              </a:rPr>
              <a:t>SaaS</a:t>
            </a:r>
            <a:r>
              <a:rPr sz="1400">
                <a:solidFill>
                  <a:srgbClr val="323130"/>
                </a:solidFill>
                <a:latin typeface="Meiryo"/>
                <a:ea typeface="Meiryo"/>
              </a:rPr>
              <a:t> claude.ai（Web / モバイル）← 実行はオンプレのまま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17352" y="649224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606060"/>
                </a:solidFill>
                <a:latin typeface="Meiryo"/>
              </a:rPr>
              <a:t>29 / 63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183112" cy="7543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3600" b="1">
                <a:solidFill>
                  <a:srgbClr val="0078D4"/>
                </a:solidFill>
                <a:latin typeface="Meiryo"/>
                <a:ea typeface="Meiryo"/>
              </a:rPr>
              <a:t>Claude Code on the Web — クラウドで自律実行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440180"/>
            <a:ext cx="11183112" cy="254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444" y="1577340"/>
            <a:ext cx="11180064" cy="25847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4253484"/>
            <a:ext cx="11183112" cy="173583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300"/>
              </a:spcAft>
            </a:pPr>
            <a:r>
              <a:rPr sz="1400">
                <a:solidFill>
                  <a:srgbClr val="323130"/>
                </a:solidFill>
                <a:latin typeface="Meiryo"/>
                <a:ea typeface="Meiryo"/>
              </a:rPr>
              <a:t>• </a:t>
            </a:r>
            <a:r>
              <a:rPr sz="1400" b="1">
                <a:solidFill>
                  <a:srgbClr val="323130"/>
                </a:solidFill>
                <a:latin typeface="Meiryo"/>
                <a:ea typeface="Meiryo"/>
              </a:rPr>
              <a:t>並列実行可能</a:t>
            </a:r>
            <a:r>
              <a:rPr sz="1400">
                <a:solidFill>
                  <a:srgbClr val="323130"/>
                </a:solidFill>
                <a:latin typeface="Meiryo"/>
                <a:ea typeface="Meiryo"/>
              </a:rPr>
              <a:t>：</a:t>
            </a:r>
            <a:r>
              <a:rPr sz="1100">
                <a:solidFill>
                  <a:srgbClr val="C7254E"/>
                </a:solidFill>
                <a:latin typeface="Consolas"/>
                <a:ea typeface="Consolas"/>
              </a:rPr>
              <a:t>--remote</a:t>
            </a:r>
            <a:r>
              <a:rPr sz="1400">
                <a:solidFill>
                  <a:srgbClr val="323130"/>
                </a:solidFill>
                <a:latin typeface="Meiryo"/>
                <a:ea typeface="Meiryo"/>
              </a:rPr>
              <a:t> を複数回叩けばタスクが並走</a:t>
            </a:r>
          </a:p>
          <a:p>
            <a:pPr>
              <a:spcAft>
                <a:spcPts val="300"/>
              </a:spcAft>
            </a:pPr>
            <a:r>
              <a:rPr sz="1400">
                <a:solidFill>
                  <a:srgbClr val="323130"/>
                </a:solidFill>
                <a:latin typeface="Meiryo"/>
                <a:ea typeface="Meiryo"/>
              </a:rPr>
              <a:t>• Web → ローカルの一方向ハンドオフ（逆は新規セッション）</a:t>
            </a:r>
          </a:p>
          <a:p>
            <a:pPr>
              <a:spcAft>
                <a:spcPts val="300"/>
              </a:spcAft>
            </a:pPr>
            <a:r>
              <a:rPr sz="1400">
                <a:solidFill>
                  <a:srgbClr val="323130"/>
                </a:solidFill>
                <a:latin typeface="Meiryo"/>
                <a:ea typeface="Meiryo"/>
              </a:rPr>
              <a:t>• </a:t>
            </a:r>
            <a:r>
              <a:rPr sz="1400" b="1">
                <a:solidFill>
                  <a:srgbClr val="323130"/>
                </a:solidFill>
                <a:latin typeface="Meiryo"/>
                <a:ea typeface="Meiryo"/>
              </a:rPr>
              <a:t>クラウド実行時</a:t>
            </a:r>
            <a:r>
              <a:rPr sz="1400">
                <a:solidFill>
                  <a:srgbClr val="323130"/>
                </a:solidFill>
                <a:latin typeface="Meiryo"/>
                <a:ea typeface="Meiryo"/>
              </a:rPr>
              <a:t>: </a:t>
            </a:r>
            <a:r>
              <a:rPr sz="1400" b="1">
                <a:solidFill>
                  <a:srgbClr val="323130"/>
                </a:solidFill>
                <a:latin typeface="Meiryo"/>
                <a:ea typeface="Meiryo"/>
              </a:rPr>
              <a:t>モデル</a:t>
            </a:r>
            <a:r>
              <a:rPr sz="1400">
                <a:solidFill>
                  <a:srgbClr val="323130"/>
                </a:solidFill>
                <a:latin typeface="Meiryo"/>
                <a:ea typeface="Meiryo"/>
              </a:rPr>
              <a:t> </a:t>
            </a:r>
            <a:r>
              <a:rPr sz="1100" b="1">
                <a:solidFill>
                  <a:srgbClr val="C62828"/>
                </a:solidFill>
                <a:latin typeface="Meiryo"/>
                <a:ea typeface="Meiryo"/>
              </a:rPr>
              <a:t>SaaS</a:t>
            </a:r>
            <a:r>
              <a:rPr sz="1400">
                <a:solidFill>
                  <a:srgbClr val="323130"/>
                </a:solidFill>
                <a:latin typeface="Meiryo"/>
                <a:ea typeface="Meiryo"/>
              </a:rPr>
              <a:t> / </a:t>
            </a:r>
            <a:r>
              <a:rPr sz="1400" b="1">
                <a:solidFill>
                  <a:srgbClr val="323130"/>
                </a:solidFill>
                <a:latin typeface="Meiryo"/>
                <a:ea typeface="Meiryo"/>
              </a:rPr>
              <a:t>エージェントソフト</a:t>
            </a:r>
            <a:r>
              <a:rPr sz="1400">
                <a:solidFill>
                  <a:srgbClr val="323130"/>
                </a:solidFill>
                <a:latin typeface="Meiryo"/>
                <a:ea typeface="Meiryo"/>
              </a:rPr>
              <a:t> </a:t>
            </a:r>
            <a:r>
              <a:rPr sz="1100" b="1">
                <a:solidFill>
                  <a:srgbClr val="C62828"/>
                </a:solidFill>
                <a:latin typeface="Meiryo"/>
                <a:ea typeface="Meiryo"/>
              </a:rPr>
              <a:t>SaaS</a:t>
            </a:r>
            <a:r>
              <a:rPr sz="1400">
                <a:solidFill>
                  <a:srgbClr val="323130"/>
                </a:solidFill>
                <a:latin typeface="Meiryo"/>
                <a:ea typeface="Meiryo"/>
              </a:rPr>
              <a:t> / </a:t>
            </a:r>
            <a:r>
              <a:rPr sz="1400" b="1">
                <a:solidFill>
                  <a:srgbClr val="323130"/>
                </a:solidFill>
                <a:latin typeface="Meiryo"/>
                <a:ea typeface="Meiryo"/>
              </a:rPr>
              <a:t>コンテキスト</a:t>
            </a:r>
            <a:r>
              <a:rPr sz="1400">
                <a:solidFill>
                  <a:srgbClr val="323130"/>
                </a:solidFill>
                <a:latin typeface="Meiryo"/>
                <a:ea typeface="Meiryo"/>
              </a:rPr>
              <a:t> </a:t>
            </a:r>
            <a:r>
              <a:rPr sz="1100" b="1">
                <a:solidFill>
                  <a:srgbClr val="C62828"/>
                </a:solidFill>
                <a:latin typeface="Meiryo"/>
                <a:ea typeface="Meiryo"/>
              </a:rPr>
              <a:t>SaaS</a:t>
            </a:r>
            <a:r>
              <a:rPr sz="1400">
                <a:solidFill>
                  <a:srgbClr val="323130"/>
                </a:solidFill>
                <a:latin typeface="Meiryo"/>
                <a:ea typeface="Meiryo"/>
              </a:rPr>
              <a:t>（GitHub経由のみ）</a:t>
            </a:r>
          </a:p>
          <a:p>
            <a:pPr>
              <a:spcAft>
                <a:spcPts val="300"/>
              </a:spcAft>
            </a:pPr>
            <a:r>
              <a:rPr sz="1400">
                <a:solidFill>
                  <a:srgbClr val="323130"/>
                </a:solidFill>
                <a:latin typeface="Meiryo"/>
                <a:ea typeface="Meiryo"/>
              </a:rPr>
              <a:t>• </a:t>
            </a:r>
            <a:r>
              <a:rPr sz="1400" b="1">
                <a:solidFill>
                  <a:srgbClr val="323130"/>
                </a:solidFill>
                <a:latin typeface="Meiryo"/>
                <a:ea typeface="Meiryo"/>
              </a:rPr>
              <a:t>teleport後</a:t>
            </a:r>
            <a:r>
              <a:rPr sz="1400">
                <a:solidFill>
                  <a:srgbClr val="323130"/>
                </a:solidFill>
                <a:latin typeface="Meiryo"/>
                <a:ea typeface="Meiryo"/>
              </a:rPr>
              <a:t>: </a:t>
            </a:r>
            <a:r>
              <a:rPr sz="1400" b="1">
                <a:solidFill>
                  <a:srgbClr val="323130"/>
                </a:solidFill>
                <a:latin typeface="Meiryo"/>
                <a:ea typeface="Meiryo"/>
              </a:rPr>
              <a:t>モデル</a:t>
            </a:r>
            <a:r>
              <a:rPr sz="1400">
                <a:solidFill>
                  <a:srgbClr val="323130"/>
                </a:solidFill>
                <a:latin typeface="Meiryo"/>
                <a:ea typeface="Meiryo"/>
              </a:rPr>
              <a:t> </a:t>
            </a:r>
            <a:r>
              <a:rPr sz="1100" b="1">
                <a:solidFill>
                  <a:srgbClr val="C62828"/>
                </a:solidFill>
                <a:latin typeface="Meiryo"/>
                <a:ea typeface="Meiryo"/>
              </a:rPr>
              <a:t>SaaS</a:t>
            </a:r>
            <a:r>
              <a:rPr sz="1400">
                <a:solidFill>
                  <a:srgbClr val="323130"/>
                </a:solidFill>
                <a:latin typeface="Meiryo"/>
                <a:ea typeface="Meiryo"/>
              </a:rPr>
              <a:t> / </a:t>
            </a:r>
            <a:r>
              <a:rPr sz="1400" b="1">
                <a:solidFill>
                  <a:srgbClr val="323130"/>
                </a:solidFill>
                <a:latin typeface="Meiryo"/>
                <a:ea typeface="Meiryo"/>
              </a:rPr>
              <a:t>エージェントソフト</a:t>
            </a:r>
            <a:r>
              <a:rPr sz="1400">
                <a:solidFill>
                  <a:srgbClr val="323130"/>
                </a:solidFill>
                <a:latin typeface="Meiryo"/>
                <a:ea typeface="Meiryo"/>
              </a:rPr>
              <a:t> </a:t>
            </a:r>
            <a:r>
              <a:rPr sz="1100" b="1">
                <a:solidFill>
                  <a:srgbClr val="2E7D32"/>
                </a:solidFill>
                <a:latin typeface="Meiryo"/>
                <a:ea typeface="Meiryo"/>
              </a:rPr>
              <a:t>オンプレ</a:t>
            </a:r>
            <a:r>
              <a:rPr sz="1400">
                <a:solidFill>
                  <a:srgbClr val="323130"/>
                </a:solidFill>
                <a:latin typeface="Meiryo"/>
                <a:ea typeface="Meiryo"/>
              </a:rPr>
              <a:t> / </a:t>
            </a:r>
            <a:r>
              <a:rPr sz="1400" b="1">
                <a:solidFill>
                  <a:srgbClr val="323130"/>
                </a:solidFill>
                <a:latin typeface="Meiryo"/>
                <a:ea typeface="Meiryo"/>
              </a:rPr>
              <a:t>コンテキスト</a:t>
            </a:r>
            <a:r>
              <a:rPr sz="1400">
                <a:solidFill>
                  <a:srgbClr val="323130"/>
                </a:solidFill>
                <a:latin typeface="Meiryo"/>
                <a:ea typeface="Meiryo"/>
              </a:rPr>
              <a:t> </a:t>
            </a:r>
            <a:r>
              <a:rPr sz="1100" b="1">
                <a:solidFill>
                  <a:srgbClr val="2E7D32"/>
                </a:solidFill>
                <a:latin typeface="Meiryo"/>
                <a:ea typeface="Meiryo"/>
              </a:rPr>
              <a:t>オンプレ</a:t>
            </a:r>
            <a:r>
              <a:rPr sz="1400">
                <a:solidFill>
                  <a:srgbClr val="323130"/>
                </a:solidFill>
                <a:latin typeface="Meiryo"/>
                <a:ea typeface="Meiryo"/>
              </a:rPr>
              <a:t> + </a:t>
            </a:r>
            <a:r>
              <a:rPr sz="1100" b="1">
                <a:solidFill>
                  <a:srgbClr val="C62828"/>
                </a:solidFill>
                <a:latin typeface="Meiryo"/>
                <a:ea typeface="Meiryo"/>
              </a:rPr>
              <a:t>SaaS</a:t>
            </a:r>
          </a:p>
          <a:p>
            <a:pPr>
              <a:spcAft>
                <a:spcPts val="300"/>
              </a:spcAft>
            </a:pPr>
            <a:r>
              <a:rPr sz="1400">
                <a:solidFill>
                  <a:srgbClr val="323130"/>
                </a:solidFill>
                <a:latin typeface="Meiryo"/>
                <a:ea typeface="Meiryo"/>
              </a:rPr>
              <a:t>    • ローカルファイル・MCP・認証情報が加わり、コンテキストを大幅に拡張できる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17352" y="649224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606060"/>
                </a:solidFill>
                <a:latin typeface="Meiryo"/>
              </a:rPr>
              <a:t>30 / 63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183112" cy="7543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3600" b="1">
                <a:solidFill>
                  <a:srgbClr val="0078D4"/>
                </a:solidFill>
                <a:latin typeface="Meiryo"/>
                <a:ea typeface="Meiryo"/>
              </a:rPr>
              <a:t>2つの「引き継ぎ」パターン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440180"/>
            <a:ext cx="11183112" cy="254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577340"/>
          <a:ext cx="11183112" cy="3230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95778"/>
                <a:gridCol w="2795778"/>
                <a:gridCol w="2795778"/>
                <a:gridCol w="2795778"/>
              </a:tblGrid>
              <a:tr h="538480">
                <a:tc>
                  <a:txBody>
                    <a:bodyPr/>
                    <a:lstStyle/>
                    <a:p/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243A5E"/>
                          </a:solidFill>
                          <a:latin typeface="Meiryo"/>
                          <a:ea typeface="Meiryo"/>
                        </a:rPr>
                        <a:t>Remote Control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243A5E"/>
                          </a:solidFill>
                          <a:latin typeface="Meiryo"/>
                          <a:ea typeface="Meiryo"/>
                        </a:rPr>
                        <a:t>Cloud on the Web
（クラウド実行時）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243A5E"/>
                          </a:solidFill>
                          <a:latin typeface="Meiryo"/>
                          <a:ea typeface="Meiryo"/>
                        </a:rPr>
                        <a:t>Cloud on the Web
（teleport後）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</a:tr>
              <a:tr h="53848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323130"/>
                          </a:solidFill>
                          <a:latin typeface="Meiryo"/>
                          <a:ea typeface="Meiryo"/>
                        </a:rPr>
                        <a:t>実行場所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323130"/>
                          </a:solidFill>
                          <a:latin typeface="Meiryo"/>
                          <a:ea typeface="Meiryo"/>
                        </a:rPr>
                        <a:t>ローカルPC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323130"/>
                          </a:solidFill>
                          <a:latin typeface="Meiryo"/>
                          <a:ea typeface="Meiryo"/>
                        </a:rPr>
                        <a:t>クラウドVM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323130"/>
                          </a:solidFill>
                          <a:latin typeface="Meiryo"/>
                          <a:ea typeface="Meiryo"/>
                        </a:rPr>
                        <a:t>→ ローカルPC</a:t>
                      </a:r>
                    </a:p>
                  </a:txBody>
                  <a:tcPr/>
                </a:tc>
              </a:tr>
              <a:tr h="53848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323130"/>
                          </a:solidFill>
                          <a:latin typeface="Meiryo"/>
                          <a:ea typeface="Meiryo"/>
                        </a:rPr>
                        <a:t>会話履歴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323130"/>
                          </a:solidFill>
                          <a:latin typeface="Meiryo"/>
                          <a:ea typeface="Meiryo"/>
                        </a:rPr>
                        <a:t>そのまま継続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323130"/>
                          </a:solidFill>
                          <a:latin typeface="Meiryo"/>
                          <a:ea typeface="Meiryo"/>
                        </a:rPr>
                        <a:t>クラウドに蓄積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323130"/>
                          </a:solidFill>
                          <a:latin typeface="Meiryo"/>
                          <a:ea typeface="Meiryo"/>
                        </a:rPr>
                        <a:t>✅ ローカルに引き継ぎ</a:t>
                      </a:r>
                    </a:p>
                  </a:txBody>
                  <a:tcPr/>
                </a:tc>
              </a:tr>
              <a:tr h="53848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323130"/>
                          </a:solidFill>
                          <a:latin typeface="Meiryo"/>
                          <a:ea typeface="Meiryo"/>
                        </a:rPr>
                        <a:t>コンテキスト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323130"/>
                          </a:solidFill>
                          <a:latin typeface="Meiryo"/>
                          <a:ea typeface="Meiryo"/>
                        </a:rPr>
                        <a:t>✅ 全てアクセス可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323130"/>
                          </a:solidFill>
                          <a:latin typeface="Meiryo"/>
                          <a:ea typeface="Meiryo"/>
                        </a:rPr>
                        <a:t>❌ GitHub経由のみ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323130"/>
                          </a:solidFill>
                          <a:latin typeface="Meiryo"/>
                          <a:ea typeface="Meiryo"/>
                        </a:rPr>
                        <a:t>✅ 全て + 会話履歴も引き継ぎ</a:t>
                      </a:r>
                    </a:p>
                  </a:txBody>
                  <a:tcPr/>
                </a:tc>
              </a:tr>
              <a:tr h="53848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323130"/>
                          </a:solidFill>
                          <a:latin typeface="Meiryo"/>
                          <a:ea typeface="Meiryo"/>
                        </a:rPr>
                        <a:t>MCP サーバー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323130"/>
                          </a:solidFill>
                          <a:latin typeface="Meiryo"/>
                          <a:ea typeface="Meiryo"/>
                        </a:rPr>
                        <a:t>✅ 使える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323130"/>
                          </a:solidFill>
                          <a:latin typeface="Meiryo"/>
                          <a:ea typeface="Meiryo"/>
                        </a:rPr>
                        <a:t>❌ 使えない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323130"/>
                          </a:solidFill>
                          <a:latin typeface="Meiryo"/>
                          <a:ea typeface="Meiryo"/>
                        </a:rPr>
                        <a:t>✅ 使える</a:t>
                      </a:r>
                    </a:p>
                  </a:txBody>
                  <a:tcPr/>
                </a:tc>
              </a:tr>
              <a:tr h="53848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323130"/>
                          </a:solidFill>
                          <a:latin typeface="Meiryo"/>
                          <a:ea typeface="Meiryo"/>
                        </a:rPr>
                        <a:t>並列実行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323130"/>
                          </a:solidFill>
                          <a:latin typeface="Meiryo"/>
                          <a:ea typeface="Meiryo"/>
                        </a:rPr>
                        <a:t>❌ 1セッション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323130"/>
                          </a:solidFill>
                          <a:latin typeface="Meiryo"/>
                          <a:ea typeface="Meiryo"/>
                        </a:rPr>
                        <a:t>✅ 何タスクでも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323130"/>
                          </a:solidFill>
                          <a:latin typeface="Meiryo"/>
                          <a:ea typeface="Meiryo"/>
                        </a:rPr>
                        <a:t>—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02920" y="4899660"/>
            <a:ext cx="11183112" cy="108965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400"/>
              </a:spcAft>
            </a:pPr>
            <a:r>
              <a:rPr sz="2200" b="1">
                <a:solidFill>
                  <a:srgbClr val="323130"/>
                </a:solidFill>
                <a:latin typeface="Meiryo"/>
                <a:ea typeface="Meiryo"/>
              </a:rPr>
              <a:t>共通点: VMを引っ越すより圧倒的に軽い</a:t>
            </a:r>
          </a:p>
          <a:p>
            <a:pPr>
              <a:spcAft>
                <a:spcPts val="400"/>
              </a:spcAft>
            </a:pPr>
            <a:r>
              <a:rPr sz="2200">
                <a:solidFill>
                  <a:srgbClr val="323130"/>
                </a:solidFill>
                <a:latin typeface="Meiryo"/>
                <a:ea typeface="Meiryo"/>
              </a:rPr>
              <a:t>→ これが「本当のハイブリッド」を可能にする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17352" y="649224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606060"/>
                </a:solidFill>
                <a:latin typeface="Meiryo"/>
              </a:rPr>
              <a:t>31 / 63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777240"/>
            <a:ext cx="11183112" cy="54864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spcAft>
                <a:spcPts val="800"/>
              </a:spcAft>
            </a:pPr>
            <a:r>
              <a:rPr sz="4800" b="1">
                <a:solidFill>
                  <a:srgbClr val="0078D4"/>
                </a:solidFill>
                <a:latin typeface="Meiryo"/>
                <a:ea typeface="Meiryo"/>
              </a:rPr>
              <a:t>Part 6</a:t>
            </a:r>
          </a:p>
          <a:p>
            <a:pPr algn="ctr">
              <a:spcAft>
                <a:spcPts val="800"/>
              </a:spcAft>
            </a:pPr>
            <a:r>
              <a:rPr sz="4800" b="1">
                <a:solidFill>
                  <a:srgbClr val="0078D4"/>
                </a:solidFill>
                <a:latin typeface="Meiryo"/>
                <a:ea typeface="Meiryo"/>
              </a:rPr>
              <a:t>なぜ今「本当のハイブリッド」なのか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17352" y="649224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606060"/>
                </a:solidFill>
                <a:latin typeface="Meiryo"/>
              </a:rPr>
              <a:t>32 / 63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183112" cy="7543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3600" b="1">
                <a:solidFill>
                  <a:srgbClr val="0078D4"/>
                </a:solidFill>
                <a:latin typeface="Meiryo"/>
                <a:ea typeface="Meiryo"/>
              </a:rPr>
              <a:t>昔と今の決定的な違い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440180"/>
            <a:ext cx="11183112" cy="254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577340"/>
          <a:ext cx="11183112" cy="33007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27704"/>
                <a:gridCol w="3727704"/>
                <a:gridCol w="3727704"/>
              </a:tblGrid>
              <a:tr h="471532">
                <a:tc>
                  <a:txBody>
                    <a:bodyPr/>
                    <a:lstStyle/>
                    <a:p/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43A5E"/>
                          </a:solidFill>
                          <a:latin typeface="Meiryo"/>
                          <a:ea typeface="Meiryo"/>
                        </a:rPr>
                        <a:t>VM時代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43A5E"/>
                          </a:solidFill>
                          <a:latin typeface="Meiryo"/>
                          <a:ea typeface="Meiryo"/>
                        </a:rPr>
                        <a:t>AIエージェント時代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</a:tr>
              <a:tr h="471532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23130"/>
                          </a:solidFill>
                          <a:latin typeface="Meiryo"/>
                          <a:ea typeface="Meiryo"/>
                        </a:rPr>
                        <a:t>移動対象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23130"/>
                          </a:solidFill>
                          <a:latin typeface="Meiryo"/>
                          <a:ea typeface="Meiryo"/>
                        </a:rPr>
                        <a:t>VM（数十GB〜）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23130"/>
                          </a:solidFill>
                          <a:latin typeface="Meiryo"/>
                          <a:ea typeface="Meiryo"/>
                        </a:rPr>
                        <a:t>会話・設定ファイル（数KB〜MB）・コンテキスト</a:t>
                      </a:r>
                    </a:p>
                  </a:txBody>
                  <a:tcPr/>
                </a:tc>
              </a:tr>
              <a:tr h="471532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23130"/>
                          </a:solidFill>
                          <a:latin typeface="Meiryo"/>
                          <a:ea typeface="Meiryo"/>
                        </a:rPr>
                        <a:t>移動コスト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23130"/>
                          </a:solidFill>
                          <a:latin typeface="Meiryo"/>
                          <a:ea typeface="Meiryo"/>
                        </a:rPr>
                        <a:t>高い（ダウンタイム）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23130"/>
                          </a:solidFill>
                          <a:latin typeface="Meiryo"/>
                          <a:ea typeface="Meiryo"/>
                        </a:rPr>
                        <a:t>ほぼゼロ</a:t>
                      </a:r>
                    </a:p>
                  </a:txBody>
                  <a:tcPr/>
                </a:tc>
              </a:tr>
              <a:tr h="471532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23130"/>
                          </a:solidFill>
                          <a:latin typeface="Meiryo"/>
                          <a:ea typeface="Meiryo"/>
                        </a:rPr>
                        <a:t>構成の自由度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23130"/>
                          </a:solidFill>
                          <a:latin typeface="Meiryo"/>
                          <a:ea typeface="Meiryo"/>
                        </a:rPr>
                        <a:t>ベンダーロックイン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23130"/>
                          </a:solidFill>
                          <a:latin typeface="Meiryo"/>
                          <a:ea typeface="Meiryo"/>
                        </a:rPr>
                        <a:t>ツール・モデル・場所を自由選択</a:t>
                      </a:r>
                    </a:p>
                  </a:txBody>
                  <a:tcPr/>
                </a:tc>
              </a:tr>
              <a:tr h="471532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23130"/>
                          </a:solidFill>
                          <a:latin typeface="Meiryo"/>
                          <a:ea typeface="Meiryo"/>
                        </a:rPr>
                        <a:t>標準化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23130"/>
                          </a:solidFill>
                          <a:latin typeface="Meiryo"/>
                          <a:ea typeface="Meiryo"/>
                        </a:rPr>
                        <a:t>各社独自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23130"/>
                          </a:solidFill>
                          <a:latin typeface="Meiryo"/>
                          <a:ea typeface="Meiryo"/>
                        </a:rPr>
                        <a:t>MCP, OpenAI互換API等</a:t>
                      </a:r>
                    </a:p>
                  </a:txBody>
                  <a:tcPr/>
                </a:tc>
              </a:tr>
              <a:tr h="471532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23130"/>
                          </a:solidFill>
                          <a:latin typeface="Meiryo"/>
                          <a:ea typeface="Meiryo"/>
                        </a:rPr>
                        <a:t>最強の頭脳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23130"/>
                          </a:solidFill>
                          <a:latin typeface="Meiryo"/>
                          <a:ea typeface="Meiryo"/>
                        </a:rPr>
                        <a:t>自社で構築・運用可能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23130"/>
                          </a:solidFill>
                          <a:latin typeface="Meiryo"/>
                          <a:ea typeface="Meiryo"/>
                        </a:rPr>
                        <a:t>外部サービスに依存せざるを得ない</a:t>
                      </a:r>
                    </a:p>
                  </a:txBody>
                  <a:tcPr/>
                </a:tc>
              </a:tr>
              <a:tr h="471538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23130"/>
                          </a:solidFill>
                          <a:latin typeface="Meiryo"/>
                          <a:ea typeface="Meiryo"/>
                        </a:rPr>
                        <a:t>乗り換えコスト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23130"/>
                          </a:solidFill>
                          <a:latin typeface="Meiryo"/>
                          <a:ea typeface="Meiryo"/>
                        </a:rPr>
                        <a:t>高い（再構築・移行）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23130"/>
                          </a:solidFill>
                          <a:latin typeface="Meiryo"/>
                          <a:ea typeface="Meiryo"/>
                        </a:rPr>
                        <a:t>ほぼゼロ（モデル・ツールを即座に切替可）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02920" y="4969510"/>
            <a:ext cx="11183112" cy="101981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300"/>
              </a:spcAft>
            </a:pPr>
            <a:r>
              <a:rPr sz="1900" b="1">
                <a:solidFill>
                  <a:srgbClr val="323130"/>
                </a:solidFill>
                <a:latin typeface="Meiryo"/>
                <a:ea typeface="Meiryo"/>
              </a:rPr>
              <a:t>モビリティが高い + 最強モデルは外部 + 乗り換えコストほぼゼロ</a:t>
            </a:r>
          </a:p>
          <a:p>
            <a:pPr>
              <a:spcAft>
                <a:spcPts val="300"/>
              </a:spcAft>
            </a:pPr>
            <a:r>
              <a:rPr sz="1900">
                <a:solidFill>
                  <a:srgbClr val="323130"/>
                </a:solidFill>
                <a:latin typeface="Meiryo"/>
                <a:ea typeface="Meiryo"/>
              </a:rPr>
              <a:t>→ ハイブリッド/マルチクラウドが「必然」になる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17352" y="649224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606060"/>
                </a:solidFill>
                <a:latin typeface="Meiryo"/>
              </a:rPr>
              <a:t>33 / 63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183112" cy="7543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3600" b="1">
                <a:solidFill>
                  <a:srgbClr val="0078D4"/>
                </a:solidFill>
                <a:latin typeface="Meiryo"/>
                <a:ea typeface="Meiryo"/>
              </a:rPr>
              <a:t>標準化の波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440180"/>
            <a:ext cx="11183112" cy="254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577340"/>
            <a:ext cx="11183112" cy="44119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600"/>
              </a:spcAft>
            </a:pPr>
            <a:r>
              <a:rPr sz="2400">
                <a:solidFill>
                  <a:srgbClr val="323130"/>
                </a:solidFill>
                <a:latin typeface="Meiryo"/>
                <a:ea typeface="Meiryo"/>
              </a:rPr>
              <a:t>• </a:t>
            </a:r>
            <a:r>
              <a:rPr sz="2400" b="1">
                <a:solidFill>
                  <a:srgbClr val="323130"/>
                </a:solidFill>
                <a:latin typeface="Meiryo"/>
                <a:ea typeface="Meiryo"/>
              </a:rPr>
              <a:t>MCP</a:t>
            </a:r>
            <a:r>
              <a:rPr sz="2400">
                <a:solidFill>
                  <a:srgbClr val="323130"/>
                </a:solidFill>
                <a:latin typeface="Meiryo"/>
                <a:ea typeface="Meiryo"/>
              </a:rPr>
              <a:t>（Model Context Protocol） — エージェントとツール・データの接続標準</a:t>
            </a:r>
          </a:p>
          <a:p>
            <a:pPr>
              <a:spcAft>
                <a:spcPts val="600"/>
              </a:spcAft>
            </a:pPr>
            <a:r>
              <a:rPr sz="2400">
                <a:solidFill>
                  <a:srgbClr val="323130"/>
                </a:solidFill>
                <a:latin typeface="Meiryo"/>
                <a:ea typeface="Meiryo"/>
              </a:rPr>
              <a:t>• </a:t>
            </a:r>
            <a:r>
              <a:rPr sz="2400" b="1">
                <a:solidFill>
                  <a:srgbClr val="323130"/>
                </a:solidFill>
                <a:latin typeface="Meiryo"/>
                <a:ea typeface="Meiryo"/>
              </a:rPr>
              <a:t>A2A</a:t>
            </a:r>
            <a:r>
              <a:rPr sz="2400">
                <a:solidFill>
                  <a:srgbClr val="323130"/>
                </a:solidFill>
                <a:latin typeface="Meiryo"/>
                <a:ea typeface="Meiryo"/>
              </a:rPr>
              <a:t>（Agent2Agent Protocol） — エージェント間の通信・タスク委任標準</a:t>
            </a:r>
          </a:p>
          <a:p>
            <a:pPr>
              <a:spcAft>
                <a:spcPts val="600"/>
              </a:spcAft>
            </a:pPr>
            <a:r>
              <a:rPr sz="2400">
                <a:solidFill>
                  <a:srgbClr val="323130"/>
                </a:solidFill>
                <a:latin typeface="Meiryo"/>
                <a:ea typeface="Meiryo"/>
              </a:rPr>
              <a:t>• </a:t>
            </a:r>
            <a:r>
              <a:rPr sz="2400" b="1">
                <a:solidFill>
                  <a:srgbClr val="323130"/>
                </a:solidFill>
                <a:latin typeface="Meiryo"/>
                <a:ea typeface="Meiryo"/>
              </a:rPr>
              <a:t>CLAUDE.md / AGENTS.md / GEMINI.md</a:t>
            </a:r>
            <a:r>
              <a:rPr sz="2400">
                <a:solidFill>
                  <a:srgbClr val="323130"/>
                </a:solidFill>
                <a:latin typeface="Meiryo"/>
                <a:ea typeface="Meiryo"/>
              </a:rPr>
              <a:t> — エージェント設定のファイル化</a:t>
            </a:r>
          </a:p>
          <a:p>
            <a:pPr>
              <a:spcAft>
                <a:spcPts val="600"/>
              </a:spcAft>
            </a:pPr>
            <a:r>
              <a:rPr sz="2400">
                <a:solidFill>
                  <a:srgbClr val="323130"/>
                </a:solidFill>
                <a:latin typeface="Meiryo"/>
                <a:ea typeface="Meiryo"/>
              </a:rPr>
              <a:t>• </a:t>
            </a:r>
            <a:r>
              <a:rPr sz="2400" b="1">
                <a:solidFill>
                  <a:srgbClr val="323130"/>
                </a:solidFill>
                <a:latin typeface="Meiryo"/>
                <a:ea typeface="Meiryo"/>
              </a:rPr>
              <a:t>Agent Skills</a:t>
            </a:r>
            <a:r>
              <a:rPr sz="2400">
                <a:solidFill>
                  <a:srgbClr val="323130"/>
                </a:solidFill>
                <a:latin typeface="Meiryo"/>
                <a:ea typeface="Meiryo"/>
              </a:rPr>
              <a:t> — 再利用可能な知識パッケージ（クロスプラットフォーム）</a:t>
            </a:r>
          </a:p>
          <a:p>
            <a:pPr>
              <a:spcAft>
                <a:spcPts val="600"/>
              </a:spcAft>
            </a:pPr>
            <a:r>
              <a:rPr sz="2400">
                <a:solidFill>
                  <a:srgbClr val="323130"/>
                </a:solidFill>
                <a:latin typeface="Meiryo"/>
                <a:ea typeface="Meiryo"/>
              </a:rPr>
              <a:t>• </a:t>
            </a:r>
            <a:r>
              <a:rPr sz="2400" b="1">
                <a:solidFill>
                  <a:srgbClr val="323130"/>
                </a:solidFill>
                <a:latin typeface="Meiryo"/>
                <a:ea typeface="Meiryo"/>
              </a:rPr>
              <a:t>OpenAI互換API</a:t>
            </a:r>
            <a:r>
              <a:rPr sz="2400">
                <a:solidFill>
                  <a:srgbClr val="323130"/>
                </a:solidFill>
                <a:latin typeface="Meiryo"/>
                <a:ea typeface="Meiryo"/>
              </a:rPr>
              <a:t> — 異なるモデルプロバイダーを同じIFで</a:t>
            </a:r>
          </a:p>
          <a:p>
            <a:pPr>
              <a:spcAft>
                <a:spcPts val="400"/>
              </a:spcAft>
            </a:pPr>
            <a:r>
              <a:rPr sz="2400">
                <a:solidFill>
                  <a:srgbClr val="323130"/>
                </a:solidFill>
                <a:latin typeface="Meiryo"/>
                <a:ea typeface="Meiryo"/>
              </a:rPr>
              <a:t>→ </a:t>
            </a:r>
            <a:r>
              <a:rPr sz="2400" b="1">
                <a:solidFill>
                  <a:srgbClr val="323130"/>
                </a:solidFill>
                <a:latin typeface="Meiryo"/>
                <a:ea typeface="Meiryo"/>
              </a:rPr>
              <a:t>Agentic AI Foundation</a:t>
            </a:r>
            <a:r>
              <a:rPr sz="2400">
                <a:solidFill>
                  <a:srgbClr val="323130"/>
                </a:solidFill>
                <a:latin typeface="Meiryo"/>
                <a:ea typeface="Meiryo"/>
              </a:rPr>
              <a:t>（Linux Foundation, 2025/12〜）で中立的に推進中</a:t>
            </a:r>
          </a:p>
          <a:p>
            <a:pPr>
              <a:spcAft>
                <a:spcPts val="400"/>
              </a:spcAft>
            </a:pPr>
            <a:r>
              <a:rPr sz="2400">
                <a:solidFill>
                  <a:srgbClr val="323130"/>
                </a:solidFill>
                <a:latin typeface="Meiryo"/>
                <a:ea typeface="Meiryo"/>
              </a:rPr>
              <a:t>標準化 = ポータビリティ = ハイブリッド/マルチクラウドの基盤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17352" y="649224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606060"/>
                </a:solidFill>
                <a:latin typeface="Meiryo"/>
              </a:rPr>
              <a:t>34 / 63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183112" cy="113157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5400" b="1">
                <a:solidFill>
                  <a:srgbClr val="0078D4"/>
                </a:solidFill>
                <a:latin typeface="Meiryo"/>
                <a:ea typeface="Meiryo"/>
              </a:rPr>
              <a:t>人の数だけ構成がある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817370"/>
            <a:ext cx="11183112" cy="254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954530"/>
            <a:ext cx="11183112" cy="403478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</a:pPr>
            <a:r>
              <a:rPr sz="3500">
                <a:solidFill>
                  <a:srgbClr val="323130"/>
                </a:solidFill>
                <a:latin typeface="Meiryo"/>
                <a:ea typeface="Meiryo"/>
              </a:rPr>
              <a:t>• Aさん: Claude Code + Obsidian + Azure</a:t>
            </a:r>
          </a:p>
          <a:p>
            <a:pPr>
              <a:spcAft>
                <a:spcPts val="800"/>
              </a:spcAft>
            </a:pPr>
            <a:r>
              <a:rPr sz="3500">
                <a:solidFill>
                  <a:srgbClr val="323130"/>
                </a:solidFill>
                <a:latin typeface="Meiryo"/>
                <a:ea typeface="Meiryo"/>
              </a:rPr>
              <a:t>• Bさん: Copilot CLI + GitHub + AWS</a:t>
            </a:r>
          </a:p>
          <a:p>
            <a:pPr>
              <a:spcAft>
                <a:spcPts val="800"/>
              </a:spcAft>
            </a:pPr>
            <a:r>
              <a:rPr sz="3500">
                <a:solidFill>
                  <a:srgbClr val="323130"/>
                </a:solidFill>
                <a:latin typeface="Meiryo"/>
                <a:ea typeface="Meiryo"/>
              </a:rPr>
              <a:t>• Cさん: Cursor + Notion + GCP</a:t>
            </a:r>
          </a:p>
          <a:p>
            <a:pPr>
              <a:spcAft>
                <a:spcPts val="800"/>
              </a:spcAft>
            </a:pPr>
            <a:r>
              <a:rPr sz="3500">
                <a:solidFill>
                  <a:srgbClr val="323130"/>
                </a:solidFill>
                <a:latin typeface="Meiryo"/>
                <a:ea typeface="Meiryo"/>
              </a:rPr>
              <a:t>• Dさん: ローカルLLM + VS Code + オンプレ</a:t>
            </a:r>
          </a:p>
          <a:p>
            <a:pPr>
              <a:spcAft>
                <a:spcPts val="700"/>
              </a:spcAft>
            </a:pPr>
            <a:r>
              <a:rPr sz="3500" b="1">
                <a:solidFill>
                  <a:srgbClr val="323130"/>
                </a:solidFill>
                <a:latin typeface="Meiryo"/>
                <a:ea typeface="Meiryo"/>
              </a:rPr>
              <a:t>同じ「AIでコーディング」でも構成は十人十色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17352" y="649224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606060"/>
                </a:solidFill>
                <a:latin typeface="Meiryo"/>
              </a:rPr>
              <a:t>35 / 63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777240"/>
            <a:ext cx="11183112" cy="54864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spcAft>
                <a:spcPts val="800"/>
              </a:spcAft>
            </a:pPr>
            <a:r>
              <a:rPr sz="4800" b="1">
                <a:solidFill>
                  <a:srgbClr val="0078D4"/>
                </a:solidFill>
                <a:latin typeface="Meiryo"/>
                <a:ea typeface="Meiryo"/>
              </a:rPr>
              <a:t>🧠 頭の体操タイム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17352" y="649224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606060"/>
                </a:solidFill>
                <a:latin typeface="Meiryo"/>
              </a:rPr>
              <a:t>36 / 63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183112" cy="838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4000" b="1">
                <a:solidFill>
                  <a:srgbClr val="0078D4"/>
                </a:solidFill>
                <a:latin typeface="Meiryo"/>
                <a:ea typeface="Meiryo"/>
              </a:rPr>
              <a:t>あなたの環境を整理してみよう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524000"/>
            <a:ext cx="11183112" cy="254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661160"/>
            <a:ext cx="11183112" cy="43281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900"/>
              </a:spcAft>
            </a:pPr>
            <a:r>
              <a:rPr sz="3100" b="1">
                <a:solidFill>
                  <a:srgbClr val="0078D4"/>
                </a:solidFill>
                <a:latin typeface="Meiryo"/>
                <a:ea typeface="Meiryo"/>
              </a:rPr>
              <a:t>3つの要素で考えてみてください</a:t>
            </a:r>
          </a:p>
          <a:p>
            <a:pPr>
              <a:spcAft>
                <a:spcPts val="600"/>
              </a:spcAft>
            </a:pPr>
            <a:r>
              <a:rPr sz="2700">
                <a:solidFill>
                  <a:srgbClr val="323130"/>
                </a:solidFill>
                <a:latin typeface="Meiryo"/>
                <a:ea typeface="Meiryo"/>
              </a:rPr>
              <a:t>• </a:t>
            </a:r>
            <a:r>
              <a:rPr sz="2700" b="1">
                <a:solidFill>
                  <a:srgbClr val="323130"/>
                </a:solidFill>
                <a:latin typeface="Meiryo"/>
                <a:ea typeface="Meiryo"/>
              </a:rPr>
              <a:t>モデル</a:t>
            </a:r>
            <a:r>
              <a:rPr sz="2700">
                <a:solidFill>
                  <a:srgbClr val="323130"/>
                </a:solidFill>
                <a:latin typeface="Meiryo"/>
                <a:ea typeface="Meiryo"/>
              </a:rPr>
              <a:t>: どのLLMを、どこで動かしている？</a:t>
            </a:r>
          </a:p>
          <a:p>
            <a:pPr>
              <a:spcAft>
                <a:spcPts val="600"/>
              </a:spcAft>
            </a:pPr>
            <a:r>
              <a:rPr sz="2700">
                <a:solidFill>
                  <a:srgbClr val="323130"/>
                </a:solidFill>
                <a:latin typeface="Meiryo"/>
                <a:ea typeface="Meiryo"/>
              </a:rPr>
              <a:t>• </a:t>
            </a:r>
            <a:r>
              <a:rPr sz="2700" b="1">
                <a:solidFill>
                  <a:srgbClr val="323130"/>
                </a:solidFill>
                <a:latin typeface="Meiryo"/>
                <a:ea typeface="Meiryo"/>
              </a:rPr>
              <a:t>エージェントソフト</a:t>
            </a:r>
            <a:r>
              <a:rPr sz="2700">
                <a:solidFill>
                  <a:srgbClr val="323130"/>
                </a:solidFill>
                <a:latin typeface="Meiryo"/>
                <a:ea typeface="Meiryo"/>
              </a:rPr>
              <a:t>: どのソフトを使っている？ローカル？SaaS？</a:t>
            </a:r>
          </a:p>
          <a:p>
            <a:pPr>
              <a:spcAft>
                <a:spcPts val="600"/>
              </a:spcAft>
            </a:pPr>
            <a:r>
              <a:rPr sz="2700">
                <a:solidFill>
                  <a:srgbClr val="323130"/>
                </a:solidFill>
                <a:latin typeface="Meiryo"/>
                <a:ea typeface="Meiryo"/>
              </a:rPr>
              <a:t>• </a:t>
            </a:r>
            <a:r>
              <a:rPr sz="2700" b="1">
                <a:solidFill>
                  <a:srgbClr val="323130"/>
                </a:solidFill>
                <a:latin typeface="Meiryo"/>
                <a:ea typeface="Meiryo"/>
              </a:rPr>
              <a:t>コンテキスト</a:t>
            </a:r>
            <a:r>
              <a:rPr sz="2700">
                <a:solidFill>
                  <a:srgbClr val="323130"/>
                </a:solidFill>
                <a:latin typeface="Meiryo"/>
                <a:ea typeface="Meiryo"/>
              </a:rPr>
              <a:t>: 情報はどこに、どんな形で持っている？何が使えれば便利？</a:t>
            </a:r>
          </a:p>
          <a:p>
            <a:pPr>
              <a:spcAft>
                <a:spcPts val="500"/>
              </a:spcAft>
            </a:pPr>
            <a:r>
              <a:rPr sz="2700">
                <a:solidFill>
                  <a:srgbClr val="323130"/>
                </a:solidFill>
                <a:latin typeface="Meiryo"/>
                <a:ea typeface="Meiryo"/>
              </a:rPr>
              <a:t>もしも制約がないなら、どんな構成にしたいですか？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17352" y="649224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606060"/>
                </a:solidFill>
                <a:latin typeface="Meiryo"/>
              </a:rPr>
              <a:t>37 / 63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777240"/>
            <a:ext cx="11183112" cy="54864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spcAft>
                <a:spcPts val="800"/>
              </a:spcAft>
            </a:pPr>
            <a:r>
              <a:rPr sz="4800" b="1">
                <a:solidFill>
                  <a:srgbClr val="0078D4"/>
                </a:solidFill>
                <a:latin typeface="Meiryo"/>
                <a:ea typeface="Meiryo"/>
              </a:rPr>
              <a:t>Part 7</a:t>
            </a:r>
          </a:p>
          <a:p>
            <a:pPr algn="ctr">
              <a:spcAft>
                <a:spcPts val="800"/>
              </a:spcAft>
            </a:pPr>
            <a:r>
              <a:rPr sz="4800" b="1">
                <a:solidFill>
                  <a:srgbClr val="0078D4"/>
                </a:solidFill>
                <a:latin typeface="Meiryo"/>
                <a:ea typeface="Meiryo"/>
              </a:rPr>
              <a:t>AIエージェントの動力源 = API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17352" y="649224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606060"/>
                </a:solidFill>
                <a:latin typeface="Meiryo"/>
              </a:rPr>
              <a:t>38 / 63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183112" cy="113157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5400" b="1">
                <a:solidFill>
                  <a:srgbClr val="0078D4"/>
                </a:solidFill>
                <a:latin typeface="Meiryo"/>
                <a:ea typeface="Meiryo"/>
              </a:rPr>
              <a:t>AIエージェントは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817370"/>
            <a:ext cx="11183112" cy="254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954530"/>
            <a:ext cx="11183112" cy="38379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1700"/>
              </a:spcAft>
            </a:pPr>
            <a:r>
              <a:rPr sz="5800" b="1">
                <a:solidFill>
                  <a:srgbClr val="0078D4"/>
                </a:solidFill>
                <a:latin typeface="Meiryo"/>
                <a:ea typeface="Meiryo"/>
              </a:rPr>
              <a:t>APIがなければ</a:t>
            </a:r>
          </a:p>
          <a:p>
            <a:pPr>
              <a:spcAft>
                <a:spcPts val="1700"/>
              </a:spcAft>
            </a:pPr>
            <a:r>
              <a:rPr sz="5800" b="1">
                <a:solidFill>
                  <a:srgbClr val="0078D4"/>
                </a:solidFill>
                <a:latin typeface="Meiryo"/>
                <a:ea typeface="Meiryo"/>
              </a:rPr>
              <a:t>手も足も出ない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17352" y="649224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606060"/>
                </a:solidFill>
                <a:latin typeface="Meiryo"/>
              </a:rPr>
              <a:t>39 / 63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183112" cy="7543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3600" b="1">
                <a:solidFill>
                  <a:srgbClr val="0078D4"/>
                </a:solidFill>
                <a:latin typeface="Meiryo"/>
                <a:ea typeface="Meiryo"/>
              </a:rPr>
              <a:t>エージェントが仕事をする仕組み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440180"/>
            <a:ext cx="11183112" cy="254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577340"/>
            <a:ext cx="11183112" cy="91998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500"/>
              </a:spcAft>
            </a:pPr>
            <a:r>
              <a:rPr sz="1900" b="1">
                <a:solidFill>
                  <a:srgbClr val="0078D4"/>
                </a:solidFill>
                <a:latin typeface="Meiryo"/>
                <a:ea typeface="Meiryo"/>
              </a:rPr>
              <a:t>外部サービスへのアクセス = すべてAPI経由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2588768"/>
          <a:ext cx="11183112" cy="25387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91556"/>
                <a:gridCol w="5591556"/>
              </a:tblGrid>
              <a:tr h="362675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243A5E"/>
                          </a:solidFill>
                          <a:latin typeface="Meiryo"/>
                          <a:ea typeface="Meiryo"/>
                        </a:rPr>
                        <a:t>操作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243A5E"/>
                          </a:solidFill>
                          <a:latin typeface="Meiryo"/>
                          <a:ea typeface="Meiryo"/>
                        </a:rPr>
                        <a:t>手段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</a:tr>
              <a:tr h="36267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23130"/>
                          </a:solidFill>
                          <a:latin typeface="Meiryo"/>
                          <a:ea typeface="Meiryo"/>
                        </a:rPr>
                        <a:t>ファイル読み書き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23130"/>
                          </a:solidFill>
                          <a:latin typeface="Meiryo"/>
                          <a:ea typeface="Meiryo"/>
                        </a:rPr>
                        <a:t>OS API（ローカル）</a:t>
                      </a:r>
                    </a:p>
                  </a:txBody>
                  <a:tcPr/>
                </a:tc>
              </a:tr>
              <a:tr h="36267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23130"/>
                          </a:solidFill>
                          <a:latin typeface="Meiryo"/>
                          <a:ea typeface="Meiryo"/>
                        </a:rPr>
                        <a:t>コマンド実行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23130"/>
                          </a:solidFill>
                          <a:latin typeface="Meiryo"/>
                          <a:ea typeface="Meiryo"/>
                        </a:rPr>
                        <a:t>シェル = 広義のAPI</a:t>
                      </a:r>
                    </a:p>
                  </a:txBody>
                  <a:tcPr/>
                </a:tc>
              </a:tr>
              <a:tr h="36267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23130"/>
                          </a:solidFill>
                          <a:latin typeface="Meiryo"/>
                          <a:ea typeface="Meiryo"/>
                        </a:rPr>
                        <a:t>Git操作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23130"/>
                          </a:solidFill>
                          <a:latin typeface="Meiryo"/>
                          <a:ea typeface="Meiryo"/>
                        </a:rPr>
                        <a:t>git コマンド / GitHub API</a:t>
                      </a:r>
                    </a:p>
                  </a:txBody>
                  <a:tcPr/>
                </a:tc>
              </a:tr>
              <a:tr h="36267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23130"/>
                          </a:solidFill>
                          <a:latin typeface="Meiryo"/>
                          <a:ea typeface="Meiryo"/>
                        </a:rPr>
                        <a:t>カレンダー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23130"/>
                          </a:solidFill>
                          <a:latin typeface="Meiryo"/>
                          <a:ea typeface="Meiryo"/>
                        </a:rPr>
                        <a:t>Google Calendar API</a:t>
                      </a:r>
                    </a:p>
                  </a:txBody>
                  <a:tcPr/>
                </a:tc>
              </a:tr>
              <a:tr h="36267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23130"/>
                          </a:solidFill>
                          <a:latin typeface="Meiryo"/>
                          <a:ea typeface="Meiryo"/>
                        </a:rPr>
                        <a:t>Azureリソース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23130"/>
                          </a:solidFill>
                          <a:latin typeface="Meiryo"/>
                          <a:ea typeface="Meiryo"/>
                        </a:rPr>
                        <a:t>Azure Resource Manager API</a:t>
                      </a:r>
                    </a:p>
                  </a:txBody>
                  <a:tcPr/>
                </a:tc>
              </a:tr>
              <a:tr h="36268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23130"/>
                          </a:solidFill>
                          <a:latin typeface="Meiryo"/>
                          <a:ea typeface="Meiryo"/>
                        </a:rPr>
                        <a:t>複数ツール統合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23130"/>
                          </a:solidFill>
                          <a:latin typeface="Meiryo"/>
                          <a:ea typeface="Meiryo"/>
                        </a:rPr>
                        <a:t>MCP（内部でREST API等を呼び出し）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02920" y="5218938"/>
            <a:ext cx="11183112" cy="77038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300"/>
              </a:spcAft>
            </a:pPr>
            <a:r>
              <a:rPr sz="1700">
                <a:solidFill>
                  <a:srgbClr val="323130"/>
                </a:solidFill>
                <a:latin typeface="Meiryo"/>
                <a:ea typeface="Meiryo"/>
              </a:rPr>
              <a:t>MCPも結局は</a:t>
            </a:r>
            <a:r>
              <a:rPr sz="1700" b="1">
                <a:solidFill>
                  <a:srgbClr val="323130"/>
                </a:solidFill>
                <a:latin typeface="Meiryo"/>
                <a:ea typeface="Meiryo"/>
              </a:rPr>
              <a:t>裏でAPIを叩いている</a:t>
            </a:r>
            <a:r>
              <a:rPr sz="1700">
                <a:solidFill>
                  <a:srgbClr val="323130"/>
                </a:solidFill>
                <a:latin typeface="Meiryo"/>
                <a:ea typeface="Meiryo"/>
              </a:rPr>
              <a:t>。標準化で抽象化されても、土台はAPI。</a:t>
            </a:r>
          </a:p>
          <a:p>
            <a:pPr>
              <a:spcAft>
                <a:spcPts val="300"/>
              </a:spcAft>
            </a:pPr>
            <a:r>
              <a:rPr sz="1700" b="1">
                <a:solidFill>
                  <a:srgbClr val="323130"/>
                </a:solidFill>
                <a:latin typeface="Meiryo"/>
                <a:ea typeface="Meiryo"/>
              </a:rPr>
              <a:t>APIがない場所 = エージェントが「触れない場所」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17352" y="649224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606060"/>
                </a:solidFill>
                <a:latin typeface="Meiryo"/>
              </a:rPr>
              <a:t>40 / 63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183112" cy="113157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5400" b="1">
                <a:solidFill>
                  <a:srgbClr val="0078D4"/>
                </a:solidFill>
                <a:latin typeface="Meiryo"/>
                <a:ea typeface="Meiryo"/>
              </a:rPr>
              <a:t>クラウドはAPIが当たり前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817370"/>
            <a:ext cx="11183112" cy="254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954530"/>
            <a:ext cx="11183112" cy="403478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700"/>
              </a:spcAft>
            </a:pPr>
            <a:r>
              <a:rPr sz="3100">
                <a:solidFill>
                  <a:srgbClr val="323130"/>
                </a:solidFill>
                <a:latin typeface="Meiryo"/>
                <a:ea typeface="Meiryo"/>
              </a:rPr>
              <a:t>• Azure: Resource Manager API、Storage API、Kubernetes API…</a:t>
            </a:r>
          </a:p>
          <a:p>
            <a:pPr>
              <a:spcAft>
                <a:spcPts val="700"/>
              </a:spcAft>
            </a:pPr>
            <a:r>
              <a:rPr sz="3100">
                <a:solidFill>
                  <a:srgbClr val="323130"/>
                </a:solidFill>
                <a:latin typeface="Meiryo"/>
                <a:ea typeface="Meiryo"/>
              </a:rPr>
              <a:t>• AWS / GCP: 全リソースがREST API経由</a:t>
            </a:r>
          </a:p>
          <a:p>
            <a:pPr>
              <a:spcAft>
                <a:spcPts val="700"/>
              </a:spcAft>
            </a:pPr>
            <a:r>
              <a:rPr sz="3100">
                <a:solidFill>
                  <a:srgbClr val="323130"/>
                </a:solidFill>
                <a:latin typeface="Meiryo"/>
                <a:ea typeface="Meiryo"/>
              </a:rPr>
              <a:t>• </a:t>
            </a:r>
            <a:r>
              <a:rPr sz="3100" b="1">
                <a:solidFill>
                  <a:srgbClr val="323130"/>
                </a:solidFill>
                <a:latin typeface="Meiryo"/>
                <a:ea typeface="Meiryo"/>
              </a:rPr>
              <a:t>エージェントにとってクラウドは「天国」</a:t>
            </a:r>
          </a:p>
          <a:p>
            <a:pPr>
              <a:spcAft>
                <a:spcPts val="700"/>
              </a:spcAft>
            </a:pPr>
            <a:r>
              <a:rPr sz="3100">
                <a:solidFill>
                  <a:srgbClr val="323130"/>
                </a:solidFill>
                <a:latin typeface="Meiryo"/>
                <a:ea typeface="Meiryo"/>
              </a:rPr>
              <a:t>    • 読める・作れる・消せる・設定できる → すべてAPIで自在に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17352" y="649224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606060"/>
                </a:solidFill>
                <a:latin typeface="Meiryo"/>
              </a:rPr>
              <a:t>41 / 63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183112" cy="7543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3600" b="1">
                <a:solidFill>
                  <a:srgbClr val="0078D4"/>
                </a:solidFill>
                <a:latin typeface="Meiryo"/>
                <a:ea typeface="Meiryo"/>
              </a:rPr>
              <a:t>💬 Kelsey Hightower（Google / Kubernetes）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440180"/>
            <a:ext cx="11183112" cy="254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577340"/>
            <a:ext cx="11183112" cy="44119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</a:pPr>
            <a:r>
              <a:rPr sz="2900" b="1">
                <a:solidFill>
                  <a:srgbClr val="0078D4"/>
                </a:solidFill>
                <a:latin typeface="Meiryo"/>
                <a:ea typeface="Meiryo"/>
              </a:rPr>
              <a:t>"No one wants to manage infrastructure.
They want to consume it via API."</a:t>
            </a:r>
          </a:p>
          <a:p>
            <a:pPr>
              <a:spcAft>
                <a:spcPts val="600"/>
              </a:spcAft>
            </a:pPr>
            <a:r>
              <a:rPr sz="2600">
                <a:solidFill>
                  <a:srgbClr val="323130"/>
                </a:solidFill>
                <a:latin typeface="Meiryo"/>
                <a:ea typeface="Meiryo"/>
              </a:rPr>
              <a:t>• Kubernetes の生みの親の一人</a:t>
            </a:r>
          </a:p>
          <a:p>
            <a:pPr>
              <a:spcAft>
                <a:spcPts val="600"/>
              </a:spcAft>
            </a:pPr>
            <a:r>
              <a:rPr sz="2600">
                <a:solidFill>
                  <a:srgbClr val="323130"/>
                </a:solidFill>
                <a:latin typeface="Meiryo"/>
                <a:ea typeface="Meiryo"/>
              </a:rPr>
              <a:t>• 「インフラはAPIで消費するもの」という思想を一貫して主張</a:t>
            </a:r>
          </a:p>
          <a:p>
            <a:pPr>
              <a:spcAft>
                <a:spcPts val="600"/>
              </a:spcAft>
            </a:pPr>
            <a:r>
              <a:rPr sz="2600">
                <a:solidFill>
                  <a:srgbClr val="323130"/>
                </a:solidFill>
                <a:latin typeface="Meiryo"/>
                <a:ea typeface="Meiryo"/>
              </a:rPr>
              <a:t>• KubernetesはオンプレをAPIで包む「プラットフォームのプラットフォーム」</a:t>
            </a:r>
          </a:p>
          <a:p>
            <a:pPr>
              <a:spcAft>
                <a:spcPts val="500"/>
              </a:spcAft>
            </a:pPr>
            <a:r>
              <a:rPr sz="2600">
                <a:solidFill>
                  <a:srgbClr val="323130"/>
                </a:solidFill>
                <a:latin typeface="Meiryo"/>
                <a:ea typeface="Meiryo"/>
              </a:rPr>
              <a:t>この哲学がそのままAIエージェント時代の答えになっている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17352" y="649224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606060"/>
                </a:solidFill>
                <a:latin typeface="Meiryo"/>
              </a:rPr>
              <a:t>42 / 63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183112" cy="113157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5400" b="1">
                <a:solidFill>
                  <a:srgbClr val="0078D4"/>
                </a:solidFill>
                <a:latin typeface="Meiryo"/>
                <a:ea typeface="Meiryo"/>
              </a:rPr>
              <a:t>オンプレミスは？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817370"/>
            <a:ext cx="11183112" cy="254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954530"/>
            <a:ext cx="11183112" cy="403478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1000"/>
              </a:spcAft>
            </a:pPr>
            <a:r>
              <a:rPr sz="3600" b="1">
                <a:solidFill>
                  <a:srgbClr val="0078D4"/>
                </a:solidFill>
                <a:latin typeface="Meiryo"/>
                <a:ea typeface="Meiryo"/>
              </a:rPr>
              <a:t>APIが限定的だった</a:t>
            </a:r>
          </a:p>
          <a:p>
            <a:pPr>
              <a:spcAft>
                <a:spcPts val="800"/>
              </a:spcAft>
            </a:pPr>
            <a:r>
              <a:rPr sz="3200">
                <a:solidFill>
                  <a:srgbClr val="323130"/>
                </a:solidFill>
                <a:latin typeface="Meiryo"/>
                <a:ea typeface="Meiryo"/>
              </a:rPr>
              <a:t>• 昔のシステム: GUIや独自プロトコルが中心</a:t>
            </a:r>
          </a:p>
          <a:p>
            <a:pPr>
              <a:spcAft>
                <a:spcPts val="800"/>
              </a:spcAft>
            </a:pPr>
            <a:r>
              <a:rPr sz="3200">
                <a:solidFill>
                  <a:srgbClr val="323130"/>
                </a:solidFill>
                <a:latin typeface="Meiryo"/>
                <a:ea typeface="Meiryo"/>
              </a:rPr>
              <a:t>• 管理: 専用コンソールを人間が直接操作</a:t>
            </a:r>
          </a:p>
          <a:p>
            <a:pPr>
              <a:spcAft>
                <a:spcPts val="800"/>
              </a:spcAft>
            </a:pPr>
            <a:r>
              <a:rPr sz="3200">
                <a:solidFill>
                  <a:srgbClr val="323130"/>
                </a:solidFill>
                <a:latin typeface="Meiryo"/>
                <a:ea typeface="Meiryo"/>
              </a:rPr>
              <a:t>• 自動化: スクリプト職人が個別に対応</a:t>
            </a:r>
          </a:p>
          <a:p>
            <a:pPr>
              <a:spcAft>
                <a:spcPts val="600"/>
              </a:spcAft>
            </a:pPr>
            <a:r>
              <a:rPr sz="3200" b="1">
                <a:solidFill>
                  <a:srgbClr val="323130"/>
                </a:solidFill>
                <a:latin typeface="Meiryo"/>
                <a:ea typeface="Meiryo"/>
              </a:rPr>
              <a:t>「手作業で困っていない」が通用した時代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17352" y="649224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606060"/>
                </a:solidFill>
                <a:latin typeface="Meiryo"/>
              </a:rPr>
              <a:t>43 / 63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183112" cy="838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4000" b="1">
                <a:solidFill>
                  <a:srgbClr val="0078D4"/>
                </a:solidFill>
                <a:latin typeface="Meiryo"/>
                <a:ea typeface="Meiryo"/>
              </a:rPr>
              <a:t>AIエージェントの目線で見ると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524000"/>
            <a:ext cx="11183112" cy="254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661160"/>
          <a:ext cx="11183112" cy="2291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27704"/>
                <a:gridCol w="3727704"/>
                <a:gridCol w="3727704"/>
              </a:tblGrid>
              <a:tr h="572770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243A5E"/>
                          </a:solidFill>
                          <a:latin typeface="Meiryo"/>
                          <a:ea typeface="Meiryo"/>
                        </a:rPr>
                        <a:t>環境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243A5E"/>
                          </a:solidFill>
                          <a:latin typeface="Meiryo"/>
                          <a:ea typeface="Meiryo"/>
                        </a:rPr>
                        <a:t>APIの充実度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243A5E"/>
                          </a:solidFill>
                          <a:latin typeface="Meiryo"/>
                          <a:ea typeface="Meiryo"/>
                        </a:rPr>
                        <a:t>エージェントの働ける範囲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</a:tr>
              <a:tr h="572770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323130"/>
                          </a:solidFill>
                          <a:latin typeface="Meiryo"/>
                          <a:ea typeface="Meiryo"/>
                        </a:rPr>
                        <a:t>クラウド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323130"/>
                          </a:solidFill>
                          <a:latin typeface="Meiryo"/>
                          <a:ea typeface="Meiryo"/>
                        </a:rPr>
                        <a:t>◎ 全操作がAPI化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323130"/>
                          </a:solidFill>
                          <a:latin typeface="Meiryo"/>
                          <a:ea typeface="Meiryo"/>
                        </a:rPr>
                        <a:t>自在に仕事できる</a:t>
                      </a:r>
                    </a:p>
                  </a:txBody>
                  <a:tcPr/>
                </a:tc>
              </a:tr>
              <a:tr h="572770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323130"/>
                          </a:solidFill>
                          <a:latin typeface="Meiryo"/>
                          <a:ea typeface="Meiryo"/>
                        </a:rPr>
                        <a:t>API整備済みオンプレ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323130"/>
                          </a:solidFill>
                          <a:latin typeface="Meiryo"/>
                          <a:ea typeface="Meiryo"/>
                        </a:rPr>
                        <a:t>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323130"/>
                          </a:solidFill>
                          <a:latin typeface="Meiryo"/>
                          <a:ea typeface="Meiryo"/>
                        </a:rPr>
                        <a:t>かなり仕事できる</a:t>
                      </a:r>
                    </a:p>
                  </a:txBody>
                  <a:tcPr/>
                </a:tc>
              </a:tr>
              <a:tr h="572770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323130"/>
                          </a:solidFill>
                          <a:latin typeface="Meiryo"/>
                          <a:ea typeface="Meiryo"/>
                        </a:rPr>
                        <a:t>従来型オンプレ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323130"/>
                          </a:solidFill>
                          <a:latin typeface="Meiryo"/>
                          <a:ea typeface="Meiryo"/>
                        </a:rPr>
                        <a:t>△〜×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323130"/>
                          </a:solidFill>
                          <a:latin typeface="Meiryo"/>
                          <a:ea typeface="Meiryo"/>
                        </a:rPr>
                        <a:t>手を出せる範囲が限定的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02920" y="4043679"/>
            <a:ext cx="11183112" cy="17145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600"/>
              </a:spcAft>
            </a:pPr>
            <a:r>
              <a:rPr sz="3100" b="1">
                <a:solidFill>
                  <a:srgbClr val="323130"/>
                </a:solidFill>
                <a:latin typeface="Meiryo"/>
                <a:ea typeface="Meiryo"/>
              </a:rPr>
              <a:t>インフラのAPI化 = エージェントへの「権限委譲」が可能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17352" y="649224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606060"/>
                </a:solidFill>
                <a:latin typeface="Meiryo"/>
              </a:rPr>
              <a:t>44 / 63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183112" cy="7543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3600" b="1">
                <a:solidFill>
                  <a:srgbClr val="0078D4"/>
                </a:solidFill>
                <a:latin typeface="Meiryo"/>
                <a:ea typeface="Meiryo"/>
              </a:rPr>
              <a:t>Azure Arcで実現する世界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440180"/>
            <a:ext cx="11183112" cy="254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577340"/>
            <a:ext cx="11183112" cy="44119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700"/>
              </a:spcAft>
            </a:pPr>
            <a:r>
              <a:rPr sz="2600" b="1">
                <a:solidFill>
                  <a:srgbClr val="0078D4"/>
                </a:solidFill>
                <a:latin typeface="Meiryo"/>
                <a:ea typeface="Meiryo"/>
              </a:rPr>
              <a:t>オンプレにも同じAPIと同じセキュリティモデルを</a:t>
            </a:r>
          </a:p>
          <a:p>
            <a:pPr>
              <a:spcAft>
                <a:spcPts val="500"/>
              </a:spcAft>
            </a:pPr>
            <a:r>
              <a:rPr sz="2300">
                <a:solidFill>
                  <a:srgbClr val="323130"/>
                </a:solidFill>
                <a:latin typeface="Meiryo"/>
                <a:ea typeface="Meiryo"/>
              </a:rPr>
              <a:t>• </a:t>
            </a:r>
            <a:r>
              <a:rPr sz="2300" b="1">
                <a:solidFill>
                  <a:srgbClr val="323130"/>
                </a:solidFill>
                <a:latin typeface="Meiryo"/>
                <a:ea typeface="Meiryo"/>
              </a:rPr>
              <a:t>Azure Local</a:t>
            </a:r>
            <a:r>
              <a:rPr sz="2300">
                <a:solidFill>
                  <a:srgbClr val="323130"/>
                </a:solidFill>
                <a:latin typeface="Meiryo"/>
                <a:ea typeface="Meiryo"/>
              </a:rPr>
              <a:t> → オンプレのインフラをAzure APIで操作</a:t>
            </a:r>
          </a:p>
          <a:p>
            <a:pPr>
              <a:spcAft>
                <a:spcPts val="500"/>
              </a:spcAft>
            </a:pPr>
            <a:r>
              <a:rPr sz="2300">
                <a:solidFill>
                  <a:srgbClr val="323130"/>
                </a:solidFill>
                <a:latin typeface="Meiryo"/>
                <a:ea typeface="Meiryo"/>
              </a:rPr>
              <a:t>• </a:t>
            </a:r>
            <a:r>
              <a:rPr sz="2300" b="1">
                <a:solidFill>
                  <a:srgbClr val="323130"/>
                </a:solidFill>
                <a:latin typeface="Meiryo"/>
                <a:ea typeface="Meiryo"/>
              </a:rPr>
              <a:t>Arc-enabled Servers</a:t>
            </a:r>
            <a:r>
              <a:rPr sz="2300">
                <a:solidFill>
                  <a:srgbClr val="323130"/>
                </a:solidFill>
                <a:latin typeface="Meiryo"/>
                <a:ea typeface="Meiryo"/>
              </a:rPr>
              <a:t> → 普通のサーバーもAzure Resource Managerで管理</a:t>
            </a:r>
          </a:p>
          <a:p>
            <a:pPr>
              <a:spcAft>
                <a:spcPts val="500"/>
              </a:spcAft>
            </a:pPr>
            <a:r>
              <a:rPr sz="2300">
                <a:solidFill>
                  <a:srgbClr val="323130"/>
                </a:solidFill>
                <a:latin typeface="Meiryo"/>
                <a:ea typeface="Meiryo"/>
              </a:rPr>
              <a:t>• </a:t>
            </a:r>
            <a:r>
              <a:rPr sz="2300" b="1">
                <a:solidFill>
                  <a:srgbClr val="323130"/>
                </a:solidFill>
                <a:latin typeface="Meiryo"/>
                <a:ea typeface="Meiryo"/>
              </a:rPr>
              <a:t>Arc-enabled Kubernetes</a:t>
            </a:r>
            <a:r>
              <a:rPr sz="2300">
                <a:solidFill>
                  <a:srgbClr val="323130"/>
                </a:solidFill>
                <a:latin typeface="Meiryo"/>
                <a:ea typeface="Meiryo"/>
              </a:rPr>
              <a:t> → 既存のK8sクラスターをAzure APIで管理</a:t>
            </a:r>
          </a:p>
          <a:p>
            <a:pPr>
              <a:spcAft>
                <a:spcPts val="500"/>
              </a:spcAft>
            </a:pPr>
            <a:r>
              <a:rPr sz="2300">
                <a:solidFill>
                  <a:srgbClr val="323130"/>
                </a:solidFill>
                <a:latin typeface="Meiryo"/>
                <a:ea typeface="Meiryo"/>
              </a:rPr>
              <a:t>• </a:t>
            </a:r>
            <a:r>
              <a:rPr sz="2300" b="1">
                <a:solidFill>
                  <a:srgbClr val="323130"/>
                </a:solidFill>
                <a:latin typeface="Meiryo"/>
                <a:ea typeface="Meiryo"/>
              </a:rPr>
              <a:t>AKS enabled by Azure Arc</a:t>
            </a:r>
            <a:r>
              <a:rPr sz="2300">
                <a:solidFill>
                  <a:srgbClr val="323130"/>
                </a:solidFill>
                <a:latin typeface="Meiryo"/>
                <a:ea typeface="Meiryo"/>
              </a:rPr>
              <a:t> → Azure Local上でAKSを運用</a:t>
            </a:r>
          </a:p>
          <a:p>
            <a:pPr>
              <a:spcAft>
                <a:spcPts val="500"/>
              </a:spcAft>
            </a:pPr>
            <a:r>
              <a:rPr sz="2300">
                <a:solidFill>
                  <a:srgbClr val="323130"/>
                </a:solidFill>
                <a:latin typeface="Meiryo"/>
                <a:ea typeface="Meiryo"/>
              </a:rPr>
              <a:t>• </a:t>
            </a:r>
            <a:r>
              <a:rPr sz="2300" b="1">
                <a:solidFill>
                  <a:srgbClr val="323130"/>
                </a:solidFill>
                <a:latin typeface="Meiryo"/>
                <a:ea typeface="Meiryo"/>
              </a:rPr>
              <a:t>Arc-enabled Data Services</a:t>
            </a:r>
            <a:r>
              <a:rPr sz="2300">
                <a:solidFill>
                  <a:srgbClr val="323130"/>
                </a:solidFill>
                <a:latin typeface="Meiryo"/>
                <a:ea typeface="Meiryo"/>
              </a:rPr>
              <a:t> → DBもAzure APIで運用</a:t>
            </a:r>
          </a:p>
          <a:p>
            <a:pPr>
              <a:spcAft>
                <a:spcPts val="400"/>
              </a:spcAft>
            </a:pPr>
            <a:r>
              <a:rPr sz="2300">
                <a:solidFill>
                  <a:srgbClr val="323130"/>
                </a:solidFill>
                <a:latin typeface="Meiryo"/>
                <a:ea typeface="Meiryo"/>
              </a:rPr>
              <a:t>→ </a:t>
            </a:r>
            <a:r>
              <a:rPr sz="2300" b="1">
                <a:solidFill>
                  <a:srgbClr val="323130"/>
                </a:solidFill>
                <a:latin typeface="Meiryo"/>
                <a:ea typeface="Meiryo"/>
              </a:rPr>
              <a:t>API</a:t>
            </a:r>
            <a:r>
              <a:rPr sz="2300">
                <a:solidFill>
                  <a:srgbClr val="323130"/>
                </a:solidFill>
                <a:latin typeface="Meiryo"/>
                <a:ea typeface="Meiryo"/>
              </a:rPr>
              <a:t> だけでなく </a:t>
            </a:r>
            <a:r>
              <a:rPr sz="2300" b="1">
                <a:solidFill>
                  <a:srgbClr val="323130"/>
                </a:solidFill>
                <a:latin typeface="Meiryo"/>
                <a:ea typeface="Meiryo"/>
              </a:rPr>
              <a:t>Azure RBAC</a:t>
            </a:r>
            <a:r>
              <a:rPr sz="2300">
                <a:solidFill>
                  <a:srgbClr val="323130"/>
                </a:solidFill>
                <a:latin typeface="Meiryo"/>
                <a:ea typeface="Meiryo"/>
              </a:rPr>
              <a:t> も統一される</a:t>
            </a:r>
          </a:p>
          <a:p>
            <a:pPr>
              <a:spcAft>
                <a:spcPts val="400"/>
              </a:spcAft>
            </a:pPr>
            <a:r>
              <a:rPr sz="2300">
                <a:solidFill>
                  <a:srgbClr val="323130"/>
                </a:solidFill>
                <a:latin typeface="Meiryo"/>
                <a:ea typeface="Meiryo"/>
              </a:rPr>
              <a:t>→ エージェントから見ると「クラウドとオンプレの差がなくなる」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17352" y="649224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606060"/>
                </a:solidFill>
                <a:latin typeface="Meiryo"/>
              </a:rPr>
              <a:t>45 / 63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183112" cy="7543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3600" b="1">
                <a:solidFill>
                  <a:srgbClr val="0078D4"/>
                </a:solidFill>
                <a:latin typeface="Meiryo"/>
                <a:ea typeface="Meiryo"/>
              </a:rPr>
              <a:t>クラウドとオンプレを同じAPIと同じRBACで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440180"/>
            <a:ext cx="11183112" cy="254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444" y="1577340"/>
            <a:ext cx="11180064" cy="30937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4762500"/>
            <a:ext cx="11183112" cy="122681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500"/>
              </a:spcAft>
            </a:pPr>
            <a:r>
              <a:rPr sz="2500" b="1">
                <a:solidFill>
                  <a:srgbClr val="323130"/>
                </a:solidFill>
                <a:latin typeface="Meiryo"/>
                <a:ea typeface="Meiryo"/>
              </a:rPr>
              <a:t>エージェントは自由に動ける。管理者はRBACで権限をコントロールできる。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17352" y="649224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606060"/>
                </a:solidFill>
                <a:latin typeface="Meiryo"/>
              </a:rPr>
              <a:t>46 / 63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183112" cy="113157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5400" b="1">
                <a:solidFill>
                  <a:srgbClr val="0078D4"/>
                </a:solidFill>
                <a:latin typeface="Meiryo"/>
                <a:ea typeface="Meiryo"/>
              </a:rPr>
              <a:t>Azure Arc =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817370"/>
            <a:ext cx="11183112" cy="254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954530"/>
            <a:ext cx="11183112" cy="403478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1200"/>
              </a:spcAft>
            </a:pPr>
            <a:r>
              <a:rPr sz="4300" b="1">
                <a:solidFill>
                  <a:srgbClr val="0078D4"/>
                </a:solidFill>
                <a:latin typeface="Meiryo"/>
                <a:ea typeface="Meiryo"/>
              </a:rPr>
              <a:t>AIエージェントにとって最高の環境</a:t>
            </a:r>
          </a:p>
          <a:p>
            <a:pPr>
              <a:spcAft>
                <a:spcPts val="700"/>
              </a:spcAft>
            </a:pPr>
            <a:r>
              <a:rPr sz="3100">
                <a:solidFill>
                  <a:srgbClr val="323130"/>
                </a:solidFill>
                <a:latin typeface="Meiryo"/>
                <a:ea typeface="Meiryo"/>
              </a:rPr>
              <a:t>• </a:t>
            </a:r>
            <a:r>
              <a:rPr sz="3100" b="1">
                <a:solidFill>
                  <a:srgbClr val="323130"/>
                </a:solidFill>
                <a:latin typeface="Meiryo"/>
                <a:ea typeface="Meiryo"/>
              </a:rPr>
              <a:t>API</a:t>
            </a:r>
            <a:r>
              <a:rPr sz="3100">
                <a:solidFill>
                  <a:srgbClr val="323130"/>
                </a:solidFill>
                <a:latin typeface="Meiryo"/>
                <a:ea typeface="Meiryo"/>
              </a:rPr>
              <a:t>: クラウドもオンプレも同じように操作できる</a:t>
            </a:r>
          </a:p>
          <a:p>
            <a:pPr>
              <a:spcAft>
                <a:spcPts val="700"/>
              </a:spcAft>
            </a:pPr>
            <a:r>
              <a:rPr sz="3100">
                <a:solidFill>
                  <a:srgbClr val="323130"/>
                </a:solidFill>
                <a:latin typeface="Meiryo"/>
                <a:ea typeface="Meiryo"/>
              </a:rPr>
              <a:t>• </a:t>
            </a:r>
            <a:r>
              <a:rPr sz="3100" b="1">
                <a:solidFill>
                  <a:srgbClr val="323130"/>
                </a:solidFill>
                <a:latin typeface="Meiryo"/>
                <a:ea typeface="Meiryo"/>
              </a:rPr>
              <a:t>RBAC</a:t>
            </a:r>
            <a:r>
              <a:rPr sz="3100">
                <a:solidFill>
                  <a:srgbClr val="323130"/>
                </a:solidFill>
                <a:latin typeface="Meiryo"/>
                <a:ea typeface="Meiryo"/>
              </a:rPr>
              <a:t>: 一貫したセキュリティモデルで権限制御</a:t>
            </a:r>
          </a:p>
          <a:p>
            <a:pPr>
              <a:spcAft>
                <a:spcPts val="700"/>
              </a:spcAft>
            </a:pPr>
            <a:r>
              <a:rPr sz="3100">
                <a:solidFill>
                  <a:srgbClr val="323130"/>
                </a:solidFill>
                <a:latin typeface="Meiryo"/>
                <a:ea typeface="Meiryo"/>
              </a:rPr>
              <a:t>• </a:t>
            </a:r>
            <a:r>
              <a:rPr sz="3100" b="1">
                <a:solidFill>
                  <a:srgbClr val="323130"/>
                </a:solidFill>
                <a:latin typeface="Meiryo"/>
                <a:ea typeface="Meiryo"/>
              </a:rPr>
              <a:t>自由 × 統制</a:t>
            </a:r>
            <a:r>
              <a:rPr sz="3100">
                <a:solidFill>
                  <a:srgbClr val="323130"/>
                </a:solidFill>
                <a:latin typeface="Meiryo"/>
                <a:ea typeface="Meiryo"/>
              </a:rPr>
              <a:t>: エージェントは縦横無尽、管理者はしっかり制御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17352" y="649224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606060"/>
                </a:solidFill>
                <a:latin typeface="Meiryo"/>
              </a:rPr>
              <a:t>47 / 63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183112" cy="1371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3600" b="1">
                <a:solidFill>
                  <a:srgbClr val="0078D4"/>
                </a:solidFill>
                <a:latin typeface="Meiryo"/>
                <a:ea typeface="Meiryo"/>
              </a:rPr>
              <a:t>「セルフサービス化・クラウドネイティブ化」の真の意味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2057400"/>
            <a:ext cx="11183112" cy="254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2194560"/>
          <a:ext cx="11183112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27704"/>
                <a:gridCol w="3727704"/>
                <a:gridCol w="3727704"/>
              </a:tblGrid>
              <a:tr h="670560">
                <a:tc>
                  <a:txBody>
                    <a:bodyPr/>
                    <a:lstStyle/>
                    <a:p>
                      <a:r>
                        <a:rPr sz="1900" b="1">
                          <a:solidFill>
                            <a:srgbClr val="243A5E"/>
                          </a:solidFill>
                          <a:latin typeface="Meiryo"/>
                          <a:ea typeface="Meiryo"/>
                        </a:rPr>
                        <a:t>時代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00" b="1">
                          <a:solidFill>
                            <a:srgbClr val="243A5E"/>
                          </a:solidFill>
                          <a:latin typeface="Meiryo"/>
                          <a:ea typeface="Meiryo"/>
                        </a:rPr>
                        <a:t>理解されにくかった理由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00" b="1">
                          <a:solidFill>
                            <a:srgbClr val="243A5E"/>
                          </a:solidFill>
                          <a:latin typeface="Meiryo"/>
                          <a:ea typeface="Meiryo"/>
                        </a:rPr>
                        <a:t>AIエージェント時代の説明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</a:tr>
              <a:tr h="670560">
                <a:tc>
                  <a:txBody>
                    <a:bodyPr/>
                    <a:lstStyle/>
                    <a:p>
                      <a:r>
                        <a:rPr sz="1900">
                          <a:solidFill>
                            <a:srgbClr val="323130"/>
                          </a:solidFill>
                          <a:latin typeface="Meiryo"/>
                          <a:ea typeface="Meiryo"/>
                        </a:rPr>
                        <a:t>従来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900">
                          <a:solidFill>
                            <a:srgbClr val="323130"/>
                          </a:solidFill>
                          <a:latin typeface="Meiryo"/>
                          <a:ea typeface="Meiryo"/>
                        </a:rPr>
                        <a:t>「手作業で困ってません」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900">
                          <a:solidFill>
                            <a:srgbClr val="323130"/>
                          </a:solidFill>
                          <a:latin typeface="Meiryo"/>
                          <a:ea typeface="Meiryo"/>
                        </a:rPr>
                        <a:t>✗ 刺さらない</a:t>
                      </a:r>
                    </a:p>
                  </a:txBody>
                  <a:tcPr/>
                </a:tc>
              </a:tr>
              <a:tr h="670560">
                <a:tc>
                  <a:txBody>
                    <a:bodyPr/>
                    <a:lstStyle/>
                    <a:p>
                      <a:r>
                        <a:rPr sz="1900">
                          <a:solidFill>
                            <a:srgbClr val="323130"/>
                          </a:solidFill>
                          <a:latin typeface="Meiryo"/>
                          <a:ea typeface="Meiryo"/>
                        </a:rPr>
                        <a:t>AI時代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900">
                          <a:solidFill>
                            <a:srgbClr val="323130"/>
                          </a:solidFill>
                          <a:latin typeface="Meiryo"/>
                          <a:ea typeface="Meiryo"/>
                        </a:rPr>
                        <a:t>「APIがないとエージェントが仕事できません」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900">
                          <a:solidFill>
                            <a:srgbClr val="323130"/>
                          </a:solidFill>
                          <a:latin typeface="Meiryo"/>
                          <a:ea typeface="Meiryo"/>
                        </a:rPr>
                        <a:t>✓ 即わかる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02920" y="4297679"/>
            <a:ext cx="11183112" cy="9804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500"/>
              </a:spcAft>
            </a:pPr>
            <a:r>
              <a:rPr sz="2800" b="1">
                <a:solidFill>
                  <a:srgbClr val="323130"/>
                </a:solidFill>
                <a:latin typeface="Meiryo"/>
                <a:ea typeface="Meiryo"/>
              </a:rPr>
              <a:t>インフラを整えることの意味が、初めて全員に伝わる時代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17352" y="649224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606060"/>
                </a:solidFill>
                <a:latin typeface="Meiryo"/>
              </a:rPr>
              <a:t>48 / 63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777240"/>
            <a:ext cx="11183112" cy="54864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spcAft>
                <a:spcPts val="800"/>
              </a:spcAft>
            </a:pPr>
            <a:r>
              <a:rPr sz="4800" b="1">
                <a:solidFill>
                  <a:srgbClr val="0078D4"/>
                </a:solidFill>
                <a:latin typeface="Meiryo"/>
                <a:ea typeface="Meiryo"/>
              </a:rPr>
              <a:t>まとめ</a:t>
            </a:r>
          </a:p>
          <a:p>
            <a:pPr algn="ctr">
              <a:spcAft>
                <a:spcPts val="800"/>
              </a:spcAft>
            </a:pPr>
            <a:r>
              <a:rPr sz="4800" b="1">
                <a:solidFill>
                  <a:srgbClr val="0078D4"/>
                </a:solidFill>
                <a:latin typeface="Meiryo"/>
                <a:ea typeface="Meiryo"/>
              </a:rPr>
              <a:t>じゃあ、何をすればいいのか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17352" y="649224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606060"/>
                </a:solidFill>
                <a:latin typeface="Meiryo"/>
              </a:rPr>
              <a:t>49 / 63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183112" cy="7543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3600" b="1">
                <a:solidFill>
                  <a:srgbClr val="0078D4"/>
                </a:solidFill>
                <a:latin typeface="Meiryo"/>
                <a:ea typeface="Meiryo"/>
              </a:rPr>
              <a:t>もう一度この表を見てみよう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440180"/>
            <a:ext cx="11183112" cy="254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577340"/>
          <a:ext cx="11183112" cy="221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95778"/>
                <a:gridCol w="2795778"/>
                <a:gridCol w="2795778"/>
                <a:gridCol w="2795778"/>
              </a:tblGrid>
              <a:tr h="553720">
                <a:tc>
                  <a:txBody>
                    <a:bodyPr/>
                    <a:lstStyle/>
                    <a:p/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43A5E"/>
                          </a:solidFill>
                          <a:latin typeface="Meiryo"/>
                          <a:ea typeface="Meiryo"/>
                        </a:rPr>
                        <a:t>オンプレ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43A5E"/>
                          </a:solidFill>
                          <a:latin typeface="Meiryo"/>
                          <a:ea typeface="Meiryo"/>
                        </a:rPr>
                        <a:t>クラウド基盤（IaaS/PaaS）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43A5E"/>
                          </a:solidFill>
                          <a:latin typeface="Meiryo"/>
                          <a:ea typeface="Meiryo"/>
                        </a:rPr>
                        <a:t>SaaS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</a:tr>
              <a:tr h="55372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23130"/>
                          </a:solidFill>
                          <a:latin typeface="Meiryo"/>
                          <a:ea typeface="Meiryo"/>
                        </a:rPr>
                        <a:t>モデル(実行基盤)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23130"/>
                          </a:solidFill>
                          <a:latin typeface="Meiryo"/>
                          <a:ea typeface="Meiryo"/>
                        </a:rPr>
                        <a:t>Ollama, vLLM等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23130"/>
                          </a:solidFill>
                          <a:latin typeface="Meiryo"/>
                          <a:ea typeface="Meiryo"/>
                        </a:rPr>
                        <a:t>Microsoft Foundry等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23130"/>
                          </a:solidFill>
                          <a:latin typeface="Meiryo"/>
                          <a:ea typeface="Meiryo"/>
                        </a:rPr>
                        <a:t>OpenAI API, Anthropic API, Google AI API等</a:t>
                      </a:r>
                    </a:p>
                  </a:txBody>
                  <a:tcPr/>
                </a:tc>
              </a:tr>
              <a:tr h="55372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23130"/>
                          </a:solidFill>
                          <a:latin typeface="Meiryo"/>
                          <a:ea typeface="Meiryo"/>
                        </a:rPr>
                        <a:t>エージェントソフト</a:t>
                      </a: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sz="1000">
                          <a:solidFill>
                            <a:srgbClr val="323130"/>
                          </a:solidFill>
                          <a:latin typeface="Meiryo"/>
                          <a:ea typeface="Meiryo"/>
                        </a:rPr>
                        <a:t>自作, Claude Code, Codex, Gemini CLI, GitHub Copilot CLI　など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23130"/>
                          </a:solidFill>
                          <a:latin typeface="Meiryo"/>
                          <a:ea typeface="Meiryo"/>
                        </a:rPr>
                        <a:t>GitHub Copilot Coding Agent, Claude Code on the Web, Devin　など</a:t>
                      </a:r>
                    </a:p>
                  </a:txBody>
                  <a:tcPr/>
                </a:tc>
              </a:tr>
              <a:tr h="55372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23130"/>
                          </a:solidFill>
                          <a:latin typeface="Meiryo"/>
                          <a:ea typeface="Meiryo"/>
                        </a:rPr>
                        <a:t>コンテキスト</a:t>
                      </a: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sz="1000">
                          <a:solidFill>
                            <a:srgbClr val="323130"/>
                          </a:solidFill>
                          <a:latin typeface="Meiryo"/>
                          <a:ea typeface="Meiryo"/>
                        </a:rPr>
                        <a:t>ファイル（CLAUDE.md, フォルダ構造で工夫）/ Gitレポジトリ, GitLab / DB・ベクトルストア など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23130"/>
                          </a:solidFill>
                          <a:latin typeface="Meiryo"/>
                          <a:ea typeface="Meiryo"/>
                        </a:rPr>
                        <a:t>GitHubレポジトリ, Copilot Spaces, M365, WorkIQ, Google Workspaces, Notion 等(※API, MCP経由でどこでもつながる)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02920" y="3883659"/>
            <a:ext cx="11183112" cy="21056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400"/>
              </a:spcAft>
            </a:pPr>
            <a:r>
              <a:rPr sz="1600">
                <a:solidFill>
                  <a:srgbClr val="323130"/>
                </a:solidFill>
                <a:latin typeface="Meiryo"/>
                <a:ea typeface="Meiryo"/>
              </a:rPr>
              <a:t>• 🧠 </a:t>
            </a:r>
            <a:r>
              <a:rPr sz="1600" b="1">
                <a:solidFill>
                  <a:srgbClr val="323130"/>
                </a:solidFill>
                <a:latin typeface="Meiryo"/>
                <a:ea typeface="Meiryo"/>
              </a:rPr>
              <a:t>モデル</a:t>
            </a:r>
            <a:r>
              <a:rPr sz="1600">
                <a:solidFill>
                  <a:srgbClr val="323130"/>
                </a:solidFill>
                <a:latin typeface="Meiryo"/>
                <a:ea typeface="Meiryo"/>
              </a:rPr>
              <a:t> → 用途に合わせて自由に選択すればいい</a:t>
            </a:r>
          </a:p>
          <a:p>
            <a:pPr>
              <a:spcAft>
                <a:spcPts val="400"/>
              </a:spcAft>
            </a:pPr>
            <a:r>
              <a:rPr sz="1600">
                <a:solidFill>
                  <a:srgbClr val="323130"/>
                </a:solidFill>
                <a:latin typeface="Meiryo"/>
                <a:ea typeface="Meiryo"/>
              </a:rPr>
              <a:t>• 🤖 </a:t>
            </a:r>
            <a:r>
              <a:rPr sz="1600" b="1">
                <a:solidFill>
                  <a:srgbClr val="323130"/>
                </a:solidFill>
                <a:latin typeface="Meiryo"/>
                <a:ea typeface="Meiryo"/>
              </a:rPr>
              <a:t>エージェントソフト</a:t>
            </a:r>
            <a:r>
              <a:rPr sz="1600">
                <a:solidFill>
                  <a:srgbClr val="323130"/>
                </a:solidFill>
                <a:latin typeface="Meiryo"/>
                <a:ea typeface="Meiryo"/>
              </a:rPr>
              <a:t> → その時々の最強を使えばいい</a:t>
            </a:r>
          </a:p>
          <a:p>
            <a:pPr>
              <a:spcAft>
                <a:spcPts val="400"/>
              </a:spcAft>
            </a:pPr>
            <a:r>
              <a:rPr sz="1600">
                <a:solidFill>
                  <a:srgbClr val="323130"/>
                </a:solidFill>
                <a:latin typeface="Meiryo"/>
                <a:ea typeface="Meiryo"/>
              </a:rPr>
              <a:t>• 🏃 </a:t>
            </a:r>
            <a:r>
              <a:rPr sz="1600" b="1">
                <a:solidFill>
                  <a:srgbClr val="323130"/>
                </a:solidFill>
                <a:latin typeface="Meiryo"/>
                <a:ea typeface="Meiryo"/>
              </a:rPr>
              <a:t>配置先</a:t>
            </a:r>
            <a:r>
              <a:rPr sz="1600">
                <a:solidFill>
                  <a:srgbClr val="323130"/>
                </a:solidFill>
                <a:latin typeface="Meiryo"/>
                <a:ea typeface="Meiryo"/>
              </a:rPr>
              <a:t> → 本質的にどこでもOK。きちんと整備しておけばいい</a:t>
            </a:r>
          </a:p>
          <a:p>
            <a:pPr>
              <a:spcAft>
                <a:spcPts val="400"/>
              </a:spcAft>
            </a:pPr>
            <a:r>
              <a:rPr sz="1600">
                <a:solidFill>
                  <a:srgbClr val="323130"/>
                </a:solidFill>
                <a:latin typeface="Meiryo"/>
                <a:ea typeface="Meiryo"/>
              </a:rPr>
              <a:t>• ⚡ </a:t>
            </a:r>
            <a:r>
              <a:rPr sz="1600" b="1">
                <a:solidFill>
                  <a:srgbClr val="323130"/>
                </a:solidFill>
                <a:latin typeface="Meiryo"/>
                <a:ea typeface="Meiryo"/>
              </a:rPr>
              <a:t>前提: すべてにAPIがあること</a:t>
            </a:r>
            <a:r>
              <a:rPr sz="1600">
                <a:solidFill>
                  <a:srgbClr val="323130"/>
                </a:solidFill>
                <a:latin typeface="Meiryo"/>
                <a:ea typeface="Meiryo"/>
              </a:rPr>
              <a:t>（APIがなければエージェントは動けない）</a:t>
            </a:r>
          </a:p>
          <a:p>
            <a:pPr>
              <a:spcAft>
                <a:spcPts val="300"/>
              </a:spcAft>
            </a:pPr>
            <a:r>
              <a:rPr sz="1600" b="1">
                <a:solidFill>
                  <a:srgbClr val="323130"/>
                </a:solidFill>
                <a:latin typeface="Meiryo"/>
                <a:ea typeface="Meiryo"/>
              </a:rPr>
              <a:t>→ APIさえあればAIエージェント側は自由に動ける。残るのは…？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17352" y="649224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606060"/>
                </a:solidFill>
                <a:latin typeface="Meiryo"/>
              </a:rPr>
              <a:t>50 / 63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183112" cy="113157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5400" b="1">
                <a:solidFill>
                  <a:srgbClr val="0078D4"/>
                </a:solidFill>
                <a:latin typeface="Meiryo"/>
                <a:ea typeface="Meiryo"/>
              </a:rPr>
              <a:t>残るのはコンテキスト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817370"/>
            <a:ext cx="11183112" cy="254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954530"/>
            <a:ext cx="11183112" cy="403478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900"/>
              </a:spcAft>
            </a:pPr>
            <a:r>
              <a:rPr sz="3800">
                <a:solidFill>
                  <a:srgbClr val="323130"/>
                </a:solidFill>
                <a:latin typeface="Meiryo"/>
                <a:ea typeface="Meiryo"/>
              </a:rPr>
              <a:t>• M365、DB、社内システム、ファイルサーバー…</a:t>
            </a:r>
          </a:p>
          <a:p>
            <a:pPr>
              <a:spcAft>
                <a:spcPts val="900"/>
              </a:spcAft>
            </a:pPr>
            <a:r>
              <a:rPr sz="3800">
                <a:solidFill>
                  <a:srgbClr val="323130"/>
                </a:solidFill>
                <a:latin typeface="Meiryo"/>
                <a:ea typeface="Meiryo"/>
              </a:rPr>
              <a:t>• </a:t>
            </a:r>
            <a:r>
              <a:rPr sz="3800" b="1">
                <a:solidFill>
                  <a:srgbClr val="323130"/>
                </a:solidFill>
                <a:latin typeface="Meiryo"/>
                <a:ea typeface="Meiryo"/>
              </a:rPr>
              <a:t>「動かせない既存の大量のデータやシステム」</a:t>
            </a:r>
          </a:p>
          <a:p>
            <a:pPr>
              <a:spcAft>
                <a:spcPts val="900"/>
              </a:spcAft>
            </a:pPr>
            <a:r>
              <a:rPr sz="3800">
                <a:solidFill>
                  <a:srgbClr val="323130"/>
                </a:solidFill>
                <a:latin typeface="Meiryo"/>
                <a:ea typeface="Meiryo"/>
              </a:rPr>
              <a:t>• これは企業ごとに全く違う。ここだけは自分たちで整備するしかない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17352" y="649224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606060"/>
                </a:solidFill>
                <a:latin typeface="Meiryo"/>
              </a:rPr>
              <a:t>51 / 63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183112" cy="838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4000" b="1">
                <a:solidFill>
                  <a:srgbClr val="0078D4"/>
                </a:solidFill>
                <a:latin typeface="Meiryo"/>
                <a:ea typeface="Meiryo"/>
              </a:rPr>
              <a:t>ここでもArcが効く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524000"/>
            <a:ext cx="11183112" cy="254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661160"/>
            <a:ext cx="11183112" cy="43281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500"/>
              </a:spcAft>
            </a:pPr>
            <a:r>
              <a:rPr sz="2200">
                <a:solidFill>
                  <a:srgbClr val="323130"/>
                </a:solidFill>
                <a:latin typeface="Meiryo"/>
                <a:ea typeface="Meiryo"/>
              </a:rPr>
              <a:t>• 例：オンプレのファイルサーバーにもArcを入れて管理しておけば → </a:t>
            </a:r>
            <a:r>
              <a:rPr sz="2200" b="1">
                <a:solidFill>
                  <a:srgbClr val="323130"/>
                </a:solidFill>
                <a:latin typeface="Meiryo"/>
                <a:ea typeface="Meiryo"/>
              </a:rPr>
              <a:t>AIエージェントがそこにアクセスしてコンテキストを取得できる</a:t>
            </a:r>
          </a:p>
          <a:p>
            <a:pPr>
              <a:spcAft>
                <a:spcPts val="500"/>
              </a:spcAft>
            </a:pPr>
            <a:r>
              <a:rPr sz="2200">
                <a:solidFill>
                  <a:srgbClr val="323130"/>
                </a:solidFill>
                <a:latin typeface="Meiryo"/>
                <a:ea typeface="Meiryo"/>
              </a:rPr>
              <a:t>• Arcは「基盤の管理」だけでなく「コンテキストへの道」でもある</a:t>
            </a:r>
          </a:p>
          <a:p>
            <a:pPr>
              <a:spcAft>
                <a:spcPts val="500"/>
              </a:spcAft>
            </a:pPr>
            <a:r>
              <a:rPr sz="2200">
                <a:solidFill>
                  <a:srgbClr val="323130"/>
                </a:solidFill>
                <a:latin typeface="Meiryo"/>
                <a:ea typeface="Meiryo"/>
              </a:rPr>
              <a:t>• </a:t>
            </a:r>
            <a:r>
              <a:rPr sz="2200" b="1">
                <a:solidFill>
                  <a:srgbClr val="323130"/>
                </a:solidFill>
                <a:latin typeface="Meiryo"/>
                <a:ea typeface="Meiryo"/>
              </a:rPr>
              <a:t>どこにあるデータにもエージェントが届く世界</a:t>
            </a:r>
            <a:r>
              <a:rPr sz="2200">
                <a:solidFill>
                  <a:srgbClr val="323130"/>
                </a:solidFill>
                <a:latin typeface="Meiryo"/>
                <a:ea typeface="Meiryo"/>
              </a:rPr>
              <a:t>を作る</a:t>
            </a:r>
          </a:p>
          <a:p>
            <a:pPr>
              <a:spcAft>
                <a:spcPts val="400"/>
              </a:spcAft>
            </a:pPr>
            <a:r>
              <a:rPr sz="2200">
                <a:solidFill>
                  <a:srgbClr val="323130"/>
                </a:solidFill>
                <a:latin typeface="Meiryo"/>
                <a:ea typeface="Meiryo"/>
              </a:rPr>
              <a:t>→ コンテキストをAIエージェント向けに整備して、</a:t>
            </a:r>
          </a:p>
          <a:p>
            <a:pPr>
              <a:spcAft>
                <a:spcPts val="400"/>
              </a:spcAft>
            </a:pPr>
            <a:r>
              <a:rPr sz="2200">
                <a:solidFill>
                  <a:srgbClr val="323130"/>
                </a:solidFill>
                <a:latin typeface="Meiryo"/>
                <a:ea typeface="Meiryo"/>
              </a:rPr>
              <a:t>エージェントにガンガン動いてもらおう！</a:t>
            </a:r>
          </a:p>
          <a:p>
            <a:pPr>
              <a:spcAft>
                <a:spcPts val="400"/>
              </a:spcAft>
            </a:pPr>
            <a:r>
              <a:rPr sz="2200" b="1">
                <a:solidFill>
                  <a:srgbClr val="323130"/>
                </a:solidFill>
                <a:latin typeface="Meiryo"/>
                <a:ea typeface="Meiryo"/>
              </a:rPr>
              <a:t>これがこれからのインフラ設計の核心</a:t>
            </a:r>
          </a:p>
          <a:p>
            <a:pPr>
              <a:spcAft>
                <a:spcPts val="400"/>
              </a:spcAft>
            </a:pPr>
            <a:r>
              <a:rPr sz="2200">
                <a:solidFill>
                  <a:srgbClr val="323130"/>
                </a:solidFill>
                <a:latin typeface="Meiryo"/>
                <a:ea typeface="Meiryo"/>
              </a:rPr>
              <a:t>※コンテキスト整備の具体的な方法論は、まだ自分もまとめきれていません。</a:t>
            </a:r>
          </a:p>
          <a:p>
            <a:pPr>
              <a:spcAft>
                <a:spcPts val="400"/>
              </a:spcAft>
            </a:pPr>
            <a:r>
              <a:rPr sz="2200">
                <a:solidFill>
                  <a:srgbClr val="323130"/>
                </a:solidFill>
                <a:latin typeface="Meiryo"/>
                <a:ea typeface="Meiryo"/>
              </a:rPr>
              <a:t>別の回で詳しく掘り下げたいと思います！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17352" y="649224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606060"/>
                </a:solidFill>
                <a:latin typeface="Meiryo"/>
              </a:rPr>
              <a:t>52 / 63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183112" cy="838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4000" b="1">
                <a:solidFill>
                  <a:srgbClr val="0078D4"/>
                </a:solidFill>
                <a:latin typeface="Meiryo"/>
                <a:ea typeface="Meiryo"/>
              </a:rPr>
              <a:t>これを実現した者が先行できる！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524000"/>
            <a:ext cx="11183112" cy="254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661160"/>
            <a:ext cx="11183112" cy="43281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600"/>
              </a:spcAft>
            </a:pPr>
            <a:r>
              <a:rPr sz="2700">
                <a:solidFill>
                  <a:srgbClr val="323130"/>
                </a:solidFill>
                <a:latin typeface="Meiryo"/>
                <a:ea typeface="Meiryo"/>
              </a:rPr>
              <a:t>• 🧠 </a:t>
            </a:r>
            <a:r>
              <a:rPr sz="2700" b="1">
                <a:solidFill>
                  <a:srgbClr val="323130"/>
                </a:solidFill>
                <a:latin typeface="Meiryo"/>
                <a:ea typeface="Meiryo"/>
              </a:rPr>
              <a:t>モデル</a:t>
            </a:r>
            <a:r>
              <a:rPr sz="2700">
                <a:solidFill>
                  <a:srgbClr val="323130"/>
                </a:solidFill>
                <a:latin typeface="Meiryo"/>
                <a:ea typeface="Meiryo"/>
              </a:rPr>
              <a:t>: 自由に選び・切り替えられる設計</a:t>
            </a:r>
          </a:p>
          <a:p>
            <a:pPr>
              <a:spcAft>
                <a:spcPts val="600"/>
              </a:spcAft>
            </a:pPr>
            <a:r>
              <a:rPr sz="2700">
                <a:solidFill>
                  <a:srgbClr val="323130"/>
                </a:solidFill>
                <a:latin typeface="Meiryo"/>
                <a:ea typeface="Meiryo"/>
              </a:rPr>
              <a:t>• 🏃 </a:t>
            </a:r>
            <a:r>
              <a:rPr sz="2700" b="1">
                <a:solidFill>
                  <a:srgbClr val="323130"/>
                </a:solidFill>
                <a:latin typeface="Meiryo"/>
                <a:ea typeface="Meiryo"/>
              </a:rPr>
              <a:t>実行環境</a:t>
            </a:r>
            <a:r>
              <a:rPr sz="2700">
                <a:solidFill>
                  <a:srgbClr val="323130"/>
                </a:solidFill>
                <a:latin typeface="Meiryo"/>
                <a:ea typeface="Meiryo"/>
              </a:rPr>
              <a:t>: API + RBACでどこでも動ける基盤（Arc!）</a:t>
            </a:r>
          </a:p>
          <a:p>
            <a:pPr>
              <a:spcAft>
                <a:spcPts val="600"/>
              </a:spcAft>
            </a:pPr>
            <a:r>
              <a:rPr sz="2700">
                <a:solidFill>
                  <a:srgbClr val="323130"/>
                </a:solidFill>
                <a:latin typeface="Meiryo"/>
                <a:ea typeface="Meiryo"/>
              </a:rPr>
              <a:t>• 📜 </a:t>
            </a:r>
            <a:r>
              <a:rPr sz="2700" b="1">
                <a:solidFill>
                  <a:srgbClr val="323130"/>
                </a:solidFill>
                <a:latin typeface="Meiryo"/>
                <a:ea typeface="Meiryo"/>
              </a:rPr>
              <a:t>コンテキスト</a:t>
            </a:r>
            <a:r>
              <a:rPr sz="2700">
                <a:solidFill>
                  <a:srgbClr val="323130"/>
                </a:solidFill>
                <a:latin typeface="Meiryo"/>
                <a:ea typeface="Meiryo"/>
              </a:rPr>
              <a:t>: 自社のデータ・システムをエージェントに開放（Arc!）</a:t>
            </a:r>
          </a:p>
          <a:p>
            <a:pPr>
              <a:spcAft>
                <a:spcPts val="500"/>
              </a:spcAft>
            </a:pPr>
            <a:r>
              <a:rPr sz="2700">
                <a:solidFill>
                  <a:srgbClr val="323130"/>
                </a:solidFill>
                <a:latin typeface="Meiryo"/>
                <a:ea typeface="Meiryo"/>
              </a:rPr>
              <a:t>→ </a:t>
            </a:r>
            <a:r>
              <a:rPr sz="2700" b="1">
                <a:solidFill>
                  <a:srgbClr val="323130"/>
                </a:solidFill>
                <a:latin typeface="Meiryo"/>
                <a:ea typeface="Meiryo"/>
              </a:rPr>
              <a:t>圧倒的な生産性優位</a:t>
            </a:r>
          </a:p>
          <a:p>
            <a:pPr>
              <a:spcAft>
                <a:spcPts val="500"/>
              </a:spcAft>
            </a:pPr>
            <a:r>
              <a:rPr sz="2700">
                <a:solidFill>
                  <a:srgbClr val="323130"/>
                </a:solidFill>
                <a:latin typeface="Meiryo"/>
                <a:ea typeface="Meiryo"/>
              </a:rPr>
              <a:t>他社がベンダーロックインや環境制約と格闘している間に、</a:t>
            </a:r>
          </a:p>
          <a:p>
            <a:pPr>
              <a:spcAft>
                <a:spcPts val="500"/>
              </a:spcAft>
            </a:pPr>
            <a:r>
              <a:rPr sz="2700">
                <a:solidFill>
                  <a:srgbClr val="323130"/>
                </a:solidFill>
                <a:latin typeface="Meiryo"/>
                <a:ea typeface="Meiryo"/>
              </a:rPr>
              <a:t>この問いを解いた組織が次の時代を作る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17352" y="649224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606060"/>
                </a:solidFill>
                <a:latin typeface="Meiryo"/>
              </a:rPr>
              <a:t>53 / 63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777240"/>
            <a:ext cx="11183112" cy="54864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spcAft>
                <a:spcPts val="800"/>
              </a:spcAft>
            </a:pPr>
            <a:r>
              <a:rPr sz="4800" b="1">
                <a:solidFill>
                  <a:srgbClr val="0078D4"/>
                </a:solidFill>
                <a:latin typeface="Meiryo"/>
                <a:ea typeface="Meiryo"/>
              </a:rPr>
              <a:t>ありがとうございました！</a:t>
            </a:r>
          </a:p>
          <a:p>
            <a:pPr algn="ctr">
              <a:spcAft>
                <a:spcPts val="800"/>
              </a:spcAft>
            </a:pPr>
            <a:r>
              <a:rPr sz="3300">
                <a:solidFill>
                  <a:srgbClr val="0078D4"/>
                </a:solidFill>
                <a:latin typeface="Meiryo"/>
                <a:ea typeface="Meiryo"/>
              </a:rPr>
              <a:t>AI時代の「本当の」ハイブリッドクラウド</a:t>
            </a:r>
          </a:p>
          <a:p>
            <a:pPr algn="ctr">
              <a:spcAft>
                <a:spcPts val="600"/>
              </a:spcAft>
            </a:pPr>
            <a:r>
              <a:rPr sz="2200" b="1">
                <a:solidFill>
                  <a:srgbClr val="323130"/>
                </a:solidFill>
                <a:latin typeface="Meiryo"/>
                <a:ea typeface="Meiryo"/>
              </a:rPr>
              <a:t>胡田 昌彦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17352" y="649224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606060"/>
                </a:solidFill>
                <a:latin typeface="Meiryo"/>
              </a:rPr>
              <a:t>54 / 63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hesara_event_thum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2818" y="2229958"/>
            <a:ext cx="4266133" cy="239808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2920" y="640080"/>
            <a:ext cx="7045360" cy="6705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3200" b="1">
                <a:solidFill>
                  <a:srgbClr val="0078D4"/>
                </a:solidFill>
                <a:latin typeface="Meiryo"/>
                <a:ea typeface="Meiryo"/>
              </a:rPr>
              <a:t>📢 勉強会のお知らせ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56360"/>
            <a:ext cx="7045360" cy="254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493520"/>
            <a:ext cx="7045360" cy="44958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500"/>
              </a:spcAft>
            </a:pPr>
            <a:r>
              <a:rPr sz="1800" b="1">
                <a:solidFill>
                  <a:srgbClr val="0078D4"/>
                </a:solidFill>
                <a:latin typeface="Meiryo"/>
                <a:ea typeface="Meiryo"/>
              </a:rPr>
              <a:t>Claude Codeライブ × 制約環境の自動化オフレコ</a:t>
            </a:r>
          </a:p>
          <a:p>
            <a:pPr>
              <a:spcAft>
                <a:spcPts val="500"/>
              </a:spcAft>
            </a:pPr>
            <a:r>
              <a:rPr sz="1800" b="1">
                <a:solidFill>
                  <a:srgbClr val="0078D4"/>
                </a:solidFill>
                <a:latin typeface="Meiryo"/>
                <a:ea typeface="Meiryo"/>
              </a:rPr>
              <a:t>音楽バーで語るAI昼会 #1</a:t>
            </a:r>
          </a:p>
          <a:p>
            <a:pPr>
              <a:spcAft>
                <a:spcPts val="400"/>
              </a:spcAft>
            </a:pPr>
            <a:r>
              <a:rPr sz="1600">
                <a:solidFill>
                  <a:srgbClr val="323130"/>
                </a:solidFill>
                <a:latin typeface="Meiryo"/>
                <a:ea typeface="Meiryo"/>
              </a:rPr>
              <a:t>• 📅 </a:t>
            </a:r>
            <a:r>
              <a:rPr sz="1600" b="1">
                <a:solidFill>
                  <a:srgbClr val="323130"/>
                </a:solidFill>
                <a:latin typeface="Meiryo"/>
                <a:ea typeface="Meiryo"/>
              </a:rPr>
              <a:t>2026年4月18日（土）13:30〜16:00</a:t>
            </a:r>
          </a:p>
          <a:p>
            <a:pPr>
              <a:spcAft>
                <a:spcPts val="400"/>
              </a:spcAft>
            </a:pPr>
            <a:r>
              <a:rPr sz="1600">
                <a:solidFill>
                  <a:srgbClr val="323130"/>
                </a:solidFill>
                <a:latin typeface="Meiryo"/>
                <a:ea typeface="Meiryo"/>
              </a:rPr>
              <a:t>• 📍 </a:t>
            </a:r>
            <a:r>
              <a:rPr sz="1600" b="1">
                <a:solidFill>
                  <a:srgbClr val="323130"/>
                </a:solidFill>
                <a:latin typeface="Meiryo"/>
                <a:ea typeface="Meiryo"/>
              </a:rPr>
              <a:t>Live Bar CheSara（南柏駅 徒歩1分）</a:t>
            </a:r>
          </a:p>
          <a:p>
            <a:pPr>
              <a:spcAft>
                <a:spcPts val="400"/>
              </a:spcAft>
            </a:pPr>
            <a:r>
              <a:rPr sz="1600">
                <a:solidFill>
                  <a:srgbClr val="323130"/>
                </a:solidFill>
                <a:latin typeface="Meiryo"/>
                <a:ea typeface="Meiryo"/>
              </a:rPr>
              <a:t>• 💰 </a:t>
            </a:r>
            <a:r>
              <a:rPr sz="1600" b="1">
                <a:solidFill>
                  <a:srgbClr val="323130"/>
                </a:solidFill>
                <a:latin typeface="Meiryo"/>
                <a:ea typeface="Meiryo"/>
              </a:rPr>
              <a:t>参加費無料</a:t>
            </a:r>
            <a:r>
              <a:rPr sz="1600">
                <a:solidFill>
                  <a:srgbClr val="323130"/>
                </a:solidFill>
                <a:latin typeface="Meiryo"/>
                <a:ea typeface="Meiryo"/>
              </a:rPr>
              <a:t>（ドリンクオーダー別途）</a:t>
            </a:r>
          </a:p>
          <a:p>
            <a:pPr>
              <a:spcAft>
                <a:spcPts val="400"/>
              </a:spcAft>
            </a:pPr>
            <a:r>
              <a:rPr sz="1600">
                <a:solidFill>
                  <a:srgbClr val="323130"/>
                </a:solidFill>
                <a:latin typeface="Meiryo"/>
                <a:ea typeface="Meiryo"/>
              </a:rPr>
              <a:t>内容</a:t>
            </a:r>
          </a:p>
          <a:p>
            <a:pPr>
              <a:spcAft>
                <a:spcPts val="400"/>
              </a:spcAft>
            </a:pPr>
            <a:r>
              <a:rPr sz="1600">
                <a:solidFill>
                  <a:srgbClr val="323130"/>
                </a:solidFill>
                <a:latin typeface="Meiryo"/>
                <a:ea typeface="Meiryo"/>
              </a:rPr>
              <a:t>• 🤖 参加者全員で「今日作るもの」を決めてClaude Codeに実装させる</a:t>
            </a:r>
          </a:p>
          <a:p>
            <a:pPr>
              <a:spcAft>
                <a:spcPts val="400"/>
              </a:spcAft>
            </a:pPr>
            <a:r>
              <a:rPr sz="1600">
                <a:solidFill>
                  <a:srgbClr val="323130"/>
                </a:solidFill>
                <a:latin typeface="Meiryo"/>
                <a:ea typeface="Meiryo"/>
              </a:rPr>
              <a:t>• 🎵 AIがコード書いてる間は</a:t>
            </a:r>
            <a:r>
              <a:rPr sz="1600" b="1">
                <a:solidFill>
                  <a:srgbClr val="323130"/>
                </a:solidFill>
                <a:latin typeface="Meiryo"/>
                <a:ea typeface="Meiryo"/>
              </a:rPr>
              <a:t>生演奏セッション</a:t>
            </a:r>
            <a:r>
              <a:rPr sz="1600">
                <a:solidFill>
                  <a:srgbClr val="323130"/>
                </a:solidFill>
                <a:latin typeface="Meiryo"/>
                <a:ea typeface="Meiryo"/>
              </a:rPr>
              <a:t>！</a:t>
            </a:r>
          </a:p>
          <a:p>
            <a:pPr>
              <a:spcAft>
                <a:spcPts val="400"/>
              </a:spcAft>
            </a:pPr>
            <a:r>
              <a:rPr sz="1600">
                <a:solidFill>
                  <a:srgbClr val="323130"/>
                </a:solidFill>
                <a:latin typeface="Meiryo"/>
                <a:ea typeface="Meiryo"/>
              </a:rPr>
              <a:t>• 🔒 オフレコセッション「会社のルールを守りながら、どこまで自動化できるか」</a:t>
            </a:r>
          </a:p>
          <a:p>
            <a:pPr>
              <a:spcAft>
                <a:spcPts val="300"/>
              </a:spcAft>
            </a:pPr>
            <a:r>
              <a:rPr sz="1600" b="1">
                <a:solidFill>
                  <a:srgbClr val="323130"/>
                </a:solidFill>
                <a:latin typeface="Meiryo"/>
                <a:ea typeface="Meiryo"/>
              </a:rPr>
              <a:t>Connpassで参加受付中！</a:t>
            </a:r>
            <a:r>
              <a:rPr sz="1600">
                <a:solidFill>
                  <a:srgbClr val="323130"/>
                </a:solidFill>
                <a:latin typeface="Meiryo"/>
                <a:ea typeface="Meiryo"/>
              </a:rPr>
              <a:t> https://ebisuda.connpass.com/event/385849/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17352" y="649224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606060"/>
                </a:solidFill>
                <a:latin typeface="Meiryo"/>
              </a:rPr>
              <a:t>55 / 63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777240"/>
            <a:ext cx="11183112" cy="54864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spcAft>
                <a:spcPts val="800"/>
              </a:spcAft>
            </a:pPr>
            <a:r>
              <a:rPr sz="4800" b="1">
                <a:solidFill>
                  <a:srgbClr val="0078D4"/>
                </a:solidFill>
                <a:latin typeface="Meiryo"/>
                <a:ea typeface="Meiryo"/>
              </a:rPr>
              <a:t>Q&amp;A</a:t>
            </a:r>
          </a:p>
          <a:p>
            <a:pPr algn="ctr">
              <a:spcAft>
                <a:spcPts val="800"/>
              </a:spcAft>
            </a:pPr>
            <a:r>
              <a:rPr sz="3300">
                <a:solidFill>
                  <a:srgbClr val="0078D4"/>
                </a:solidFill>
                <a:latin typeface="Meiryo"/>
                <a:ea typeface="Meiryo"/>
              </a:rPr>
              <a:t>💬 質問にお答えします！</a:t>
            </a:r>
          </a:p>
          <a:p>
            <a:pPr algn="ctr">
              <a:spcAft>
                <a:spcPts val="400"/>
              </a:spcAft>
            </a:pPr>
            <a:r>
              <a:rPr sz="2200">
                <a:solidFill>
                  <a:srgbClr val="323130"/>
                </a:solidFill>
                <a:latin typeface="Meiryo"/>
                <a:ea typeface="Meiryo"/>
              </a:rPr>
              <a:t>• どんな質問でも大歓迎です</a:t>
            </a:r>
          </a:p>
          <a:p>
            <a:pPr algn="ctr">
              <a:spcAft>
                <a:spcPts val="600"/>
              </a:spcAft>
            </a:pPr>
            <a:r>
              <a:rPr sz="2200">
                <a:solidFill>
                  <a:srgbClr val="323130"/>
                </a:solidFill>
                <a:latin typeface="Meiryo"/>
                <a:ea typeface="Meiryo"/>
              </a:rPr>
              <a:t>⏱️ 14:45 - 14:55（10分）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17352" y="649224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606060"/>
                </a:solidFill>
                <a:latin typeface="Meiryo"/>
              </a:rPr>
              <a:t>56 / 63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hcc-logo02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32266" y="1737472"/>
            <a:ext cx="3656685" cy="33830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2920" y="777240"/>
            <a:ext cx="7604516" cy="54864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spcAft>
                <a:spcPts val="800"/>
              </a:spcAft>
            </a:pPr>
            <a:r>
              <a:rPr sz="4800" b="1">
                <a:solidFill>
                  <a:srgbClr val="0078D4"/>
                </a:solidFill>
                <a:latin typeface="Meiryo"/>
                <a:ea typeface="Meiryo"/>
              </a:rPr>
              <a:t>セッション②</a:t>
            </a:r>
          </a:p>
          <a:p>
            <a:pPr algn="ctr">
              <a:spcAft>
                <a:spcPts val="800"/>
              </a:spcAft>
            </a:pPr>
            <a:r>
              <a:rPr sz="3300">
                <a:solidFill>
                  <a:srgbClr val="0078D4"/>
                </a:solidFill>
                <a:latin typeface="Meiryo"/>
                <a:ea typeface="Meiryo"/>
              </a:rPr>
              <a:t>Microsoft "Adaptive Cloud" 最新動向</a:t>
            </a:r>
          </a:p>
          <a:p>
            <a:pPr algn="ctr">
              <a:spcAft>
                <a:spcPts val="600"/>
              </a:spcAft>
            </a:pPr>
            <a:r>
              <a:rPr sz="2200" b="1">
                <a:solidFill>
                  <a:srgbClr val="323130"/>
                </a:solidFill>
                <a:latin typeface="Meiryo"/>
                <a:ea typeface="Meiryo"/>
              </a:rPr>
              <a:t>高添 修 氏</a:t>
            </a:r>
          </a:p>
          <a:p>
            <a:pPr algn="ctr">
              <a:spcAft>
                <a:spcPts val="600"/>
              </a:spcAft>
            </a:pPr>
            <a:r>
              <a:rPr sz="1600">
                <a:solidFill>
                  <a:srgbClr val="606060"/>
                </a:solidFill>
                <a:latin typeface="Meiryo"/>
                <a:ea typeface="Meiryo"/>
              </a:rPr>
              <a:t>日本マイクロソフト株式会社</a:t>
            </a:r>
          </a:p>
          <a:p>
            <a:pPr algn="ctr">
              <a:spcAft>
                <a:spcPts val="600"/>
              </a:spcAft>
            </a:pPr>
            <a:r>
              <a:rPr sz="2200">
                <a:solidFill>
                  <a:srgbClr val="323130"/>
                </a:solidFill>
                <a:latin typeface="Meiryo"/>
                <a:ea typeface="Meiryo"/>
              </a:rPr>
              <a:t>⏱️ 14:55 - 15:15（20分）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17352" y="649224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606060"/>
                </a:solidFill>
                <a:latin typeface="Meiryo"/>
              </a:rPr>
              <a:t>57 / 63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777240"/>
            <a:ext cx="11183112" cy="54864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spcAft>
                <a:spcPts val="800"/>
              </a:spcAft>
            </a:pPr>
            <a:r>
              <a:rPr sz="4800" b="1">
                <a:solidFill>
                  <a:srgbClr val="0078D4"/>
                </a:solidFill>
                <a:latin typeface="Meiryo"/>
                <a:ea typeface="Meiryo"/>
              </a:rPr>
              <a:t>Q&amp;A</a:t>
            </a:r>
          </a:p>
          <a:p>
            <a:pPr algn="ctr">
              <a:spcAft>
                <a:spcPts val="800"/>
              </a:spcAft>
            </a:pPr>
            <a:r>
              <a:rPr sz="3300">
                <a:solidFill>
                  <a:srgbClr val="0078D4"/>
                </a:solidFill>
                <a:latin typeface="Meiryo"/>
                <a:ea typeface="Meiryo"/>
              </a:rPr>
              <a:t>💬 質問にお答えします！</a:t>
            </a:r>
          </a:p>
          <a:p>
            <a:pPr algn="ctr">
              <a:spcAft>
                <a:spcPts val="600"/>
              </a:spcAft>
            </a:pPr>
            <a:r>
              <a:rPr sz="2200">
                <a:solidFill>
                  <a:srgbClr val="323130"/>
                </a:solidFill>
                <a:latin typeface="Meiryo"/>
                <a:ea typeface="Meiryo"/>
              </a:rPr>
              <a:t>⏱️ 15:15 - 15:25（10分）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17352" y="649224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606060"/>
                </a:solidFill>
                <a:latin typeface="Meiryo"/>
              </a:rPr>
              <a:t>58 / 63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hcc-logo02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50241"/>
            <a:ext cx="3412906" cy="315751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725631" y="777240"/>
            <a:ext cx="7828178" cy="54864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spcAft>
                <a:spcPts val="800"/>
              </a:spcAft>
            </a:pPr>
            <a:r>
              <a:rPr sz="4800" b="1">
                <a:solidFill>
                  <a:srgbClr val="0078D4"/>
                </a:solidFill>
                <a:latin typeface="Meiryo"/>
                <a:ea typeface="Meiryo"/>
              </a:rPr>
              <a:t>クロージング</a:t>
            </a:r>
          </a:p>
          <a:p>
            <a:pPr algn="ctr">
              <a:spcAft>
                <a:spcPts val="800"/>
              </a:spcAft>
            </a:pPr>
            <a:r>
              <a:rPr sz="3300">
                <a:solidFill>
                  <a:srgbClr val="0078D4"/>
                </a:solidFill>
                <a:latin typeface="Meiryo"/>
                <a:ea typeface="Meiryo"/>
              </a:rPr>
              <a:t>本日のご参加ありがとうございました！</a:t>
            </a:r>
          </a:p>
          <a:p>
            <a:pPr algn="ctr">
              <a:spcAft>
                <a:spcPts val="400"/>
              </a:spcAft>
            </a:pPr>
            <a:r>
              <a:rPr sz="2200">
                <a:solidFill>
                  <a:srgbClr val="323130"/>
                </a:solidFill>
                <a:latin typeface="Meiryo"/>
                <a:ea typeface="Meiryo"/>
              </a:rPr>
              <a:t>• アーカイブはYouTubeチャンネルから視聴可能</a:t>
            </a:r>
          </a:p>
          <a:p>
            <a:pPr algn="ctr">
              <a:spcAft>
                <a:spcPts val="400"/>
              </a:spcAft>
            </a:pPr>
            <a:r>
              <a:rPr sz="2200">
                <a:solidFill>
                  <a:srgbClr val="323130"/>
                </a:solidFill>
                <a:latin typeface="Meiryo"/>
                <a:ea typeface="Meiryo"/>
              </a:rPr>
              <a:t>• 資料は後日公開予定</a:t>
            </a:r>
          </a:p>
          <a:p>
            <a:pPr algn="ctr">
              <a:spcAft>
                <a:spcPts val="400"/>
              </a:spcAft>
            </a:pPr>
            <a:r>
              <a:rPr sz="2200">
                <a:solidFill>
                  <a:srgbClr val="323130"/>
                </a:solidFill>
                <a:latin typeface="Meiryo"/>
                <a:ea typeface="Meiryo"/>
              </a:rPr>
              <a:t>• ハッシュタグは </a:t>
            </a:r>
            <a:r>
              <a:rPr sz="2200" b="1">
                <a:solidFill>
                  <a:srgbClr val="323130"/>
                </a:solidFill>
                <a:latin typeface="Meiryo"/>
                <a:ea typeface="Meiryo"/>
              </a:rPr>
              <a:t>#HCCJP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17352" y="649224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606060"/>
                </a:solidFill>
                <a:latin typeface="Meiryo"/>
              </a:rPr>
              <a:t>59 / 63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hcc-logo02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32266" y="1737472"/>
            <a:ext cx="3656685" cy="33830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2920" y="640080"/>
            <a:ext cx="7604516" cy="838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4000" b="1">
                <a:solidFill>
                  <a:srgbClr val="0078D4"/>
                </a:solidFill>
                <a:latin typeface="Meiryo"/>
                <a:ea typeface="Meiryo"/>
              </a:rPr>
              <a:t>📺 チャンネル登録を！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524000"/>
            <a:ext cx="7604516" cy="254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661160"/>
            <a:ext cx="7604516" cy="406298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1200"/>
              </a:spcAft>
            </a:pPr>
            <a:r>
              <a:rPr sz="4100" b="1">
                <a:solidFill>
                  <a:srgbClr val="0078D4"/>
                </a:solidFill>
                <a:latin typeface="Meiryo"/>
                <a:ea typeface="Meiryo"/>
              </a:rPr>
              <a:t>目指せ 1000人！</a:t>
            </a:r>
          </a:p>
          <a:p>
            <a:pPr>
              <a:spcAft>
                <a:spcPts val="700"/>
              </a:spcAft>
            </a:pPr>
            <a:r>
              <a:rPr sz="3600" b="1">
                <a:solidFill>
                  <a:srgbClr val="323130"/>
                </a:solidFill>
                <a:latin typeface="Meiryo"/>
                <a:ea typeface="Meiryo"/>
              </a:rPr>
              <a:t>YouTube HCCJPチャンネル</a:t>
            </a:r>
          </a:p>
          <a:p>
            <a:pPr>
              <a:spcAft>
                <a:spcPts val="700"/>
              </a:spcAft>
            </a:pPr>
            <a:r>
              <a:rPr sz="3600">
                <a:solidFill>
                  <a:srgbClr val="323130"/>
                </a:solidFill>
                <a:latin typeface="Meiryo"/>
                <a:ea typeface="Meiryo"/>
              </a:rPr>
              <a:t>毎月第2金曜日の最新情報をお見逃しなく！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17352" y="649224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606060"/>
                </a:solidFill>
                <a:latin typeface="Meiryo"/>
              </a:rPr>
              <a:t>60 / 63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183112" cy="7543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3600" b="1">
                <a:solidFill>
                  <a:srgbClr val="0078D4"/>
                </a:solidFill>
                <a:latin typeface="Meiryo"/>
                <a:ea typeface="Meiryo"/>
              </a:rPr>
              <a:t>🙌 HCCJPを一緒に盛り上げませんか？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440180"/>
            <a:ext cx="11183112" cy="254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577340"/>
            <a:ext cx="11183112" cy="44119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400"/>
              </a:spcAft>
            </a:pPr>
            <a:r>
              <a:rPr sz="2400">
                <a:solidFill>
                  <a:srgbClr val="323130"/>
                </a:solidFill>
                <a:latin typeface="Meiryo"/>
                <a:ea typeface="Meiryo"/>
              </a:rPr>
              <a:t>HCCJPは</a:t>
            </a:r>
            <a:r>
              <a:rPr sz="2400" b="1">
                <a:solidFill>
                  <a:srgbClr val="323130"/>
                </a:solidFill>
                <a:latin typeface="Meiryo"/>
                <a:ea typeface="Meiryo"/>
              </a:rPr>
              <a:t>企業・個人を問わず、誰でも参加できるオープンなコミュニティ</a:t>
            </a:r>
            <a:r>
              <a:rPr sz="2400">
                <a:solidFill>
                  <a:srgbClr val="323130"/>
                </a:solidFill>
                <a:latin typeface="Meiryo"/>
                <a:ea typeface="Meiryo"/>
              </a:rPr>
              <a:t>です。</a:t>
            </a:r>
          </a:p>
          <a:p>
            <a:pPr>
              <a:spcAft>
                <a:spcPts val="400"/>
              </a:spcAft>
            </a:pPr>
            <a:r>
              <a:rPr sz="2400">
                <a:solidFill>
                  <a:srgbClr val="323130"/>
                </a:solidFill>
                <a:latin typeface="Meiryo"/>
                <a:ea typeface="Meiryo"/>
              </a:rPr>
              <a:t>今、特に</a:t>
            </a:r>
            <a:r>
              <a:rPr sz="2400" b="1">
                <a:solidFill>
                  <a:srgbClr val="323130"/>
                </a:solidFill>
                <a:latin typeface="Meiryo"/>
                <a:ea typeface="Meiryo"/>
              </a:rPr>
              <a:t>こんな仲間</a:t>
            </a:r>
            <a:r>
              <a:rPr sz="2400">
                <a:solidFill>
                  <a:srgbClr val="323130"/>
                </a:solidFill>
                <a:latin typeface="Meiryo"/>
                <a:ea typeface="Meiryo"/>
              </a:rPr>
              <a:t>を募集しています！</a:t>
            </a:r>
          </a:p>
          <a:p>
            <a:pPr>
              <a:spcAft>
                <a:spcPts val="600"/>
              </a:spcAft>
            </a:pPr>
            <a:r>
              <a:rPr sz="2400">
                <a:solidFill>
                  <a:srgbClr val="323130"/>
                </a:solidFill>
                <a:latin typeface="Meiryo"/>
                <a:ea typeface="Meiryo"/>
              </a:rPr>
              <a:t>• 🏢 </a:t>
            </a:r>
            <a:r>
              <a:rPr sz="2400" b="1">
                <a:solidFill>
                  <a:srgbClr val="323130"/>
                </a:solidFill>
                <a:latin typeface="Meiryo"/>
                <a:ea typeface="Meiryo"/>
              </a:rPr>
              <a:t>ユーザー企業の担当者</a:t>
            </a:r>
            <a:r>
              <a:rPr sz="2400">
                <a:solidFill>
                  <a:srgbClr val="323130"/>
                </a:solidFill>
                <a:latin typeface="Meiryo"/>
                <a:ea typeface="Meiryo"/>
              </a:rPr>
              <a:t> — 「うちはこう使ってる」というリアルな導入事例の共有</a:t>
            </a:r>
          </a:p>
          <a:p>
            <a:pPr>
              <a:spcAft>
                <a:spcPts val="600"/>
              </a:spcAft>
            </a:pPr>
            <a:r>
              <a:rPr sz="2400">
                <a:solidFill>
                  <a:srgbClr val="323130"/>
                </a:solidFill>
                <a:latin typeface="Meiryo"/>
                <a:ea typeface="Meiryo"/>
              </a:rPr>
              <a:t>• 💬 </a:t>
            </a:r>
            <a:r>
              <a:rPr sz="2400" b="1">
                <a:solidFill>
                  <a:srgbClr val="323130"/>
                </a:solidFill>
                <a:latin typeface="Meiryo"/>
                <a:ea typeface="Meiryo"/>
              </a:rPr>
              <a:t>構成相談したい方</a:t>
            </a:r>
            <a:r>
              <a:rPr sz="2400">
                <a:solidFill>
                  <a:srgbClr val="323130"/>
                </a:solidFill>
                <a:latin typeface="Meiryo"/>
                <a:ea typeface="Meiryo"/>
              </a:rPr>
              <a:t> — 「こういう構成どう？」をみんなで議論しましょう</a:t>
            </a:r>
          </a:p>
          <a:p>
            <a:pPr>
              <a:spcAft>
                <a:spcPts val="600"/>
              </a:spcAft>
            </a:pPr>
            <a:r>
              <a:rPr sz="2400">
                <a:solidFill>
                  <a:srgbClr val="323130"/>
                </a:solidFill>
                <a:latin typeface="Meiryo"/>
                <a:ea typeface="Meiryo"/>
              </a:rPr>
              <a:t>• 🤖 </a:t>
            </a:r>
            <a:r>
              <a:rPr sz="2400" b="1">
                <a:solidFill>
                  <a:srgbClr val="323130"/>
                </a:solidFill>
                <a:latin typeface="Meiryo"/>
                <a:ea typeface="Meiryo"/>
              </a:rPr>
              <a:t>生成AI × インフラに興味がある方</a:t>
            </a:r>
            <a:r>
              <a:rPr sz="2400">
                <a:solidFill>
                  <a:srgbClr val="323130"/>
                </a:solidFill>
                <a:latin typeface="Meiryo"/>
                <a:ea typeface="Meiryo"/>
              </a:rPr>
              <a:t> — AI活用事例を持ち寄りましょう</a:t>
            </a:r>
          </a:p>
          <a:p>
            <a:pPr>
              <a:spcAft>
                <a:spcPts val="600"/>
              </a:spcAft>
            </a:pPr>
            <a:r>
              <a:rPr sz="2400">
                <a:solidFill>
                  <a:srgbClr val="323130"/>
                </a:solidFill>
                <a:latin typeface="Meiryo"/>
                <a:ea typeface="Meiryo"/>
              </a:rPr>
              <a:t>• 🎤 </a:t>
            </a:r>
            <a:r>
              <a:rPr sz="2400" b="1">
                <a:solidFill>
                  <a:srgbClr val="323130"/>
                </a:solidFill>
                <a:latin typeface="Meiryo"/>
                <a:ea typeface="Meiryo"/>
              </a:rPr>
              <a:t>登壇してみたい方</a:t>
            </a:r>
            <a:r>
              <a:rPr sz="2400">
                <a:solidFill>
                  <a:srgbClr val="323130"/>
                </a:solidFill>
                <a:latin typeface="Meiryo"/>
                <a:ea typeface="Meiryo"/>
              </a:rPr>
              <a:t> — 初登壇も大歓迎！発表の場を提供します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17352" y="649224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606060"/>
                </a:solidFill>
                <a:latin typeface="Meiryo"/>
              </a:rPr>
              <a:t>61 / 63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777240"/>
            <a:ext cx="11183112" cy="54864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spcAft>
                <a:spcPts val="800"/>
              </a:spcAft>
            </a:pPr>
            <a:r>
              <a:rPr sz="4800" b="1">
                <a:solidFill>
                  <a:srgbClr val="0078D4"/>
                </a:solidFill>
                <a:latin typeface="Meiryo"/>
                <a:ea typeface="Meiryo"/>
              </a:rPr>
              <a:t>次回予告</a:t>
            </a:r>
          </a:p>
          <a:p>
            <a:pPr algn="ctr">
              <a:spcAft>
                <a:spcPts val="800"/>
              </a:spcAft>
            </a:pPr>
            <a:r>
              <a:rPr sz="3300">
                <a:solidFill>
                  <a:srgbClr val="0078D4"/>
                </a:solidFill>
                <a:latin typeface="Meiryo"/>
                <a:ea typeface="Meiryo"/>
              </a:rPr>
              <a:t>📅 2026/4/10（金）14:00〜</a:t>
            </a:r>
          </a:p>
          <a:p>
            <a:pPr algn="ctr">
              <a:spcAft>
                <a:spcPts val="800"/>
              </a:spcAft>
            </a:pPr>
            <a:r>
              <a:rPr sz="2600">
                <a:solidFill>
                  <a:srgbClr val="323130"/>
                </a:solidFill>
                <a:latin typeface="Meiryo"/>
                <a:ea typeface="Meiryo"/>
              </a:rPr>
              <a:t>次回以降のセッション候補</a:t>
            </a:r>
          </a:p>
          <a:p>
            <a:pPr algn="ctr">
              <a:spcAft>
                <a:spcPts val="400"/>
              </a:spcAft>
            </a:pPr>
            <a:r>
              <a:rPr sz="2200">
                <a:solidFill>
                  <a:srgbClr val="323130"/>
                </a:solidFill>
                <a:latin typeface="Meiryo"/>
                <a:ea typeface="Meiryo"/>
              </a:rPr>
              <a:t>• 🔧 </a:t>
            </a:r>
            <a:r>
              <a:rPr sz="2200" b="1">
                <a:solidFill>
                  <a:srgbClr val="323130"/>
                </a:solidFill>
                <a:latin typeface="Meiryo"/>
                <a:ea typeface="Meiryo"/>
              </a:rPr>
              <a:t>Arcでつないだら？Arc×AIエージェント実演セッション</a:t>
            </a:r>
          </a:p>
          <a:p>
            <a:pPr algn="ctr">
              <a:spcAft>
                <a:spcPts val="400"/>
              </a:spcAft>
            </a:pPr>
            <a:r>
              <a:rPr sz="2200">
                <a:solidFill>
                  <a:srgbClr val="323130"/>
                </a:solidFill>
                <a:latin typeface="Meiryo"/>
                <a:ea typeface="Meiryo"/>
              </a:rPr>
              <a:t>• 📜 </a:t>
            </a:r>
            <a:r>
              <a:rPr sz="2200" b="1">
                <a:solidFill>
                  <a:srgbClr val="323130"/>
                </a:solidFill>
                <a:latin typeface="Meiryo"/>
                <a:ea typeface="Meiryo"/>
              </a:rPr>
              <a:t>AIエージェントのコンテキスト整備の方法論</a:t>
            </a:r>
          </a:p>
          <a:p>
            <a:pPr algn="ctr">
              <a:spcAft>
                <a:spcPts val="400"/>
              </a:spcAft>
            </a:pPr>
            <a:r>
              <a:rPr sz="2200">
                <a:solidFill>
                  <a:srgbClr val="323130"/>
                </a:solidFill>
                <a:latin typeface="Meiryo"/>
                <a:ea typeface="Meiryo"/>
              </a:rPr>
              <a:t>• 🎤 </a:t>
            </a:r>
            <a:r>
              <a:rPr sz="2200" b="1">
                <a:solidFill>
                  <a:srgbClr val="323130"/>
                </a:solidFill>
                <a:latin typeface="Meiryo"/>
                <a:ea typeface="Meiryo"/>
              </a:rPr>
              <a:t>ネットワールド 後藤さん登壇！？</a:t>
            </a:r>
            <a:r>
              <a:rPr sz="2200">
                <a:solidFill>
                  <a:srgbClr val="323130"/>
                </a:solidFill>
                <a:latin typeface="Meiryo"/>
                <a:ea typeface="Meiryo"/>
              </a:rPr>
              <a:t>（ご快諾いただいてます！）</a:t>
            </a:r>
          </a:p>
          <a:p>
            <a:pPr algn="ctr">
              <a:spcAft>
                <a:spcPts val="600"/>
              </a:spcAft>
            </a:pPr>
            <a:r>
              <a:rPr sz="2200">
                <a:solidFill>
                  <a:srgbClr val="323130"/>
                </a:solidFill>
                <a:latin typeface="Meiryo"/>
                <a:ea typeface="Meiryo"/>
              </a:rPr>
              <a:t>希望あればコメントで！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17352" y="649224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606060"/>
                </a:solidFill>
                <a:latin typeface="Meiryo"/>
              </a:rPr>
              <a:t>62 / 63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hcc-logo02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50241"/>
            <a:ext cx="3412906" cy="315751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725631" y="777240"/>
            <a:ext cx="7828178" cy="54864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spcAft>
                <a:spcPts val="800"/>
              </a:spcAft>
            </a:pPr>
            <a:r>
              <a:rPr sz="4800" b="1">
                <a:solidFill>
                  <a:srgbClr val="0078D4"/>
                </a:solidFill>
                <a:latin typeface="Meiryo"/>
                <a:ea typeface="Meiryo"/>
              </a:rPr>
              <a:t>ご参加ありがとうございました！</a:t>
            </a:r>
          </a:p>
          <a:p>
            <a:pPr algn="ctr">
              <a:spcAft>
                <a:spcPts val="800"/>
              </a:spcAft>
            </a:pPr>
            <a:r>
              <a:rPr sz="3300">
                <a:solidFill>
                  <a:srgbClr val="0078D4"/>
                </a:solidFill>
                <a:latin typeface="Meiryo"/>
                <a:ea typeface="Meiryo"/>
              </a:rPr>
              <a:t>また次回お会いしましょう！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17352" y="649224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606060"/>
                </a:solidFill>
                <a:latin typeface="Meiryo"/>
              </a:rPr>
              <a:t>63 / 63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