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21"/>
  </p:notesMasterIdLst>
  <p:sldIdLst>
    <p:sldId id="256" r:id="rId3"/>
    <p:sldId id="32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323" r:id="rId18"/>
    <p:sldId id="271" r:id="rId19"/>
    <p:sldId id="272" r:id="rId20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7" autoAdjust="0"/>
    <p:restoredTop sz="84518" autoAdjust="0"/>
  </p:normalViewPr>
  <p:slideViewPr>
    <p:cSldViewPr snapToGrid="0">
      <p:cViewPr varScale="1">
        <p:scale>
          <a:sx n="93" d="100"/>
          <a:sy n="93" d="100"/>
        </p:scale>
        <p:origin x="4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02:04:0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 0 0,'0'0'-32'0'0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BC572-7CE1-4DED-85FE-DBF37768D02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2B17C-607B-40DC-A731-09962E9CA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5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AB38D2-BF63-4019-8B35-19035BD8770A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058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FCI = Failover Cluster Instance</a:t>
            </a:r>
          </a:p>
          <a:p>
            <a:r>
              <a:rPr lang="ja-JP" altLang="en-US" dirty="0"/>
              <a:t>「</a:t>
            </a:r>
            <a:r>
              <a:rPr lang="en-US" altLang="ja-JP" dirty="0"/>
              <a:t>Windows</a:t>
            </a:r>
            <a:r>
              <a:rPr lang="ja-JP" altLang="en-US" dirty="0"/>
              <a:t>クラスタの力で、</a:t>
            </a:r>
            <a:r>
              <a:rPr lang="en-US" altLang="ja-JP" dirty="0"/>
              <a:t>SQL Server </a:t>
            </a:r>
            <a:r>
              <a:rPr lang="ja-JP" altLang="en-US" dirty="0"/>
              <a:t>全体（インスタンス）を丸ごとフェールオーバーさせる仕組み」</a:t>
            </a:r>
            <a:endParaRPr lang="en-US" altLang="ja-JP" dirty="0"/>
          </a:p>
          <a:p>
            <a:r>
              <a:rPr lang="ja-JP" altLang="en-US" dirty="0"/>
              <a:t>共有ディスク利用</a:t>
            </a:r>
            <a:endParaRPr lang="en-US" altLang="ja-JP" dirty="0"/>
          </a:p>
          <a:p>
            <a:endParaRPr lang="en-US" dirty="0"/>
          </a:p>
          <a:p>
            <a:r>
              <a:rPr lang="en-US" sz="12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Always On AG = </a:t>
            </a:r>
            <a:r>
              <a:rPr lang="en-US" dirty="0"/>
              <a:t>Always On </a:t>
            </a:r>
            <a:r>
              <a:rPr lang="en-US" dirty="0" err="1"/>
              <a:t>AG（Availability</a:t>
            </a:r>
            <a:r>
              <a:rPr lang="en-US" dirty="0"/>
              <a:t> Groups）</a:t>
            </a:r>
            <a:br>
              <a:rPr lang="en-US" dirty="0"/>
            </a:br>
            <a:r>
              <a:rPr lang="ja-JP" altLang="en-US" dirty="0"/>
              <a:t>「複数ノードに同じ</a:t>
            </a:r>
            <a:r>
              <a:rPr lang="en-US" altLang="ja-JP" dirty="0"/>
              <a:t>DB</a:t>
            </a:r>
            <a:r>
              <a:rPr lang="ja-JP" altLang="en-US" dirty="0"/>
              <a:t>を複製して、瞬時に切り替えもできるし、読み取り専用で負荷分散もできる仕組み」</a:t>
            </a:r>
            <a:br>
              <a:rPr lang="en-US" altLang="ja-JP" dirty="0"/>
            </a:br>
            <a:r>
              <a:rPr lang="ja-JP" altLang="en-US" dirty="0"/>
              <a:t>ローカルディスク利用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B17C-607B-40DC-A731-09962E9CAE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10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FCI </a:t>
            </a:r>
            <a:r>
              <a:rPr lang="ja-JP" altLang="en-US" dirty="0"/>
              <a:t>は以下にガッツリ </a:t>
            </a:r>
            <a:r>
              <a:rPr lang="en-US" altLang="ja-JP" dirty="0"/>
              <a:t>AD </a:t>
            </a:r>
            <a:r>
              <a:rPr lang="ja-JP" altLang="en-US" dirty="0"/>
              <a:t>依存です：</a:t>
            </a:r>
          </a:p>
          <a:p>
            <a:r>
              <a:rPr lang="en-US" altLang="ja-JP" b="1" dirty="0"/>
              <a:t>CNO / VCO</a:t>
            </a:r>
            <a:r>
              <a:rPr lang="ja-JP" altLang="en-US" b="1" dirty="0"/>
              <a:t>（</a:t>
            </a:r>
            <a:r>
              <a:rPr lang="en-US" altLang="ja-JP" b="1" dirty="0"/>
              <a:t>Cluster Name Object / Virtual Computer Object</a:t>
            </a:r>
            <a:r>
              <a:rPr lang="ja-JP" altLang="en-US" b="1" dirty="0"/>
              <a:t>）</a:t>
            </a:r>
            <a:r>
              <a:rPr lang="ja-JP" altLang="en-US" dirty="0"/>
              <a:t> を </a:t>
            </a:r>
            <a:r>
              <a:rPr lang="en-US" altLang="ja-JP" dirty="0"/>
              <a:t>AD </a:t>
            </a:r>
            <a:r>
              <a:rPr lang="ja-JP" altLang="en-US" dirty="0"/>
              <a:t>に作成</a:t>
            </a:r>
          </a:p>
          <a:p>
            <a:r>
              <a:rPr lang="ja-JP" altLang="en-US" dirty="0"/>
              <a:t>仮想サーバ名用の </a:t>
            </a:r>
            <a:r>
              <a:rPr lang="en-US" altLang="ja-JP" b="1" dirty="0"/>
              <a:t>SPN </a:t>
            </a:r>
            <a:r>
              <a:rPr lang="ja-JP" altLang="en-US" b="1" dirty="0"/>
              <a:t>登録 </a:t>
            </a:r>
            <a:r>
              <a:rPr lang="en-US" altLang="ja-JP" b="1" dirty="0"/>
              <a:t>&amp; Kerberos </a:t>
            </a:r>
            <a:r>
              <a:rPr lang="ja-JP" altLang="en-US" b="1" dirty="0"/>
              <a:t>認証</a:t>
            </a:r>
            <a:endParaRPr lang="ja-JP" altLang="en-US" dirty="0"/>
          </a:p>
          <a:p>
            <a:r>
              <a:rPr lang="ja-JP" altLang="en-US" dirty="0"/>
              <a:t>ドメインサービスアカウント前提の運用</a:t>
            </a:r>
          </a:p>
          <a:p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2B17C-607B-40DC-A731-09962E9CAE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C580ED-A6A7-49E2-86B9-459DF1BB8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D02C9A-C0C3-41AA-A5B3-10580CD01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D51A8-38DC-40D9-A01E-36836F2F5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DED496-A842-4BA4-AC91-CFB04FD9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6EA5C6-BE97-4B73-AFDA-C5CD423B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94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F85EDA-0D0A-4DB5-824C-1C4DEE1E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54"/>
            <a:ext cx="10515600" cy="68684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371031-E5B5-407F-BF50-C805673ED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884"/>
            <a:ext cx="10515600" cy="5664425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8011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758252-4AD2-4F3B-9A95-61E6470C2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80A263-A7FD-4477-8E23-ABF72D9A6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4A6B3-CB07-4B15-8162-62AD56A0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A0B057-36A3-4B49-A49A-48C99C7F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42ED65-A2BC-4DED-9043-4D395131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6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141F83-746D-4B59-82FE-796FBECCE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6E710F-3000-466B-871D-6DB353549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6CE919-B4FE-4708-A0D7-E4911B83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D318E8-DE11-49A0-9FA8-404A6274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A83B6E-C18F-4E47-9384-A9472789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CBA311-AEB9-4469-8EBD-79884A260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95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89797E-D0EF-4E8F-8F17-6E9C53BB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C9F69B-10BE-4B11-9EBE-CDBC61C86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30C8E1-AE84-4EA6-9C88-9B68E2E74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976F08-A482-46DF-9861-2F9CFD08D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16C2C1-92EE-4561-B7A2-CD3F72A95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88EDF8A-9BB5-43A0-8A45-66072FD0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CD4C3EE-7188-4456-8068-E4F912AF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540544-4727-4E0F-A7E4-05F3DF0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282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0B030-0560-40FF-82E4-9D01C28D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4C64834-6F4D-4FFC-8414-0BE843FD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262B7F-6523-4FE6-8B53-D26D44DC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35A8AE6-B232-48F6-9444-04A44BBF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16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AAC59E-F8F0-4C72-B4D7-1EEF54F1A7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28152F-02C7-4E77-9D1E-2D7506C7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0E58EB-CC56-4EC0-A83E-70B1CA089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717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F0623-8471-4B00-952F-176AD562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04FF6F-2D65-4532-818A-02F2C1A0E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A12086-8FC4-4DDB-B1FB-E9140C827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C34653-B47E-4ADA-9D22-30F7B9F8AC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9D7AA6-E2A4-44B0-9C88-6D9689D4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2BE630-19F4-4784-AE08-846B60E9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36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CD6C3-B8E7-4130-A1A4-54EAFD81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D02D7E-3AD1-4D2C-B082-97D3D0A3E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3E6991-44DB-4801-9834-7A60CD719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5DF4D4-08C2-41E0-9121-3F7D28A9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7A94B0-9023-441C-BD18-2E2E51E0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1A4676-641D-4026-9368-680E4B7D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311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6EF1D-32B0-4FDC-8E93-A43469C0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622B4A8-8E74-4B1D-A6E6-8B51B3759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82CBD7-AF26-4592-BF57-4BBC4C4B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B5FE5B-869C-4B9F-91A8-D20C051A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07F2A7-7AC7-4445-9BD2-510B48AE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75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A5A5EE-9550-4502-AEF7-621EF59B6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756395-699D-4ADB-8707-9F4DC280E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62A4EC-4159-46B4-A8FA-BFD83DD3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C69C34-E1EA-414E-A346-BA04A7D16074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4BB9C-2D0F-4B7E-91D8-4349CBC3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C58272-DB53-455D-8181-EA96E268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EAA4C7-7765-410A-A179-6BF75ED7E4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80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1FCFECA2-3D45-4BF6-BB9A-4F7A2A2FFB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646" y="2744620"/>
            <a:ext cx="10194708" cy="136876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4400"/>
            </a:lvl1pPr>
            <a:lvl2pPr marL="457200" indent="0" algn="ctr">
              <a:buFont typeface="Wingdings" panose="05000000000000000000" pitchFamily="2" charset="2"/>
              <a:buNone/>
              <a:defRPr sz="4000"/>
            </a:lvl2pPr>
            <a:lvl3pPr marL="914400" indent="0" algn="ctr">
              <a:buFont typeface="Wingdings" panose="05000000000000000000" pitchFamily="2" charset="2"/>
              <a:buNone/>
              <a:defRPr sz="3600"/>
            </a:lvl3pPr>
            <a:lvl4pPr marL="1371600" indent="0" algn="ctr">
              <a:buFont typeface="Wingdings" panose="05000000000000000000" pitchFamily="2" charset="2"/>
              <a:buNone/>
              <a:defRPr sz="3200"/>
            </a:lvl4pPr>
            <a:lvl5pPr marL="1828800" indent="0" algn="ctr">
              <a:buFont typeface="Wingdings" panose="05000000000000000000" pitchFamily="2" charset="2"/>
              <a:buNone/>
              <a:defRPr sz="32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2</a:t>
            </a:r>
            <a:r>
              <a:rPr kumimoji="1" lang="ja-JP" altLang="en-US" dirty="0"/>
              <a:t>行を基準</a:t>
            </a:r>
          </a:p>
        </p:txBody>
      </p:sp>
    </p:spTree>
    <p:extLst>
      <p:ext uri="{BB962C8B-B14F-4D97-AF65-F5344CB8AC3E}">
        <p14:creationId xmlns:p14="http://schemas.microsoft.com/office/powerpoint/2010/main" val="332730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73B7E4-6388-2353-E624-1FD7711B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58000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854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C986CB-C9B4-46EF-82CC-08F3A29B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182"/>
            <a:ext cx="10515600" cy="84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CE6806-A919-4523-AC4F-148E6D707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9069"/>
            <a:ext cx="10515600" cy="5591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235424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hyperlink" Target="https://amzn.to/2OPhkdr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youtube.com/@ebibibi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ja-jp/windows-server/failover-clustering/create-workgroup-cluster?tabs=desktop#cluster-workloa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ja-jp/windows-server/failover-clustering/create-workgroup-cluster?tabs=desktop" TargetMode="External"/><Relationship Id="rId2" Type="http://schemas.openxmlformats.org/officeDocument/2006/relationships/hyperlink" Target="https://learn.microsoft.com/ja-jp/windows-server/failover-clustering/failover-clustering-overvie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chcommunity.microsoft.com/blog/itopstalkblog/windows-server-2025-hyper-v-workgroup-cluster-with-certificate-based-authenticat/4428783" TargetMode="External"/><Relationship Id="rId4" Type="http://schemas.openxmlformats.org/officeDocument/2006/relationships/hyperlink" Target="https://learn.microsoft.com/ja-jp/windows-server/virtualization/hyper-v/manage/live-migration-workgroup-cluster?tabs=powershel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: 図形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フリーフォーム: 図形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フリーフォーム: 図形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図 8"/>
          <p:cNvPicPr/>
          <p:nvPr/>
        </p:nvPicPr>
        <p:blipFill>
          <a:blip r:embed="rId2"/>
          <a:stretch/>
        </p:blipFill>
        <p:spPr>
          <a:xfrm>
            <a:off x="8896320" y="1962000"/>
            <a:ext cx="2923920" cy="29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テキスト ボックス 9"/>
          <p:cNvSpPr txBox="1"/>
          <p:nvPr/>
        </p:nvSpPr>
        <p:spPr>
          <a:xfrm>
            <a:off x="752400" y="1113840"/>
            <a:ext cx="70398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に依存しないクラスタの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583720" y="1856880"/>
            <a:ext cx="37774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世界へ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(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前半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)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962280" y="2814840"/>
            <a:ext cx="6740640" cy="640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35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On-Prem</a:t>
            </a:r>
            <a:r>
              <a:rPr lang="ja-JP" sz="335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から</a:t>
            </a:r>
            <a:r>
              <a:rPr lang="en-US" sz="335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lang="ja-JP" sz="335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まで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11520" y="3715560"/>
            <a:ext cx="65296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4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（⽇本ビジネスシステムズ株式会社 </a:t>
            </a:r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2984040" y="4125240"/>
            <a:ext cx="24858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MVP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710080" y="4839480"/>
            <a:ext cx="323496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HCCJP 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第</a:t>
            </a:r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67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回勉強会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987280" y="5249160"/>
            <a:ext cx="28872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</a:t>
            </a:r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⽉</a:t>
            </a:r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⽇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0589E57-7C00-13CB-EA15-B11FE6354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0" r="22469"/>
          <a:stretch>
            <a:fillRect/>
          </a:stretch>
        </p:blipFill>
        <p:spPr bwMode="auto">
          <a:xfrm>
            <a:off x="692698" y="2465767"/>
            <a:ext cx="11077492" cy="310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A08628-F7B4-4DF9-ACF0-A36079D4A800}"/>
              </a:ext>
            </a:extLst>
          </p:cNvPr>
          <p:cNvSpPr txBox="1"/>
          <p:nvPr/>
        </p:nvSpPr>
        <p:spPr>
          <a:xfrm>
            <a:off x="498453" y="919777"/>
            <a:ext cx="6195127" cy="5134072"/>
          </a:xfrm>
          <a:prstGeom prst="rect">
            <a:avLst/>
          </a:prstGeom>
          <a:noFill/>
        </p:spPr>
        <p:txBody>
          <a:bodyPr wrap="square" lIns="179285" tIns="143428" rIns="179285" bIns="143428" numCol="1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700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日本ビジネスシステムズ株式会社</a:t>
            </a:r>
            <a:b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</a:br>
            <a:r>
              <a:rPr kumimoji="1" lang="ja-JP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胡田 昌彦</a:t>
            </a: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(</a:t>
            </a:r>
            <a:r>
              <a:rPr kumimoji="1" lang="ja-JP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えびすだ まさひこ</a:t>
            </a: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)</a:t>
            </a:r>
            <a:b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</a:br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Youtube</a:t>
            </a:r>
            <a:r>
              <a:rPr kumimoji="1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 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  <a:hlinkClick r:id="rId4"/>
              </a:rPr>
              <a:t>https://youtube.com/@ebibibi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源真ゴシックP Heavy" panose="020B0702020203020207" pitchFamily="50" charset="-128"/>
              <a:ea typeface="源真ゴシックP Heavy" panose="020B0702020203020207" pitchFamily="50" charset="-128"/>
              <a:cs typeface="源真ゴシックP Heavy" panose="020B0702020203020207" pitchFamily="50" charset="-128"/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89E8CE5-A93E-40B3-9F88-55A746C02AE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4988" y="364084"/>
            <a:ext cx="9601200" cy="1111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000" dirty="0"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自己紹介</a:t>
            </a:r>
            <a:endParaRPr lang="en-US" altLang="ja-JP" sz="4000" dirty="0">
              <a:latin typeface="源真ゴシックP Heavy" panose="020B0702020203020207" pitchFamily="50" charset="-128"/>
              <a:ea typeface="源真ゴシックP Heavy" panose="020B0702020203020207" pitchFamily="50" charset="-128"/>
              <a:cs typeface="源真ゴシックP Heavy" panose="020B0702020203020207" pitchFamily="50" charset="-128"/>
            </a:endParaRPr>
          </a:p>
          <a:p>
            <a:pPr marL="0" indent="0">
              <a:buNone/>
            </a:pPr>
            <a:r>
              <a:rPr lang="ja-JP" altLang="en-US" sz="2000" dirty="0"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日本ビジネスシステムズ株式会社</a:t>
            </a:r>
            <a:endParaRPr lang="en-US" altLang="ja-JP" sz="2000" dirty="0">
              <a:latin typeface="源真ゴシックP Heavy" panose="020B0702020203020207" pitchFamily="50" charset="-128"/>
              <a:ea typeface="源真ゴシックP Heavy" panose="020B0702020203020207" pitchFamily="50" charset="-128"/>
              <a:cs typeface="源真ゴシックP Heavy" panose="020B0702020203020207" pitchFamily="50" charset="-128"/>
            </a:endParaRPr>
          </a:p>
        </p:txBody>
      </p:sp>
      <p:pic>
        <p:nvPicPr>
          <p:cNvPr id="5" name="図 4">
            <a:hlinkClick r:id="rId5"/>
            <a:extLst>
              <a:ext uri="{FF2B5EF4-FFF2-40B4-BE49-F238E27FC236}">
                <a16:creationId xmlns:a16="http://schemas.microsoft.com/office/drawing/2014/main" id="{8BB2700D-11BB-4C0D-AA01-F78F43B7F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818" y="5680803"/>
            <a:ext cx="526085" cy="677363"/>
          </a:xfrm>
          <a:prstGeom prst="rect">
            <a:avLst/>
          </a:prstGeom>
        </p:spPr>
      </p:pic>
      <p:pic>
        <p:nvPicPr>
          <p:cNvPr id="6" name="図 5" descr="ベクトル グラフィックス が含まれている画像&#10;&#10;高い精度で生成された説明">
            <a:extLst>
              <a:ext uri="{FF2B5EF4-FFF2-40B4-BE49-F238E27FC236}">
                <a16:creationId xmlns:a16="http://schemas.microsoft.com/office/drawing/2014/main" id="{C72BC92C-DE5C-40FF-8EAD-CD0651A866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579" y="5725776"/>
            <a:ext cx="632390" cy="63239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BC804E3-E24F-4775-8511-140817623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44" y="5680803"/>
            <a:ext cx="677363" cy="677363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3CE6DB8-448B-4383-BD2E-EA1352DA63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650" y="5749533"/>
            <a:ext cx="608633" cy="608633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D093E5C-1B84-46C5-A320-73A1169A7FF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926" y="5725776"/>
            <a:ext cx="632390" cy="63239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84A801-4BE4-42ED-8416-7DADDC12FB9E}"/>
              </a:ext>
            </a:extLst>
          </p:cNvPr>
          <p:cNvSpPr txBox="1"/>
          <p:nvPr/>
        </p:nvSpPr>
        <p:spPr>
          <a:xfrm>
            <a:off x="7140956" y="384768"/>
            <a:ext cx="47130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こんな方にオススメ！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源真ゴシックP Heavy" panose="020B0702020203020207" pitchFamily="50" charset="-128"/>
              <a:ea typeface="源真ゴシックP Heavy" panose="020B0702020203020207" pitchFamily="50" charset="-128"/>
              <a:cs typeface="源真ゴシックP Heavy" panose="020B0702020203020207" pitchFamily="50" charset="-128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企業の情報システム部で働く方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源真ゴシックP Heavy" panose="020B0702020203020207" pitchFamily="50" charset="-128"/>
              <a:ea typeface="源真ゴシックP Heavy" panose="020B0702020203020207" pitchFamily="50" charset="-128"/>
              <a:cs typeface="源真ゴシックP Heavy" panose="020B0702020203020207" pitchFamily="50" charset="-128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一般ユーザーだけど、コンピューターに興味があって、もっと詳しくなりたい方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Windows, Azure, M365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等の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Microsoft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関連技術に興味がある方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源真ゴシックP Heavy" panose="020B0702020203020207" pitchFamily="50" charset="-128"/>
              <a:ea typeface="源真ゴシックP Heavy" panose="020B0702020203020207" pitchFamily="50" charset="-128"/>
              <a:cs typeface="源真ゴシックP Heavy" panose="020B0702020203020207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166E51-CD7A-414C-9F8D-85CE51A12F6B}"/>
              </a:ext>
            </a:extLst>
          </p:cNvPr>
          <p:cNvSpPr txBox="1"/>
          <p:nvPr/>
        </p:nvSpPr>
        <p:spPr>
          <a:xfrm>
            <a:off x="574988" y="5749533"/>
            <a:ext cx="69323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チャンネル登録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源真ゴシックP Heavy" panose="020B0702020203020207" pitchFamily="50" charset="-128"/>
                <a:ea typeface="源真ゴシックP Heavy" panose="020B0702020203020207" pitchFamily="50" charset="-128"/>
                <a:cs typeface="源真ゴシックP Heavy" panose="020B0702020203020207" pitchFamily="50" charset="-128"/>
              </a:rPr>
              <a:t>よろしくお願いします！</a:t>
            </a:r>
          </a:p>
        </p:txBody>
      </p:sp>
      <p:pic>
        <p:nvPicPr>
          <p:cNvPr id="9" name="図 8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422DFAB8-D327-359B-51F2-F52EE3315E0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6617"/>
          <a:stretch/>
        </p:blipFill>
        <p:spPr>
          <a:xfrm>
            <a:off x="951939" y="2605799"/>
            <a:ext cx="1056155" cy="709260"/>
          </a:xfrm>
          <a:prstGeom prst="rect">
            <a:avLst/>
          </a:prstGeom>
        </p:spPr>
      </p:pic>
      <p:pic>
        <p:nvPicPr>
          <p:cNvPr id="10" name="図 9" descr="QR コード&#10;&#10;自動的に生成された説明">
            <a:extLst>
              <a:ext uri="{FF2B5EF4-FFF2-40B4-BE49-F238E27FC236}">
                <a16:creationId xmlns:a16="http://schemas.microsoft.com/office/drawing/2014/main" id="{7C8C8D20-B1CB-0A69-7F99-8BC0CB7D706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172" y="2605799"/>
            <a:ext cx="701803" cy="70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5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フリーフォーム: 図形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フリーフォーム: 図形 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フリーフォーム: 図形 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66720" y="629640"/>
            <a:ext cx="3658320" cy="68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6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前半のアジェンダ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66720" y="1562760"/>
            <a:ext cx="855756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フェールオーバークラスタの</a:t>
            </a:r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⾮依存構成の進化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52680" y="2280960"/>
            <a:ext cx="455688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1. </a:t>
            </a:r>
            <a:r>
              <a:rPr lang="ja-JP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フェールオーバークラスタの基本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652680" y="2728800"/>
            <a:ext cx="29462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2. </a:t>
            </a:r>
            <a:r>
              <a:rPr lang="ja-JP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従来の</a:t>
            </a:r>
            <a:r>
              <a:rPr lang="en-US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依存構成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652680" y="3186000"/>
            <a:ext cx="59778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3. </a:t>
            </a:r>
            <a:r>
              <a:rPr lang="en-US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 2012 R2</a:t>
            </a:r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AD-detached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52680" y="3633480"/>
            <a:ext cx="71352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4. </a:t>
            </a:r>
            <a:r>
              <a:rPr lang="en-US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 2016</a:t>
            </a:r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ワークグループクラスター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652680" y="4090680"/>
            <a:ext cx="65948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5. </a:t>
            </a:r>
            <a:r>
              <a:rPr lang="en-US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 2025</a:t>
            </a:r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Hyper-V</a:t>
            </a:r>
            <a:r>
              <a:rPr lang="ja-JP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完全サポート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52680" y="4538520"/>
            <a:ext cx="30564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6. </a:t>
            </a:r>
            <a:r>
              <a:rPr lang="en-US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の役割と代替⼿段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フリーフォーム: 図形 28"/>
          <p:cNvSpPr/>
          <p:nvPr/>
        </p:nvSpPr>
        <p:spPr>
          <a:xfrm>
            <a:off x="830520" y="5757120"/>
            <a:ext cx="34200" cy="25920"/>
          </a:xfrm>
          <a:custGeom>
            <a:avLst/>
            <a:gdLst/>
            <a:ahLst/>
            <a:cxnLst/>
            <a:rect l="0" t="0" r="r" b="b"/>
            <a:pathLst>
              <a:path w="95" h="72">
                <a:moveTo>
                  <a:pt x="0" y="0"/>
                </a:moveTo>
                <a:lnTo>
                  <a:pt x="95" y="0"/>
                </a:lnTo>
                <a:lnTo>
                  <a:pt x="95" y="72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フリーフォーム: 図形 29"/>
          <p:cNvSpPr/>
          <p:nvPr/>
        </p:nvSpPr>
        <p:spPr>
          <a:xfrm>
            <a:off x="796680" y="5723280"/>
            <a:ext cx="165600" cy="93600"/>
          </a:xfrm>
          <a:custGeom>
            <a:avLst/>
            <a:gdLst/>
            <a:ahLst/>
            <a:cxnLst/>
            <a:rect l="0" t="0" r="r" b="b"/>
            <a:pathLst>
              <a:path w="460" h="260">
                <a:moveTo>
                  <a:pt x="235" y="0"/>
                </a:moveTo>
                <a:lnTo>
                  <a:pt x="47" y="0"/>
                </a:lnTo>
                <a:cubicBezTo>
                  <a:pt x="21" y="0"/>
                  <a:pt x="0" y="21"/>
                  <a:pt x="0" y="47"/>
                </a:cubicBezTo>
                <a:cubicBezTo>
                  <a:pt x="0" y="73"/>
                  <a:pt x="21" y="94"/>
                  <a:pt x="47" y="94"/>
                </a:cubicBezTo>
                <a:lnTo>
                  <a:pt x="235" y="94"/>
                </a:lnTo>
                <a:cubicBezTo>
                  <a:pt x="261" y="94"/>
                  <a:pt x="282" y="73"/>
                  <a:pt x="282" y="47"/>
                </a:cubicBezTo>
                <a:cubicBezTo>
                  <a:pt x="282" y="21"/>
                  <a:pt x="261" y="0"/>
                  <a:pt x="235" y="0"/>
                </a:cubicBezTo>
                <a:moveTo>
                  <a:pt x="382" y="248"/>
                </a:moveTo>
                <a:lnTo>
                  <a:pt x="346" y="216"/>
                </a:lnTo>
                <a:cubicBezTo>
                  <a:pt x="327" y="199"/>
                  <a:pt x="325" y="169"/>
                  <a:pt x="342" y="150"/>
                </a:cubicBezTo>
                <a:cubicBezTo>
                  <a:pt x="359" y="130"/>
                  <a:pt x="389" y="128"/>
                  <a:pt x="408" y="145"/>
                </a:cubicBezTo>
                <a:lnTo>
                  <a:pt x="444" y="176"/>
                </a:lnTo>
                <a:cubicBezTo>
                  <a:pt x="463" y="193"/>
                  <a:pt x="465" y="223"/>
                  <a:pt x="448" y="244"/>
                </a:cubicBezTo>
                <a:cubicBezTo>
                  <a:pt x="431" y="263"/>
                  <a:pt x="401" y="265"/>
                  <a:pt x="382" y="248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フリーフォーム: 図形 30"/>
          <p:cNvSpPr/>
          <p:nvPr/>
        </p:nvSpPr>
        <p:spPr>
          <a:xfrm>
            <a:off x="754560" y="5799600"/>
            <a:ext cx="186480" cy="186480"/>
          </a:xfrm>
          <a:custGeom>
            <a:avLst/>
            <a:gdLst/>
            <a:ahLst/>
            <a:cxnLst/>
            <a:rect l="0" t="0" r="r" b="b"/>
            <a:pathLst>
              <a:path w="518" h="518">
                <a:moveTo>
                  <a:pt x="518" y="259"/>
                </a:moveTo>
                <a:cubicBezTo>
                  <a:pt x="518" y="276"/>
                  <a:pt x="516" y="293"/>
                  <a:pt x="513" y="310"/>
                </a:cubicBezTo>
                <a:cubicBezTo>
                  <a:pt x="510" y="327"/>
                  <a:pt x="505" y="343"/>
                  <a:pt x="498" y="358"/>
                </a:cubicBezTo>
                <a:cubicBezTo>
                  <a:pt x="492" y="374"/>
                  <a:pt x="484" y="389"/>
                  <a:pt x="474" y="403"/>
                </a:cubicBezTo>
                <a:cubicBezTo>
                  <a:pt x="465" y="417"/>
                  <a:pt x="454" y="430"/>
                  <a:pt x="442" y="442"/>
                </a:cubicBezTo>
                <a:cubicBezTo>
                  <a:pt x="430" y="454"/>
                  <a:pt x="417" y="465"/>
                  <a:pt x="403" y="474"/>
                </a:cubicBezTo>
                <a:cubicBezTo>
                  <a:pt x="389" y="484"/>
                  <a:pt x="374" y="492"/>
                  <a:pt x="358" y="498"/>
                </a:cubicBezTo>
                <a:cubicBezTo>
                  <a:pt x="343" y="505"/>
                  <a:pt x="326" y="510"/>
                  <a:pt x="310" y="513"/>
                </a:cubicBezTo>
                <a:cubicBezTo>
                  <a:pt x="293" y="516"/>
                  <a:pt x="276" y="518"/>
                  <a:pt x="259" y="518"/>
                </a:cubicBezTo>
                <a:cubicBezTo>
                  <a:pt x="242" y="518"/>
                  <a:pt x="224" y="516"/>
                  <a:pt x="208" y="513"/>
                </a:cubicBezTo>
                <a:cubicBezTo>
                  <a:pt x="191" y="510"/>
                  <a:pt x="175" y="505"/>
                  <a:pt x="159" y="498"/>
                </a:cubicBezTo>
                <a:cubicBezTo>
                  <a:pt x="144" y="492"/>
                  <a:pt x="129" y="484"/>
                  <a:pt x="115" y="474"/>
                </a:cubicBezTo>
                <a:cubicBezTo>
                  <a:pt x="100" y="465"/>
                  <a:pt x="87" y="454"/>
                  <a:pt x="75" y="442"/>
                </a:cubicBezTo>
                <a:cubicBezTo>
                  <a:pt x="63" y="430"/>
                  <a:pt x="53" y="417"/>
                  <a:pt x="43" y="403"/>
                </a:cubicBezTo>
                <a:cubicBezTo>
                  <a:pt x="34" y="389"/>
                  <a:pt x="26" y="374"/>
                  <a:pt x="19" y="358"/>
                </a:cubicBezTo>
                <a:cubicBezTo>
                  <a:pt x="13" y="343"/>
                  <a:pt x="8" y="327"/>
                  <a:pt x="5" y="310"/>
                </a:cubicBezTo>
                <a:cubicBezTo>
                  <a:pt x="1" y="293"/>
                  <a:pt x="0" y="276"/>
                  <a:pt x="0" y="259"/>
                </a:cubicBezTo>
                <a:cubicBezTo>
                  <a:pt x="0" y="242"/>
                  <a:pt x="1" y="226"/>
                  <a:pt x="5" y="209"/>
                </a:cubicBezTo>
                <a:cubicBezTo>
                  <a:pt x="8" y="192"/>
                  <a:pt x="13" y="175"/>
                  <a:pt x="19" y="159"/>
                </a:cubicBezTo>
                <a:cubicBezTo>
                  <a:pt x="26" y="144"/>
                  <a:pt x="34" y="129"/>
                  <a:pt x="43" y="115"/>
                </a:cubicBezTo>
                <a:cubicBezTo>
                  <a:pt x="53" y="101"/>
                  <a:pt x="63" y="87"/>
                  <a:pt x="75" y="75"/>
                </a:cubicBezTo>
                <a:cubicBezTo>
                  <a:pt x="87" y="63"/>
                  <a:pt x="100" y="53"/>
                  <a:pt x="115" y="43"/>
                </a:cubicBezTo>
                <a:cubicBezTo>
                  <a:pt x="129" y="34"/>
                  <a:pt x="144" y="26"/>
                  <a:pt x="159" y="19"/>
                </a:cubicBezTo>
                <a:cubicBezTo>
                  <a:pt x="175" y="13"/>
                  <a:pt x="191" y="8"/>
                  <a:pt x="208" y="5"/>
                </a:cubicBezTo>
                <a:cubicBezTo>
                  <a:pt x="224" y="1"/>
                  <a:pt x="242" y="0"/>
                  <a:pt x="259" y="0"/>
                </a:cubicBezTo>
                <a:cubicBezTo>
                  <a:pt x="276" y="0"/>
                  <a:pt x="293" y="1"/>
                  <a:pt x="310" y="5"/>
                </a:cubicBezTo>
                <a:cubicBezTo>
                  <a:pt x="326" y="8"/>
                  <a:pt x="343" y="13"/>
                  <a:pt x="358" y="19"/>
                </a:cubicBezTo>
                <a:cubicBezTo>
                  <a:pt x="374" y="26"/>
                  <a:pt x="389" y="34"/>
                  <a:pt x="403" y="43"/>
                </a:cubicBezTo>
                <a:cubicBezTo>
                  <a:pt x="417" y="53"/>
                  <a:pt x="430" y="63"/>
                  <a:pt x="442" y="75"/>
                </a:cubicBezTo>
                <a:cubicBezTo>
                  <a:pt x="454" y="87"/>
                  <a:pt x="465" y="101"/>
                  <a:pt x="474" y="115"/>
                </a:cubicBezTo>
                <a:cubicBezTo>
                  <a:pt x="484" y="129"/>
                  <a:pt x="492" y="144"/>
                  <a:pt x="498" y="159"/>
                </a:cubicBezTo>
                <a:cubicBezTo>
                  <a:pt x="505" y="175"/>
                  <a:pt x="510" y="192"/>
                  <a:pt x="513" y="209"/>
                </a:cubicBezTo>
                <a:cubicBezTo>
                  <a:pt x="516" y="226"/>
                  <a:pt x="518" y="242"/>
                  <a:pt x="518" y="259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フリーフォーム: 図形 31"/>
          <p:cNvSpPr/>
          <p:nvPr/>
        </p:nvSpPr>
        <p:spPr>
          <a:xfrm>
            <a:off x="729000" y="5774040"/>
            <a:ext cx="237600" cy="237600"/>
          </a:xfrm>
          <a:custGeom>
            <a:avLst/>
            <a:gdLst/>
            <a:ahLst/>
            <a:cxnLst/>
            <a:rect l="0" t="0" r="r" b="b"/>
            <a:pathLst>
              <a:path w="660" h="660">
                <a:moveTo>
                  <a:pt x="330" y="0"/>
                </a:moveTo>
                <a:cubicBezTo>
                  <a:pt x="147" y="0"/>
                  <a:pt x="0" y="149"/>
                  <a:pt x="0" y="330"/>
                </a:cubicBezTo>
                <a:cubicBezTo>
                  <a:pt x="0" y="512"/>
                  <a:pt x="147" y="660"/>
                  <a:pt x="330" y="660"/>
                </a:cubicBezTo>
                <a:cubicBezTo>
                  <a:pt x="512" y="660"/>
                  <a:pt x="660" y="512"/>
                  <a:pt x="660" y="330"/>
                </a:cubicBezTo>
                <a:cubicBezTo>
                  <a:pt x="660" y="149"/>
                  <a:pt x="512" y="0"/>
                  <a:pt x="330" y="0"/>
                </a:cubicBezTo>
                <a:moveTo>
                  <a:pt x="330" y="589"/>
                </a:moveTo>
                <a:cubicBezTo>
                  <a:pt x="187" y="589"/>
                  <a:pt x="71" y="473"/>
                  <a:pt x="71" y="330"/>
                </a:cubicBezTo>
                <a:cubicBezTo>
                  <a:pt x="71" y="188"/>
                  <a:pt x="187" y="71"/>
                  <a:pt x="330" y="71"/>
                </a:cubicBezTo>
                <a:cubicBezTo>
                  <a:pt x="473" y="71"/>
                  <a:pt x="589" y="188"/>
                  <a:pt x="589" y="330"/>
                </a:cubicBezTo>
                <a:cubicBezTo>
                  <a:pt x="589" y="473"/>
                  <a:pt x="473" y="589"/>
                  <a:pt x="330" y="589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フリーフォーム: 図形 32"/>
          <p:cNvSpPr/>
          <p:nvPr/>
        </p:nvSpPr>
        <p:spPr>
          <a:xfrm>
            <a:off x="830520" y="5884200"/>
            <a:ext cx="101880" cy="17280"/>
          </a:xfrm>
          <a:custGeom>
            <a:avLst/>
            <a:gdLst/>
            <a:ahLst/>
            <a:cxnLst/>
            <a:rect l="0" t="0" r="r" b="b"/>
            <a:pathLst>
              <a:path w="283" h="48">
                <a:moveTo>
                  <a:pt x="260" y="48"/>
                </a:moveTo>
                <a:lnTo>
                  <a:pt x="24" y="48"/>
                </a:lnTo>
                <a:cubicBezTo>
                  <a:pt x="11" y="48"/>
                  <a:pt x="0" y="37"/>
                  <a:pt x="0" y="23"/>
                </a:cubicBezTo>
                <a:cubicBezTo>
                  <a:pt x="0" y="10"/>
                  <a:pt x="11" y="0"/>
                  <a:pt x="24" y="0"/>
                </a:cubicBezTo>
                <a:lnTo>
                  <a:pt x="260" y="0"/>
                </a:lnTo>
                <a:cubicBezTo>
                  <a:pt x="273" y="0"/>
                  <a:pt x="283" y="10"/>
                  <a:pt x="283" y="23"/>
                </a:cubicBezTo>
                <a:cubicBezTo>
                  <a:pt x="283" y="37"/>
                  <a:pt x="273" y="48"/>
                  <a:pt x="260" y="4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フリーフォーム: 図形 33"/>
          <p:cNvSpPr/>
          <p:nvPr/>
        </p:nvSpPr>
        <p:spPr>
          <a:xfrm>
            <a:off x="839160" y="580788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5"/>
                </a:moveTo>
                <a:cubicBezTo>
                  <a:pt x="48" y="31"/>
                  <a:pt x="46" y="37"/>
                  <a:pt x="40" y="41"/>
                </a:cubicBezTo>
                <a:cubicBezTo>
                  <a:pt x="35" y="46"/>
                  <a:pt x="30" y="48"/>
                  <a:pt x="23" y="48"/>
                </a:cubicBezTo>
                <a:cubicBezTo>
                  <a:pt x="17" y="48"/>
                  <a:pt x="11" y="46"/>
                  <a:pt x="7" y="41"/>
                </a:cubicBezTo>
                <a:cubicBezTo>
                  <a:pt x="2" y="37"/>
                  <a:pt x="0" y="31"/>
                  <a:pt x="0" y="25"/>
                </a:cubicBezTo>
                <a:cubicBezTo>
                  <a:pt x="0" y="18"/>
                  <a:pt x="2" y="13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6" y="13"/>
                  <a:pt x="48" y="18"/>
                  <a:pt x="48" y="25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フリーフォーム: 図形 34"/>
          <p:cNvSpPr/>
          <p:nvPr/>
        </p:nvSpPr>
        <p:spPr>
          <a:xfrm>
            <a:off x="839160" y="596052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4"/>
                </a:moveTo>
                <a:cubicBezTo>
                  <a:pt x="48" y="31"/>
                  <a:pt x="46" y="36"/>
                  <a:pt x="40" y="41"/>
                </a:cubicBezTo>
                <a:cubicBezTo>
                  <a:pt x="35" y="45"/>
                  <a:pt x="30" y="48"/>
                  <a:pt x="23" y="48"/>
                </a:cubicBezTo>
                <a:cubicBezTo>
                  <a:pt x="17" y="48"/>
                  <a:pt x="11" y="45"/>
                  <a:pt x="7" y="41"/>
                </a:cubicBezTo>
                <a:cubicBezTo>
                  <a:pt x="2" y="36"/>
                  <a:pt x="0" y="31"/>
                  <a:pt x="0" y="24"/>
                </a:cubicBezTo>
                <a:cubicBezTo>
                  <a:pt x="0" y="18"/>
                  <a:pt x="2" y="12"/>
                  <a:pt x="7" y="6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6"/>
                </a:cubicBezTo>
                <a:cubicBezTo>
                  <a:pt x="46" y="12"/>
                  <a:pt x="48" y="18"/>
                  <a:pt x="48" y="2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フリーフォーム: 図形 35"/>
          <p:cNvSpPr/>
          <p:nvPr/>
        </p:nvSpPr>
        <p:spPr>
          <a:xfrm>
            <a:off x="788400" y="583344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5" y="36"/>
                  <a:pt x="40" y="41"/>
                </a:cubicBezTo>
                <a:cubicBezTo>
                  <a:pt x="35" y="45"/>
                  <a:pt x="30" y="48"/>
                  <a:pt x="23" y="48"/>
                </a:cubicBezTo>
                <a:cubicBezTo>
                  <a:pt x="17" y="48"/>
                  <a:pt x="11" y="45"/>
                  <a:pt x="7" y="41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5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フリーフォーム: 図形 36"/>
          <p:cNvSpPr/>
          <p:nvPr/>
        </p:nvSpPr>
        <p:spPr>
          <a:xfrm>
            <a:off x="889920" y="593496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6" y="37"/>
                  <a:pt x="40" y="41"/>
                </a:cubicBezTo>
                <a:cubicBezTo>
                  <a:pt x="35" y="46"/>
                  <a:pt x="30" y="48"/>
                  <a:pt x="23" y="48"/>
                </a:cubicBezTo>
                <a:cubicBezTo>
                  <a:pt x="17" y="48"/>
                  <a:pt x="11" y="46"/>
                  <a:pt x="7" y="41"/>
                </a:cubicBezTo>
                <a:cubicBezTo>
                  <a:pt x="2" y="37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6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フリーフォーム: 図形 37"/>
          <p:cNvSpPr/>
          <p:nvPr/>
        </p:nvSpPr>
        <p:spPr>
          <a:xfrm>
            <a:off x="762840" y="588420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6" y="36"/>
                  <a:pt x="41" y="41"/>
                </a:cubicBezTo>
                <a:cubicBezTo>
                  <a:pt x="37" y="46"/>
                  <a:pt x="31" y="48"/>
                  <a:pt x="25" y="48"/>
                </a:cubicBezTo>
                <a:cubicBezTo>
                  <a:pt x="17" y="48"/>
                  <a:pt x="12" y="46"/>
                  <a:pt x="7" y="41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2" y="2"/>
                  <a:pt x="17" y="0"/>
                  <a:pt x="25" y="0"/>
                </a:cubicBezTo>
                <a:cubicBezTo>
                  <a:pt x="31" y="0"/>
                  <a:pt x="37" y="2"/>
                  <a:pt x="41" y="7"/>
                </a:cubicBezTo>
                <a:cubicBezTo>
                  <a:pt x="46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フリーフォーム: 図形 38"/>
          <p:cNvSpPr/>
          <p:nvPr/>
        </p:nvSpPr>
        <p:spPr>
          <a:xfrm>
            <a:off x="889920" y="5833440"/>
            <a:ext cx="17280" cy="17280"/>
          </a:xfrm>
          <a:custGeom>
            <a:avLst/>
            <a:gdLst/>
            <a:ahLst/>
            <a:cxnLst/>
            <a:rect l="0" t="0" r="r" b="b"/>
            <a:pathLst>
              <a:path w="48" h="48">
                <a:moveTo>
                  <a:pt x="48" y="23"/>
                </a:moveTo>
                <a:cubicBezTo>
                  <a:pt x="48" y="30"/>
                  <a:pt x="46" y="36"/>
                  <a:pt x="40" y="41"/>
                </a:cubicBezTo>
                <a:cubicBezTo>
                  <a:pt x="35" y="45"/>
                  <a:pt x="30" y="48"/>
                  <a:pt x="23" y="48"/>
                </a:cubicBezTo>
                <a:cubicBezTo>
                  <a:pt x="17" y="48"/>
                  <a:pt x="11" y="45"/>
                  <a:pt x="7" y="41"/>
                </a:cubicBezTo>
                <a:cubicBezTo>
                  <a:pt x="2" y="36"/>
                  <a:pt x="0" y="30"/>
                  <a:pt x="0" y="23"/>
                </a:cubicBezTo>
                <a:cubicBezTo>
                  <a:pt x="0" y="17"/>
                  <a:pt x="2" y="11"/>
                  <a:pt x="7" y="7"/>
                </a:cubicBezTo>
                <a:cubicBezTo>
                  <a:pt x="11" y="2"/>
                  <a:pt x="17" y="0"/>
                  <a:pt x="23" y="0"/>
                </a:cubicBezTo>
                <a:cubicBezTo>
                  <a:pt x="30" y="0"/>
                  <a:pt x="35" y="2"/>
                  <a:pt x="40" y="7"/>
                </a:cubicBezTo>
                <a:cubicBezTo>
                  <a:pt x="46" y="11"/>
                  <a:pt x="48" y="17"/>
                  <a:pt x="48" y="23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フリーフォーム: 図形 39"/>
          <p:cNvSpPr/>
          <p:nvPr/>
        </p:nvSpPr>
        <p:spPr>
          <a:xfrm>
            <a:off x="788400" y="5875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8" y="206"/>
                </a:moveTo>
                <a:cubicBezTo>
                  <a:pt x="-2" y="197"/>
                  <a:pt x="-2" y="182"/>
                  <a:pt x="8" y="173"/>
                </a:cubicBezTo>
                <a:lnTo>
                  <a:pt x="173" y="7"/>
                </a:lnTo>
                <a:cubicBezTo>
                  <a:pt x="182" y="-2"/>
                  <a:pt x="197" y="-2"/>
                  <a:pt x="206" y="7"/>
                </a:cubicBezTo>
                <a:cubicBezTo>
                  <a:pt x="216" y="16"/>
                  <a:pt x="216" y="31"/>
                  <a:pt x="206" y="41"/>
                </a:cubicBezTo>
                <a:lnTo>
                  <a:pt x="42" y="206"/>
                </a:lnTo>
                <a:cubicBezTo>
                  <a:pt x="37" y="211"/>
                  <a:pt x="31" y="213"/>
                  <a:pt x="24" y="213"/>
                </a:cubicBezTo>
                <a:cubicBezTo>
                  <a:pt x="18" y="213"/>
                  <a:pt x="12" y="211"/>
                  <a:pt x="8" y="206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652680" y="4995720"/>
            <a:ext cx="20880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7. </a:t>
            </a:r>
            <a:r>
              <a:rPr lang="ja-JP" sz="216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まとめと展望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1017000" y="5668200"/>
            <a:ext cx="12754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約20</a:t>
            </a:r>
            <a:r>
              <a:rPr lang="ja-JP" sz="24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フリーフォーム: 図形 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フリーフォーム: 図形 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フリーフォーム: 図形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666720" y="639720"/>
            <a:ext cx="482436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フェールオーバークラスタの基本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フリーフォーム: 図形 47"/>
          <p:cNvSpPr/>
          <p:nvPr/>
        </p:nvSpPr>
        <p:spPr>
          <a:xfrm>
            <a:off x="828360" y="19620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666720" y="1206720"/>
            <a:ext cx="32742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⾼可⽤性を実現する仕組み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フリーフォーム: 図形 49"/>
          <p:cNvSpPr/>
          <p:nvPr/>
        </p:nvSpPr>
        <p:spPr>
          <a:xfrm>
            <a:off x="828360" y="2323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1047600" y="1840320"/>
            <a:ext cx="42282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複数のノード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を連携させてサービスを提供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フリーフォーム: 図形 51"/>
          <p:cNvSpPr/>
          <p:nvPr/>
        </p:nvSpPr>
        <p:spPr>
          <a:xfrm>
            <a:off x="828360" y="26953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1047600" y="2202120"/>
            <a:ext cx="46731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障害時に</a:t>
            </a:r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⾃動フェールオーバー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でサービス継続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フリーフォーム: 図形 53"/>
          <p:cNvSpPr/>
          <p:nvPr/>
        </p:nvSpPr>
        <p:spPr>
          <a:xfrm>
            <a:off x="828360" y="3057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1047600" y="2573640"/>
            <a:ext cx="31158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ハートビート監視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で問題を検知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1047600" y="2935440"/>
            <a:ext cx="42282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サーバー障害時もサービス停⽌を最⼩限に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フリーフォーム: 図形 56"/>
          <p:cNvSpPr/>
          <p:nvPr/>
        </p:nvSpPr>
        <p:spPr>
          <a:xfrm>
            <a:off x="828360" y="4228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666720" y="3473640"/>
            <a:ext cx="1637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代表的な⽤途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フリーフォーム: 図形 58"/>
          <p:cNvSpPr/>
          <p:nvPr/>
        </p:nvSpPr>
        <p:spPr>
          <a:xfrm>
            <a:off x="828360" y="4590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1047600" y="4107240"/>
            <a:ext cx="31892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仮想マシンの⾼可⽤性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フリーフォーム: 図形 60"/>
          <p:cNvSpPr/>
          <p:nvPr/>
        </p:nvSpPr>
        <p:spPr>
          <a:xfrm>
            <a:off x="828360" y="4962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1047600" y="4469040"/>
            <a:ext cx="36374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(FCI / Always On AG)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1047600" y="4840560"/>
            <a:ext cx="1780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F04BE82A-D1D7-3E2D-7552-2AA59D4D5FBE}"/>
                  </a:ext>
                </a:extLst>
              </p14:cNvPr>
              <p14:cNvContentPartPr/>
              <p14:nvPr/>
            </p14:nvContentPartPr>
            <p14:xfrm>
              <a:off x="6582651" y="589097"/>
              <a:ext cx="360" cy="36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F04BE82A-D1D7-3E2D-7552-2AA59D4D5F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76531" y="58297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フリーフォーム: 図形 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フリーフォーム: 図形 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666720" y="639720"/>
            <a:ext cx="293688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従来の</a:t>
            </a:r>
            <a:r>
              <a:rPr lang="en-US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依存構成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666720" y="1206720"/>
            <a:ext cx="45741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Active Directory</a:t>
            </a:r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が前提だった時代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フリーフォーム: 図形 69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66720" y="1711440"/>
            <a:ext cx="3500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が担っていた重要な役割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フリーフォーム: 図形 71"/>
          <p:cNvSpPr/>
          <p:nvPr/>
        </p:nvSpPr>
        <p:spPr>
          <a:xfrm>
            <a:off x="828360" y="31946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1047600" y="2335320"/>
            <a:ext cx="5019003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クラスター名</a:t>
            </a:r>
            <a:r>
              <a:rPr lang="ja-JP" alt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オブジェクト</a:t>
            </a:r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(CNO) 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</a:t>
            </a:r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上で管理</a:t>
            </a:r>
            <a:endParaRPr lang="en-US" altLang="ja-JP" sz="1750" b="0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</p:txBody>
      </p:sp>
      <p:sp>
        <p:nvSpPr>
          <p:cNvPr id="74" name="フリーフォーム: 図形 73"/>
          <p:cNvSpPr/>
          <p:nvPr/>
        </p:nvSpPr>
        <p:spPr>
          <a:xfrm>
            <a:off x="828360" y="35658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1047600" y="3072600"/>
            <a:ext cx="43862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ノード間認証</a:t>
            </a:r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Kerberos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認証で安全な通信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フリーフォーム: 図形 75"/>
          <p:cNvSpPr/>
          <p:nvPr/>
        </p:nvSpPr>
        <p:spPr>
          <a:xfrm>
            <a:off x="828360" y="3927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1047600" y="3444120"/>
            <a:ext cx="3930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連携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動的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更新で名前解決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フリーフォーム: 図形 77"/>
          <p:cNvSpPr/>
          <p:nvPr/>
        </p:nvSpPr>
        <p:spPr>
          <a:xfrm>
            <a:off x="828360" y="4299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1047600" y="3806280"/>
            <a:ext cx="4532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権限管理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ドメイングループでアクセス制御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1047600" y="4177800"/>
            <a:ext cx="36615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管理の容易性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GPO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による統⼀設定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666720" y="4722840"/>
            <a:ext cx="581220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9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問題点</a:t>
            </a:r>
            <a:r>
              <a:rPr lang="en-US" sz="19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9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⼩規模環境やエッジでは</a:t>
            </a:r>
            <a:r>
              <a:rPr lang="en-US" sz="19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9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構築が負担に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405DC3AD-C388-7F48-2722-4FE12E88474D}"/>
              </a:ext>
            </a:extLst>
          </p:cNvPr>
          <p:cNvSpPr/>
          <p:nvPr/>
        </p:nvSpPr>
        <p:spPr>
          <a:xfrm>
            <a:off x="828360" y="2812308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7C948E-49F3-0BB4-031E-F60DBD049D4F}"/>
              </a:ext>
            </a:extLst>
          </p:cNvPr>
          <p:cNvSpPr txBox="1"/>
          <p:nvPr/>
        </p:nvSpPr>
        <p:spPr>
          <a:xfrm>
            <a:off x="1047600" y="2690268"/>
            <a:ext cx="6412718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CNO</a:t>
            </a:r>
            <a:r>
              <a:rPr lang="ja-JP" alt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が仮想コンピューターオブジェクト</a:t>
            </a:r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(VCO) 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</a:t>
            </a:r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上で</a:t>
            </a:r>
            <a:r>
              <a:rPr lang="ja-JP" altLang="en-US" sz="1750" dirty="0">
                <a:solidFill>
                  <a:srgbClr val="455A64"/>
                </a:solidFill>
                <a:latin typeface="Meiryo"/>
                <a:ea typeface="Meiryo"/>
              </a:rPr>
              <a:t>作成</a:t>
            </a:r>
            <a:endParaRPr lang="en-US" altLang="ja-JP" sz="1750" b="0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フリーフォーム: 図形 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フリーフォーム: 図形 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フリーフォーム: 図形 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66720" y="639720"/>
            <a:ext cx="674604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3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2012 R2: AD-detached</a:t>
            </a:r>
            <a:endParaRPr lang="en-US" sz="2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テキスト ボックス 86"/>
          <p:cNvSpPr txBox="1"/>
          <p:nvPr/>
        </p:nvSpPr>
        <p:spPr>
          <a:xfrm>
            <a:off x="666720" y="1206720"/>
            <a:ext cx="35823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初めての</a:t>
            </a:r>
            <a:r>
              <a:rPr lang="en-US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⾮依存への試み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フリーフォーム: 図形 87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テキスト ボックス 88"/>
          <p:cNvSpPr txBox="1"/>
          <p:nvPr/>
        </p:nvSpPr>
        <p:spPr>
          <a:xfrm>
            <a:off x="666720" y="1711440"/>
            <a:ext cx="10918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主な特徴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フリーフォーム: 図形 89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1047600" y="2335320"/>
            <a:ext cx="5971186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クラスター名</a:t>
            </a:r>
            <a:r>
              <a:rPr lang="ja-JP" alt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オブジェクト</a:t>
            </a:r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(CNO)</a:t>
            </a:r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を作成しない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構成が可能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フリーフォーム: 図形 91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1047600" y="2706840"/>
            <a:ext cx="5640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New-Cluster -AdministrativeAccessPoint Dns 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で構成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1047600" y="3078360"/>
            <a:ext cx="3395160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名だけで管理するクラスター</a:t>
            </a:r>
            <a:endParaRPr lang="en-US" altLang="ja-JP" sz="1750" b="0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</p:txBody>
      </p:sp>
      <p:sp>
        <p:nvSpPr>
          <p:cNvPr id="95" name="フリーフォーム: 図形 94"/>
          <p:cNvSpPr/>
          <p:nvPr/>
        </p:nvSpPr>
        <p:spPr>
          <a:xfrm>
            <a:off x="828360" y="507439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フリーフォーム: 図形 95"/>
          <p:cNvSpPr/>
          <p:nvPr/>
        </p:nvSpPr>
        <p:spPr>
          <a:xfrm>
            <a:off x="1066680" y="4988710"/>
            <a:ext cx="228960" cy="219600"/>
          </a:xfrm>
          <a:custGeom>
            <a:avLst/>
            <a:gdLst/>
            <a:ahLst/>
            <a:cxnLst/>
            <a:rect l="0" t="0" r="r" b="b"/>
            <a:pathLst>
              <a:path w="636" h="610">
                <a:moveTo>
                  <a:pt x="636" y="541"/>
                </a:moveTo>
                <a:cubicBezTo>
                  <a:pt x="636" y="579"/>
                  <a:pt x="604" y="610"/>
                  <a:pt x="565" y="610"/>
                </a:cubicBezTo>
                <a:lnTo>
                  <a:pt x="70" y="610"/>
                </a:lnTo>
                <a:cubicBezTo>
                  <a:pt x="31" y="610"/>
                  <a:pt x="0" y="579"/>
                  <a:pt x="0" y="541"/>
                </a:cubicBezTo>
                <a:lnTo>
                  <a:pt x="0" y="68"/>
                </a:lnTo>
                <a:cubicBezTo>
                  <a:pt x="0" y="31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1"/>
                  <a:pt x="636" y="68"/>
                </a:cubicBezTo>
                <a:lnTo>
                  <a:pt x="636" y="54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フリーフォーム: 図形 96"/>
          <p:cNvSpPr/>
          <p:nvPr/>
        </p:nvSpPr>
        <p:spPr>
          <a:xfrm>
            <a:off x="1103040" y="5025070"/>
            <a:ext cx="157320" cy="147960"/>
          </a:xfrm>
          <a:custGeom>
            <a:avLst/>
            <a:gdLst/>
            <a:ahLst/>
            <a:cxnLst/>
            <a:rect l="0" t="0" r="r" b="b"/>
            <a:pathLst>
              <a:path w="437" h="411">
                <a:moveTo>
                  <a:pt x="416" y="7"/>
                </a:moveTo>
                <a:cubicBezTo>
                  <a:pt x="396" y="-6"/>
                  <a:pt x="369" y="0"/>
                  <a:pt x="355" y="19"/>
                </a:cubicBezTo>
                <a:lnTo>
                  <a:pt x="162" y="304"/>
                </a:lnTo>
                <a:lnTo>
                  <a:pt x="74" y="225"/>
                </a:lnTo>
                <a:cubicBezTo>
                  <a:pt x="56" y="209"/>
                  <a:pt x="28" y="211"/>
                  <a:pt x="11" y="228"/>
                </a:cubicBezTo>
                <a:cubicBezTo>
                  <a:pt x="-5" y="245"/>
                  <a:pt x="-4" y="272"/>
                  <a:pt x="14" y="287"/>
                </a:cubicBezTo>
                <a:lnTo>
                  <a:pt x="141" y="400"/>
                </a:lnTo>
                <a:cubicBezTo>
                  <a:pt x="149" y="408"/>
                  <a:pt x="160" y="411"/>
                  <a:pt x="171" y="411"/>
                </a:cubicBezTo>
                <a:cubicBezTo>
                  <a:pt x="183" y="411"/>
                  <a:pt x="198" y="407"/>
                  <a:pt x="209" y="392"/>
                </a:cubicBezTo>
                <a:cubicBezTo>
                  <a:pt x="215" y="383"/>
                  <a:pt x="429" y="65"/>
                  <a:pt x="429" y="65"/>
                </a:cubicBezTo>
                <a:cubicBezTo>
                  <a:pt x="443" y="46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666720" y="4319110"/>
            <a:ext cx="5464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制約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フリーフォーム: 図形 98"/>
          <p:cNvSpPr/>
          <p:nvPr/>
        </p:nvSpPr>
        <p:spPr>
          <a:xfrm>
            <a:off x="828360" y="543655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フリーフォーム: 図形 99"/>
          <p:cNvSpPr/>
          <p:nvPr/>
        </p:nvSpPr>
        <p:spPr>
          <a:xfrm>
            <a:off x="1066680" y="535087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565"/>
                </a:moveTo>
                <a:cubicBezTo>
                  <a:pt x="636" y="604"/>
                  <a:pt x="604" y="636"/>
                  <a:pt x="565" y="636"/>
                </a:cubicBezTo>
                <a:lnTo>
                  <a:pt x="70" y="636"/>
                </a:lnTo>
                <a:cubicBezTo>
                  <a:pt x="31" y="636"/>
                  <a:pt x="0" y="604"/>
                  <a:pt x="0" y="565"/>
                </a:cubicBezTo>
                <a:lnTo>
                  <a:pt x="0" y="70"/>
                </a:lnTo>
                <a:cubicBezTo>
                  <a:pt x="0" y="31"/>
                  <a:pt x="31" y="0"/>
                  <a:pt x="70" y="0"/>
                </a:cubicBezTo>
                <a:lnTo>
                  <a:pt x="565" y="0"/>
                </a:lnTo>
                <a:cubicBezTo>
                  <a:pt x="604" y="0"/>
                  <a:pt x="636" y="31"/>
                  <a:pt x="636" y="70"/>
                </a:cubicBezTo>
                <a:lnTo>
                  <a:pt x="636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フリーフォーム: 図形 100"/>
          <p:cNvSpPr/>
          <p:nvPr/>
        </p:nvSpPr>
        <p:spPr>
          <a:xfrm>
            <a:off x="1103040" y="5388670"/>
            <a:ext cx="157320" cy="154440"/>
          </a:xfrm>
          <a:custGeom>
            <a:avLst/>
            <a:gdLst/>
            <a:ahLst/>
            <a:cxnLst/>
            <a:rect l="0" t="0" r="r" b="b"/>
            <a:pathLst>
              <a:path w="437" h="429">
                <a:moveTo>
                  <a:pt x="416" y="7"/>
                </a:moveTo>
                <a:cubicBezTo>
                  <a:pt x="396" y="-6"/>
                  <a:pt x="369" y="-1"/>
                  <a:pt x="355" y="20"/>
                </a:cubicBezTo>
                <a:lnTo>
                  <a:pt x="162" y="317"/>
                </a:lnTo>
                <a:lnTo>
                  <a:pt x="74" y="235"/>
                </a:lnTo>
                <a:cubicBezTo>
                  <a:pt x="56" y="218"/>
                  <a:pt x="28" y="219"/>
                  <a:pt x="11" y="237"/>
                </a:cubicBezTo>
                <a:cubicBezTo>
                  <a:pt x="-5" y="255"/>
                  <a:pt x="-4" y="283"/>
                  <a:pt x="14" y="300"/>
                </a:cubicBezTo>
                <a:lnTo>
                  <a:pt x="141" y="417"/>
                </a:lnTo>
                <a:cubicBezTo>
                  <a:pt x="149" y="425"/>
                  <a:pt x="160" y="429"/>
                  <a:pt x="171" y="429"/>
                </a:cubicBezTo>
                <a:cubicBezTo>
                  <a:pt x="183" y="429"/>
                  <a:pt x="198" y="424"/>
                  <a:pt x="209" y="409"/>
                </a:cubicBezTo>
                <a:cubicBezTo>
                  <a:pt x="215" y="400"/>
                  <a:pt x="429" y="69"/>
                  <a:pt x="429" y="69"/>
                </a:cubicBezTo>
                <a:cubicBezTo>
                  <a:pt x="443" y="47"/>
                  <a:pt x="437" y="20"/>
                  <a:pt x="416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テキスト ボックス 101"/>
          <p:cNvSpPr txBox="1"/>
          <p:nvPr/>
        </p:nvSpPr>
        <p:spPr>
          <a:xfrm>
            <a:off x="1303560" y="4952710"/>
            <a:ext cx="4461158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1750" b="0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ノードは依然として</a:t>
            </a:r>
            <a:r>
              <a:rPr lang="en-US" sz="1750" b="1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ドメイン参加が必要</a:t>
            </a:r>
            <a:endParaRPr lang="en-US" sz="175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フリーフォーム: 図形 102"/>
          <p:cNvSpPr/>
          <p:nvPr/>
        </p:nvSpPr>
        <p:spPr>
          <a:xfrm>
            <a:off x="828360" y="580807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フリーフォーム: 図形 103"/>
          <p:cNvSpPr/>
          <p:nvPr/>
        </p:nvSpPr>
        <p:spPr>
          <a:xfrm>
            <a:off x="1076040" y="5731390"/>
            <a:ext cx="210240" cy="201240"/>
          </a:xfrm>
          <a:custGeom>
            <a:avLst/>
            <a:gdLst/>
            <a:ahLst/>
            <a:cxnLst/>
            <a:rect l="0" t="0" r="r" b="b"/>
            <a:pathLst>
              <a:path w="584" h="559">
                <a:moveTo>
                  <a:pt x="356" y="279"/>
                </a:moveTo>
                <a:lnTo>
                  <a:pt x="571" y="72"/>
                </a:lnTo>
                <a:cubicBezTo>
                  <a:pt x="589" y="56"/>
                  <a:pt x="589" y="29"/>
                  <a:pt x="571" y="12"/>
                </a:cubicBezTo>
                <a:cubicBezTo>
                  <a:pt x="554" y="-4"/>
                  <a:pt x="526" y="-4"/>
                  <a:pt x="509" y="12"/>
                </a:cubicBezTo>
                <a:lnTo>
                  <a:pt x="293" y="219"/>
                </a:lnTo>
                <a:lnTo>
                  <a:pt x="77" y="12"/>
                </a:lnTo>
                <a:cubicBezTo>
                  <a:pt x="59" y="-4"/>
                  <a:pt x="31" y="-4"/>
                  <a:pt x="14" y="12"/>
                </a:cubicBezTo>
                <a:cubicBezTo>
                  <a:pt x="-3" y="29"/>
                  <a:pt x="-3" y="56"/>
                  <a:pt x="14" y="72"/>
                </a:cubicBezTo>
                <a:lnTo>
                  <a:pt x="231" y="279"/>
                </a:lnTo>
                <a:lnTo>
                  <a:pt x="14" y="487"/>
                </a:lnTo>
                <a:cubicBezTo>
                  <a:pt x="-4" y="504"/>
                  <a:pt x="-4" y="530"/>
                  <a:pt x="14" y="547"/>
                </a:cubicBezTo>
                <a:cubicBezTo>
                  <a:pt x="22" y="555"/>
                  <a:pt x="34" y="559"/>
                  <a:pt x="45" y="559"/>
                </a:cubicBezTo>
                <a:cubicBezTo>
                  <a:pt x="56" y="559"/>
                  <a:pt x="67" y="555"/>
                  <a:pt x="76" y="547"/>
                </a:cubicBezTo>
                <a:lnTo>
                  <a:pt x="293" y="340"/>
                </a:lnTo>
                <a:lnTo>
                  <a:pt x="509" y="546"/>
                </a:lnTo>
                <a:cubicBezTo>
                  <a:pt x="518" y="555"/>
                  <a:pt x="529" y="559"/>
                  <a:pt x="540" y="559"/>
                </a:cubicBezTo>
                <a:cubicBezTo>
                  <a:pt x="552" y="559"/>
                  <a:pt x="563" y="555"/>
                  <a:pt x="571" y="546"/>
                </a:cubicBezTo>
                <a:cubicBezTo>
                  <a:pt x="589" y="530"/>
                  <a:pt x="589" y="503"/>
                  <a:pt x="571" y="487"/>
                </a:cubicBezTo>
                <a:lnTo>
                  <a:pt x="356" y="279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1303560" y="5314870"/>
            <a:ext cx="5236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主に</a:t>
            </a:r>
            <a:r>
              <a:rPr lang="en-US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Always On AG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向けにサポート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テキスト ボックス 105"/>
          <p:cNvSpPr txBox="1"/>
          <p:nvPr/>
        </p:nvSpPr>
        <p:spPr>
          <a:xfrm>
            <a:off x="1303560" y="5686030"/>
            <a:ext cx="9747668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Hyper-V</a:t>
            </a:r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やファイルサーバーは⾮推奨</a:t>
            </a:r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　→　</a:t>
            </a:r>
            <a:r>
              <a:rPr lang="en-US" alt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SMB / </a:t>
            </a:r>
            <a:r>
              <a:rPr lang="en-US" altLang="ja-JP" sz="1750" b="0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LiveMigration</a:t>
            </a:r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で</a:t>
            </a:r>
            <a:r>
              <a:rPr lang="en-US" alt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が使えないから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テキスト ボックス 106"/>
          <p:cNvSpPr txBox="1"/>
          <p:nvPr/>
        </p:nvSpPr>
        <p:spPr>
          <a:xfrm>
            <a:off x="666720" y="6240790"/>
            <a:ext cx="406692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9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位置づけ</a:t>
            </a:r>
            <a:r>
              <a:rPr lang="en-US" sz="19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9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限定的だが重要な第⼀歩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フリーフォーム: 図形 73">
            <a:extLst>
              <a:ext uri="{FF2B5EF4-FFF2-40B4-BE49-F238E27FC236}">
                <a16:creationId xmlns:a16="http://schemas.microsoft.com/office/drawing/2014/main" id="{802068F9-CE08-6046-6669-4C55CC393911}"/>
              </a:ext>
            </a:extLst>
          </p:cNvPr>
          <p:cNvSpPr/>
          <p:nvPr/>
        </p:nvSpPr>
        <p:spPr>
          <a:xfrm>
            <a:off x="828360" y="3563098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61B32E83-A386-0F14-75BF-8411B0DF2A98}"/>
              </a:ext>
            </a:extLst>
          </p:cNvPr>
          <p:cNvSpPr txBox="1"/>
          <p:nvPr/>
        </p:nvSpPr>
        <p:spPr>
          <a:xfrm>
            <a:off x="1047600" y="3441418"/>
            <a:ext cx="3141822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ノード間通信 → </a:t>
            </a:r>
            <a:r>
              <a:rPr lang="en-US" alt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</a:t>
            </a:r>
            <a:endParaRPr lang="en-US" altLang="ja-JP" sz="1750" b="0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</p:txBody>
      </p:sp>
      <p:sp>
        <p:nvSpPr>
          <p:cNvPr id="76" name="フリーフォーム: 図形 75">
            <a:extLst>
              <a:ext uri="{FF2B5EF4-FFF2-40B4-BE49-F238E27FC236}">
                <a16:creationId xmlns:a16="http://schemas.microsoft.com/office/drawing/2014/main" id="{04956070-AAE6-1786-5542-647704D5BF6C}"/>
              </a:ext>
            </a:extLst>
          </p:cNvPr>
          <p:cNvSpPr/>
          <p:nvPr/>
        </p:nvSpPr>
        <p:spPr>
          <a:xfrm>
            <a:off x="828360" y="3976151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A4FF510F-5FCA-7247-22DC-3A13C36DF939}"/>
              </a:ext>
            </a:extLst>
          </p:cNvPr>
          <p:cNvSpPr txBox="1"/>
          <p:nvPr/>
        </p:nvSpPr>
        <p:spPr>
          <a:xfrm>
            <a:off x="1047600" y="3854471"/>
            <a:ext cx="5262659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クラスタ名に対するクライアント認証 → </a:t>
            </a:r>
            <a:r>
              <a:rPr lang="en-US" alt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</a:t>
            </a:r>
            <a:endParaRPr lang="en-US" altLang="ja-JP" sz="1750" b="0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フリーフォーム: 図形 1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フリーフォーム: 図形 1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フリーフォーム: 図形 1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テキスト ボックス 111"/>
          <p:cNvSpPr txBox="1"/>
          <p:nvPr/>
        </p:nvSpPr>
        <p:spPr>
          <a:xfrm>
            <a:off x="666720" y="639720"/>
            <a:ext cx="857520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2016: </a:t>
            </a:r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ワークグループクラスター登場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テキスト ボックス 112"/>
          <p:cNvSpPr txBox="1"/>
          <p:nvPr/>
        </p:nvSpPr>
        <p:spPr>
          <a:xfrm>
            <a:off x="666720" y="1206720"/>
            <a:ext cx="35827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真の</a:t>
            </a:r>
            <a:r>
              <a:rPr lang="en-US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⾮依存クラスターへ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フリーフォーム: 図形 113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666720" y="1711440"/>
            <a:ext cx="1637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画期的な進化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フリーフォーム: 図形 115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1047600" y="2335320"/>
            <a:ext cx="53409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ドメイン⾮参加ノード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だけでクラスター構成が可能に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テキスト ボックス 117"/>
          <p:cNvSpPr txBox="1"/>
          <p:nvPr/>
        </p:nvSpPr>
        <p:spPr>
          <a:xfrm>
            <a:off x="1047600" y="2706840"/>
            <a:ext cx="7380225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ワークグループ環境でも⾼可⽤性を実現</a:t>
            </a:r>
            <a:r>
              <a:rPr lang="en-US" alt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(※</a:t>
            </a:r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マルチドメイン構成も可能</a:t>
            </a:r>
            <a:r>
              <a:rPr lang="en-US" alt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フリーフォーム: 図形 118"/>
          <p:cNvSpPr/>
          <p:nvPr/>
        </p:nvSpPr>
        <p:spPr>
          <a:xfrm>
            <a:off x="828360" y="3990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666720" y="3245040"/>
            <a:ext cx="10918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主な要件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フリーフォーム: 図形 120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1047600" y="3868920"/>
            <a:ext cx="5989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ノード間認証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同⼀のローカル管理者アカウント 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+ NTLM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フリーフォーム: 図形 122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テキスト ボックス 123"/>
          <p:cNvSpPr txBox="1"/>
          <p:nvPr/>
        </p:nvSpPr>
        <p:spPr>
          <a:xfrm>
            <a:off x="1047600" y="4240440"/>
            <a:ext cx="34146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⼿動でクラスター名を登録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フリーフォーム: 図形 124"/>
          <p:cNvSpPr/>
          <p:nvPr/>
        </p:nvSpPr>
        <p:spPr>
          <a:xfrm>
            <a:off x="1228680" y="5076720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3" y="117"/>
                  <a:pt x="179" y="129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6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1047600" y="4602600"/>
            <a:ext cx="5224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クォーラム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Cloud Witness 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または 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Disk Witness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テキスト ボックス 126"/>
          <p:cNvSpPr txBox="1"/>
          <p:nvPr/>
        </p:nvSpPr>
        <p:spPr>
          <a:xfrm>
            <a:off x="1428840" y="4959360"/>
            <a:ext cx="330480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ファイル共有</a:t>
            </a:r>
            <a:r>
              <a:rPr lang="en-US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Witness</a:t>
            </a:r>
            <a:r>
              <a:rPr lang="ja-JP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は⾮サポート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フリーフォーム: 図形 1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テキスト ボックス 131"/>
          <p:cNvSpPr txBox="1"/>
          <p:nvPr/>
        </p:nvSpPr>
        <p:spPr>
          <a:xfrm>
            <a:off x="666720" y="638280"/>
            <a:ext cx="37551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7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2016</a:t>
            </a:r>
            <a:r>
              <a:rPr lang="ja-JP" sz="197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の制約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フリーフォーム: 図形 132"/>
          <p:cNvSpPr/>
          <p:nvPr/>
        </p:nvSpPr>
        <p:spPr>
          <a:xfrm>
            <a:off x="685440" y="1523880"/>
            <a:ext cx="238680" cy="228960"/>
          </a:xfrm>
          <a:custGeom>
            <a:avLst/>
            <a:gdLst/>
            <a:ahLst/>
            <a:cxnLst/>
            <a:rect l="0" t="0" r="r" b="b"/>
            <a:pathLst>
              <a:path w="663" h="636">
                <a:moveTo>
                  <a:pt x="663" y="565"/>
                </a:moveTo>
                <a:cubicBezTo>
                  <a:pt x="663" y="604"/>
                  <a:pt x="630" y="636"/>
                  <a:pt x="589" y="636"/>
                </a:cubicBezTo>
                <a:lnTo>
                  <a:pt x="74" y="636"/>
                </a:lnTo>
                <a:cubicBezTo>
                  <a:pt x="33" y="636"/>
                  <a:pt x="0" y="604"/>
                  <a:pt x="0" y="565"/>
                </a:cubicBezTo>
                <a:lnTo>
                  <a:pt x="0" y="70"/>
                </a:lnTo>
                <a:cubicBezTo>
                  <a:pt x="0" y="31"/>
                  <a:pt x="33" y="0"/>
                  <a:pt x="74" y="0"/>
                </a:cubicBezTo>
                <a:lnTo>
                  <a:pt x="589" y="0"/>
                </a:lnTo>
                <a:cubicBezTo>
                  <a:pt x="630" y="0"/>
                  <a:pt x="663" y="31"/>
                  <a:pt x="663" y="70"/>
                </a:cubicBezTo>
                <a:lnTo>
                  <a:pt x="663" y="56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フリーフォーム: 図形 133"/>
          <p:cNvSpPr/>
          <p:nvPr/>
        </p:nvSpPr>
        <p:spPr>
          <a:xfrm>
            <a:off x="723240" y="1561680"/>
            <a:ext cx="163800" cy="154440"/>
          </a:xfrm>
          <a:custGeom>
            <a:avLst/>
            <a:gdLst/>
            <a:ahLst/>
            <a:cxnLst/>
            <a:rect l="0" t="0" r="r" b="b"/>
            <a:pathLst>
              <a:path w="455" h="429">
                <a:moveTo>
                  <a:pt x="434" y="7"/>
                </a:moveTo>
                <a:cubicBezTo>
                  <a:pt x="413" y="-6"/>
                  <a:pt x="385" y="0"/>
                  <a:pt x="371" y="20"/>
                </a:cubicBezTo>
                <a:lnTo>
                  <a:pt x="171" y="317"/>
                </a:lnTo>
                <a:lnTo>
                  <a:pt x="79" y="235"/>
                </a:lnTo>
                <a:cubicBezTo>
                  <a:pt x="60" y="218"/>
                  <a:pt x="31" y="220"/>
                  <a:pt x="13" y="237"/>
                </a:cubicBezTo>
                <a:cubicBezTo>
                  <a:pt x="-5" y="255"/>
                  <a:pt x="-3" y="283"/>
                  <a:pt x="15" y="300"/>
                </a:cubicBezTo>
                <a:lnTo>
                  <a:pt x="149" y="417"/>
                </a:lnTo>
                <a:cubicBezTo>
                  <a:pt x="157" y="425"/>
                  <a:pt x="169" y="429"/>
                  <a:pt x="180" y="429"/>
                </a:cubicBezTo>
                <a:cubicBezTo>
                  <a:pt x="192" y="429"/>
                  <a:pt x="208" y="424"/>
                  <a:pt x="218" y="409"/>
                </a:cubicBezTo>
                <a:cubicBezTo>
                  <a:pt x="224" y="400"/>
                  <a:pt x="448" y="68"/>
                  <a:pt x="448" y="68"/>
                </a:cubicBezTo>
                <a:cubicBezTo>
                  <a:pt x="462" y="48"/>
                  <a:pt x="456" y="20"/>
                  <a:pt x="434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テキスト ボックス 134"/>
          <p:cNvSpPr txBox="1"/>
          <p:nvPr/>
        </p:nvSpPr>
        <p:spPr>
          <a:xfrm>
            <a:off x="666720" y="1092240"/>
            <a:ext cx="208872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6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サポート範囲が限定的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フリーフォーム: 図形 135"/>
          <p:cNvSpPr/>
          <p:nvPr/>
        </p:nvSpPr>
        <p:spPr>
          <a:xfrm>
            <a:off x="847440" y="2104920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8" y="149"/>
                  <a:pt x="159" y="158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テキスト ボックス 136"/>
          <p:cNvSpPr txBox="1"/>
          <p:nvPr/>
        </p:nvSpPr>
        <p:spPr>
          <a:xfrm>
            <a:off x="931680" y="1479600"/>
            <a:ext cx="30686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1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サポートされるワークロード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フリーフォーム: 図形 137"/>
          <p:cNvSpPr/>
          <p:nvPr/>
        </p:nvSpPr>
        <p:spPr>
          <a:xfrm>
            <a:off x="1247760" y="240012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テキスト ボックス 138"/>
          <p:cNvSpPr txBox="1"/>
          <p:nvPr/>
        </p:nvSpPr>
        <p:spPr>
          <a:xfrm>
            <a:off x="1047600" y="2014200"/>
            <a:ext cx="41515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Always On </a:t>
            </a:r>
            <a:r>
              <a:rPr lang="ja-JP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可⽤性グループ </a:t>
            </a:r>
            <a:r>
              <a:rPr lang="en-US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(AG)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フリーフォーム: 図形 139"/>
          <p:cNvSpPr/>
          <p:nvPr/>
        </p:nvSpPr>
        <p:spPr>
          <a:xfrm>
            <a:off x="695160" y="2781000"/>
            <a:ext cx="218880" cy="210240"/>
          </a:xfrm>
          <a:custGeom>
            <a:avLst/>
            <a:gdLst/>
            <a:ahLst/>
            <a:cxnLst/>
            <a:rect l="0" t="0" r="r" b="b"/>
            <a:pathLst>
              <a:path w="608" h="584">
                <a:moveTo>
                  <a:pt x="370" y="292"/>
                </a:moveTo>
                <a:lnTo>
                  <a:pt x="595" y="76"/>
                </a:lnTo>
                <a:cubicBezTo>
                  <a:pt x="613" y="58"/>
                  <a:pt x="613" y="30"/>
                  <a:pt x="595" y="13"/>
                </a:cubicBezTo>
                <a:cubicBezTo>
                  <a:pt x="577" y="-4"/>
                  <a:pt x="548" y="-4"/>
                  <a:pt x="530" y="13"/>
                </a:cubicBezTo>
                <a:lnTo>
                  <a:pt x="305" y="230"/>
                </a:lnTo>
                <a:lnTo>
                  <a:pt x="79" y="13"/>
                </a:lnTo>
                <a:cubicBezTo>
                  <a:pt x="61" y="-4"/>
                  <a:pt x="32" y="-4"/>
                  <a:pt x="14" y="13"/>
                </a:cubicBezTo>
                <a:cubicBezTo>
                  <a:pt x="-3" y="30"/>
                  <a:pt x="-3" y="58"/>
                  <a:pt x="14" y="76"/>
                </a:cubicBezTo>
                <a:lnTo>
                  <a:pt x="240" y="292"/>
                </a:lnTo>
                <a:lnTo>
                  <a:pt x="14" y="509"/>
                </a:lnTo>
                <a:cubicBezTo>
                  <a:pt x="-4" y="526"/>
                  <a:pt x="-4" y="554"/>
                  <a:pt x="14" y="571"/>
                </a:cubicBezTo>
                <a:cubicBezTo>
                  <a:pt x="23" y="580"/>
                  <a:pt x="35" y="584"/>
                  <a:pt x="46" y="584"/>
                </a:cubicBezTo>
                <a:cubicBezTo>
                  <a:pt x="58" y="584"/>
                  <a:pt x="70" y="580"/>
                  <a:pt x="79" y="571"/>
                </a:cubicBezTo>
                <a:lnTo>
                  <a:pt x="305" y="355"/>
                </a:lnTo>
                <a:lnTo>
                  <a:pt x="530" y="571"/>
                </a:lnTo>
                <a:cubicBezTo>
                  <a:pt x="539" y="579"/>
                  <a:pt x="551" y="583"/>
                  <a:pt x="562" y="583"/>
                </a:cubicBezTo>
                <a:cubicBezTo>
                  <a:pt x="574" y="583"/>
                  <a:pt x="586" y="579"/>
                  <a:pt x="595" y="571"/>
                </a:cubicBezTo>
                <a:cubicBezTo>
                  <a:pt x="613" y="553"/>
                  <a:pt x="613" y="525"/>
                  <a:pt x="595" y="508"/>
                </a:cubicBezTo>
                <a:lnTo>
                  <a:pt x="370" y="29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テキスト ボックス 140"/>
          <p:cNvSpPr txBox="1"/>
          <p:nvPr/>
        </p:nvSpPr>
        <p:spPr>
          <a:xfrm>
            <a:off x="1428840" y="2314080"/>
            <a:ext cx="21974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2016</a:t>
            </a:r>
            <a:r>
              <a:rPr lang="ja-JP" sz="12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以降で対応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フリーフォーム: 図形 141"/>
          <p:cNvSpPr/>
          <p:nvPr/>
        </p:nvSpPr>
        <p:spPr>
          <a:xfrm>
            <a:off x="847440" y="3352680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931680" y="2727360"/>
            <a:ext cx="260856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1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制約のあるワークロード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フリーフォーム: 図形 143"/>
          <p:cNvSpPr/>
          <p:nvPr/>
        </p:nvSpPr>
        <p:spPr>
          <a:xfrm>
            <a:off x="1247760" y="364788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テキスト ボックス 144"/>
          <p:cNvSpPr txBox="1"/>
          <p:nvPr/>
        </p:nvSpPr>
        <p:spPr>
          <a:xfrm>
            <a:off x="1047600" y="3261960"/>
            <a:ext cx="2541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lang="en-US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構成は可能だが</a:t>
            </a:r>
            <a:r>
              <a:rPr lang="en-US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...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フリーフォーム: 図形 145"/>
          <p:cNvSpPr/>
          <p:nvPr/>
        </p:nvSpPr>
        <p:spPr>
          <a:xfrm>
            <a:off x="1247760" y="3914640"/>
            <a:ext cx="57240" cy="57600"/>
          </a:xfrm>
          <a:custGeom>
            <a:avLst/>
            <a:gdLst/>
            <a:ahLst/>
            <a:cxn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テキスト ボックス 146"/>
          <p:cNvSpPr txBox="1"/>
          <p:nvPr/>
        </p:nvSpPr>
        <p:spPr>
          <a:xfrm>
            <a:off x="1428840" y="3561840"/>
            <a:ext cx="46854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2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ライブマイグレーション不可（クイックマイグレーションのみ）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フリーフォーム: 図形 147"/>
          <p:cNvSpPr/>
          <p:nvPr/>
        </p:nvSpPr>
        <p:spPr>
          <a:xfrm>
            <a:off x="847440" y="4190760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59"/>
                </a:cubicBezTo>
                <a:cubicBezTo>
                  <a:pt x="151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1" y="19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テキスト ボックス 148"/>
          <p:cNvSpPr txBox="1"/>
          <p:nvPr/>
        </p:nvSpPr>
        <p:spPr>
          <a:xfrm>
            <a:off x="1428840" y="3828600"/>
            <a:ext cx="32317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2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ダウンタイムが発⽣するため実⽤性に⽋ける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フリーフォーム: 図形 149"/>
          <p:cNvSpPr/>
          <p:nvPr/>
        </p:nvSpPr>
        <p:spPr>
          <a:xfrm>
            <a:off x="847440" y="4495680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8" y="149"/>
                  <a:pt x="159" y="158"/>
                </a:cubicBezTo>
                <a:cubicBezTo>
                  <a:pt x="151" y="167"/>
                  <a:pt x="140" y="173"/>
                  <a:pt x="128" y="178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8"/>
                </a:cubicBezTo>
                <a:cubicBezTo>
                  <a:pt x="46" y="173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テキスト ボックス 150"/>
          <p:cNvSpPr txBox="1"/>
          <p:nvPr/>
        </p:nvSpPr>
        <p:spPr>
          <a:xfrm>
            <a:off x="1047600" y="4100400"/>
            <a:ext cx="3387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</a:t>
            </a:r>
            <a:r>
              <a:rPr lang="en-US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認証の問題で⾮推奨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テキスト ボックス 151"/>
          <p:cNvSpPr txBox="1"/>
          <p:nvPr/>
        </p:nvSpPr>
        <p:spPr>
          <a:xfrm>
            <a:off x="1047600" y="4404960"/>
            <a:ext cx="33555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CAU (</a:t>
            </a:r>
            <a:r>
              <a:rPr lang="ja-JP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クラスター対応更新</a:t>
            </a:r>
            <a:r>
              <a:rPr lang="en-US" sz="14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</a:t>
            </a:r>
            <a:r>
              <a:rPr lang="en-US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使⽤不可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66720" y="4854600"/>
            <a:ext cx="452340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6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結論</a:t>
            </a:r>
            <a:r>
              <a:rPr lang="en-US" sz="16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: </a:t>
            </a:r>
            <a:r>
              <a:rPr lang="ja-JP" sz="16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主に</a:t>
            </a:r>
            <a:r>
              <a:rPr lang="en-US" sz="16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AG</a:t>
            </a:r>
            <a:r>
              <a:rPr lang="ja-JP" sz="16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向けの機能として位置づけ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フリーフォーム: 図形 1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フリーフォーム: 図形 1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フリーフォーム: 図形 1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666720" y="639720"/>
            <a:ext cx="568116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2025: </a:t>
            </a:r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⼤きな進化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フリーフォーム: 図形 158"/>
          <p:cNvSpPr/>
          <p:nvPr/>
        </p:nvSpPr>
        <p:spPr>
          <a:xfrm>
            <a:off x="702720" y="1829160"/>
            <a:ext cx="185400" cy="192240"/>
          </a:xfrm>
          <a:custGeom>
            <a:avLst/>
            <a:gdLst/>
            <a:ahLst/>
            <a:cxnLst/>
            <a:rect l="0" t="0" r="r" b="b"/>
            <a:pathLst>
              <a:path w="515" h="534">
                <a:moveTo>
                  <a:pt x="0" y="149"/>
                </a:moveTo>
                <a:lnTo>
                  <a:pt x="164" y="0"/>
                </a:lnTo>
                <a:lnTo>
                  <a:pt x="494" y="21"/>
                </a:lnTo>
                <a:lnTo>
                  <a:pt x="515" y="362"/>
                </a:lnTo>
                <a:lnTo>
                  <a:pt x="371" y="534"/>
                </a:lnTo>
                <a:cubicBezTo>
                  <a:pt x="371" y="534"/>
                  <a:pt x="371" y="405"/>
                  <a:pt x="246" y="277"/>
                </a:cubicBezTo>
                <a:cubicBezTo>
                  <a:pt x="123" y="149"/>
                  <a:pt x="0" y="149"/>
                  <a:pt x="0" y="149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フリーフォーム: 図形 159"/>
          <p:cNvSpPr/>
          <p:nvPr/>
        </p:nvSpPr>
        <p:spPr>
          <a:xfrm>
            <a:off x="702360" y="1914840"/>
            <a:ext cx="104400" cy="106560"/>
          </a:xfrm>
          <a:custGeom>
            <a:avLst/>
            <a:gdLst/>
            <a:ahLst/>
            <a:cxnLst/>
            <a:rect l="0" t="0" r="r" b="b"/>
            <a:pathLst>
              <a:path w="290" h="296">
                <a:moveTo>
                  <a:pt x="0" y="296"/>
                </a:moveTo>
                <a:cubicBezTo>
                  <a:pt x="0" y="296"/>
                  <a:pt x="-1" y="126"/>
                  <a:pt x="61" y="60"/>
                </a:cubicBezTo>
                <a:cubicBezTo>
                  <a:pt x="124" y="-4"/>
                  <a:pt x="290" y="0"/>
                  <a:pt x="290" y="0"/>
                </a:cubicBezTo>
                <a:cubicBezTo>
                  <a:pt x="290" y="0"/>
                  <a:pt x="290" y="168"/>
                  <a:pt x="228" y="232"/>
                </a:cubicBezTo>
                <a:cubicBezTo>
                  <a:pt x="165" y="296"/>
                  <a:pt x="0" y="296"/>
                  <a:pt x="0" y="296"/>
                </a:cubicBez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フリーフォーム: 図形 160"/>
          <p:cNvSpPr/>
          <p:nvPr/>
        </p:nvSpPr>
        <p:spPr>
          <a:xfrm>
            <a:off x="732240" y="1928880"/>
            <a:ext cx="59400" cy="61920"/>
          </a:xfrm>
          <a:custGeom>
            <a:avLst/>
            <a:gdLst/>
            <a:ahLst/>
            <a:cxnLst/>
            <a:rect l="0" t="0" r="r" b="b"/>
            <a:pathLst>
              <a:path w="165" h="172">
                <a:moveTo>
                  <a:pt x="165" y="85"/>
                </a:moveTo>
                <a:cubicBezTo>
                  <a:pt x="165" y="97"/>
                  <a:pt x="163" y="107"/>
                  <a:pt x="159" y="118"/>
                </a:cubicBezTo>
                <a:cubicBezTo>
                  <a:pt x="155" y="128"/>
                  <a:pt x="149" y="138"/>
                  <a:pt x="141" y="146"/>
                </a:cubicBezTo>
                <a:cubicBezTo>
                  <a:pt x="134" y="154"/>
                  <a:pt x="125" y="160"/>
                  <a:pt x="115" y="164"/>
                </a:cubicBezTo>
                <a:cubicBezTo>
                  <a:pt x="105" y="169"/>
                  <a:pt x="94" y="172"/>
                  <a:pt x="83" y="172"/>
                </a:cubicBezTo>
                <a:cubicBezTo>
                  <a:pt x="72" y="172"/>
                  <a:pt x="62" y="169"/>
                  <a:pt x="52" y="164"/>
                </a:cubicBezTo>
                <a:cubicBezTo>
                  <a:pt x="42" y="160"/>
                  <a:pt x="33" y="154"/>
                  <a:pt x="25" y="146"/>
                </a:cubicBezTo>
                <a:cubicBezTo>
                  <a:pt x="17" y="138"/>
                  <a:pt x="10" y="128"/>
                  <a:pt x="6" y="118"/>
                </a:cubicBezTo>
                <a:cubicBezTo>
                  <a:pt x="2" y="107"/>
                  <a:pt x="0" y="97"/>
                  <a:pt x="0" y="85"/>
                </a:cubicBezTo>
                <a:cubicBezTo>
                  <a:pt x="0" y="74"/>
                  <a:pt x="2" y="63"/>
                  <a:pt x="6" y="53"/>
                </a:cubicBezTo>
                <a:cubicBezTo>
                  <a:pt x="10" y="42"/>
                  <a:pt x="17" y="33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3"/>
                  <a:pt x="155" y="42"/>
                  <a:pt x="159" y="53"/>
                </a:cubicBezTo>
                <a:cubicBezTo>
                  <a:pt x="163" y="63"/>
                  <a:pt x="165" y="74"/>
                  <a:pt x="165" y="8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フリーフォーム: 図形 161"/>
          <p:cNvSpPr/>
          <p:nvPr/>
        </p:nvSpPr>
        <p:spPr>
          <a:xfrm>
            <a:off x="760320" y="1752480"/>
            <a:ext cx="201960" cy="209160"/>
          </a:xfrm>
          <a:custGeom>
            <a:avLst/>
            <a:gdLst/>
            <a:ahLst/>
            <a:cxnLst/>
            <a:rect l="0" t="0" r="r" b="b"/>
            <a:pathLst>
              <a:path w="561" h="581">
                <a:moveTo>
                  <a:pt x="561" y="0"/>
                </a:moveTo>
                <a:cubicBezTo>
                  <a:pt x="561" y="0"/>
                  <a:pt x="354" y="0"/>
                  <a:pt x="107" y="214"/>
                </a:cubicBezTo>
                <a:cubicBezTo>
                  <a:pt x="-16" y="321"/>
                  <a:pt x="-16" y="512"/>
                  <a:pt x="25" y="555"/>
                </a:cubicBezTo>
                <a:cubicBezTo>
                  <a:pt x="66" y="598"/>
                  <a:pt x="251" y="598"/>
                  <a:pt x="354" y="470"/>
                </a:cubicBezTo>
                <a:cubicBezTo>
                  <a:pt x="561" y="214"/>
                  <a:pt x="561" y="0"/>
                  <a:pt x="561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フリーフォーム: 図形 162"/>
          <p:cNvSpPr/>
          <p:nvPr/>
        </p:nvSpPr>
        <p:spPr>
          <a:xfrm>
            <a:off x="868320" y="1790640"/>
            <a:ext cx="56880" cy="59040"/>
          </a:xfrm>
          <a:custGeom>
            <a:avLst/>
            <a:gdLst/>
            <a:ahLst/>
            <a:cxnLst/>
            <a:rect l="0" t="0" r="r" b="b"/>
            <a:pathLst>
              <a:path w="158" h="164">
                <a:moveTo>
                  <a:pt x="76" y="0"/>
                </a:moveTo>
                <a:cubicBezTo>
                  <a:pt x="42" y="0"/>
                  <a:pt x="13" y="21"/>
                  <a:pt x="0" y="51"/>
                </a:cubicBezTo>
                <a:cubicBezTo>
                  <a:pt x="10" y="46"/>
                  <a:pt x="21" y="43"/>
                  <a:pt x="34" y="43"/>
                </a:cubicBezTo>
                <a:cubicBezTo>
                  <a:pt x="80" y="43"/>
                  <a:pt x="117" y="81"/>
                  <a:pt x="117" y="128"/>
                </a:cubicBezTo>
                <a:cubicBezTo>
                  <a:pt x="117" y="142"/>
                  <a:pt x="114" y="154"/>
                  <a:pt x="109" y="164"/>
                </a:cubicBezTo>
                <a:cubicBezTo>
                  <a:pt x="138" y="151"/>
                  <a:pt x="158" y="120"/>
                  <a:pt x="158" y="86"/>
                </a:cubicBezTo>
                <a:cubicBezTo>
                  <a:pt x="158" y="39"/>
                  <a:pt x="121" y="0"/>
                  <a:pt x="76" y="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フリーフォーム: 図形 163"/>
          <p:cNvSpPr/>
          <p:nvPr/>
        </p:nvSpPr>
        <p:spPr>
          <a:xfrm>
            <a:off x="754560" y="1851480"/>
            <a:ext cx="111600" cy="115920"/>
          </a:xfrm>
          <a:custGeom>
            <a:avLst/>
            <a:gdLst/>
            <a:ahLst/>
            <a:cxnLst/>
            <a:rect l="0" t="0" r="r" b="b"/>
            <a:pathLst>
              <a:path w="310" h="322">
                <a:moveTo>
                  <a:pt x="0" y="322"/>
                </a:moveTo>
                <a:cubicBezTo>
                  <a:pt x="0" y="322"/>
                  <a:pt x="0" y="236"/>
                  <a:pt x="20" y="215"/>
                </a:cubicBezTo>
                <a:cubicBezTo>
                  <a:pt x="41" y="194"/>
                  <a:pt x="289" y="-20"/>
                  <a:pt x="309" y="1"/>
                </a:cubicBezTo>
                <a:cubicBezTo>
                  <a:pt x="330" y="22"/>
                  <a:pt x="123" y="279"/>
                  <a:pt x="102" y="300"/>
                </a:cubicBezTo>
                <a:cubicBezTo>
                  <a:pt x="82" y="322"/>
                  <a:pt x="0" y="322"/>
                  <a:pt x="0" y="322"/>
                </a:cubicBezTo>
                <a:close/>
              </a:path>
            </a:pathLst>
          </a:custGeom>
          <a:solidFill>
            <a:srgbClr val="A0041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テキスト ボックス 164"/>
          <p:cNvSpPr txBox="1"/>
          <p:nvPr/>
        </p:nvSpPr>
        <p:spPr>
          <a:xfrm>
            <a:off x="666720" y="1206720"/>
            <a:ext cx="400176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完全サポートが実現︕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フリーフォーム: 図形 165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テキスト ボックス 166"/>
          <p:cNvSpPr txBox="1"/>
          <p:nvPr/>
        </p:nvSpPr>
        <p:spPr>
          <a:xfrm>
            <a:off x="979920" y="1711440"/>
            <a:ext cx="254664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ついに実現した機能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フリーフォーム: 図形 167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テキスト ボックス 168"/>
          <p:cNvSpPr txBox="1"/>
          <p:nvPr/>
        </p:nvSpPr>
        <p:spPr>
          <a:xfrm>
            <a:off x="1047600" y="2335320"/>
            <a:ext cx="55555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ワークグループクラスターで</a:t>
            </a:r>
            <a:r>
              <a:rPr lang="en-US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が正式サポート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フリーフォーム: 図形 169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テキスト ボックス 170"/>
          <p:cNvSpPr txBox="1"/>
          <p:nvPr/>
        </p:nvSpPr>
        <p:spPr>
          <a:xfrm>
            <a:off x="1047600" y="2706840"/>
            <a:ext cx="3338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ライブマイグレーション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が可能に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テキスト ボックス 171"/>
          <p:cNvSpPr txBox="1"/>
          <p:nvPr/>
        </p:nvSpPr>
        <p:spPr>
          <a:xfrm>
            <a:off x="1047600" y="3078360"/>
            <a:ext cx="31406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ダウンタイムなしで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VM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を移⾏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フリーフォーム: 図形 172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テキスト ボックス 173"/>
          <p:cNvSpPr txBox="1"/>
          <p:nvPr/>
        </p:nvSpPr>
        <p:spPr>
          <a:xfrm>
            <a:off x="666720" y="3606840"/>
            <a:ext cx="30013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なぜ可能になったのか︖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フリーフォーム: 図形 174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テキスト ボックス 175"/>
          <p:cNvSpPr txBox="1"/>
          <p:nvPr/>
        </p:nvSpPr>
        <p:spPr>
          <a:xfrm>
            <a:off x="1047600" y="4240440"/>
            <a:ext cx="24483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証明書ベース認証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の導⼊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フリーフォーム: 図形 176"/>
          <p:cNvSpPr/>
          <p:nvPr/>
        </p:nvSpPr>
        <p:spPr>
          <a:xfrm>
            <a:off x="828360" y="50958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テキスト ボックス 177"/>
          <p:cNvSpPr txBox="1"/>
          <p:nvPr/>
        </p:nvSpPr>
        <p:spPr>
          <a:xfrm>
            <a:off x="1047600" y="4602600"/>
            <a:ext cx="6344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からの脱却（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は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2024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年に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⾮推奨化）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テキスト ボックス 178"/>
          <p:cNvSpPr txBox="1"/>
          <p:nvPr/>
        </p:nvSpPr>
        <p:spPr>
          <a:xfrm>
            <a:off x="1047600" y="4973760"/>
            <a:ext cx="2670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より安全な相互認証の実現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フリーフォーム: 図形 1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フリーフォーム: 図形 1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フリーフォーム: 図形 1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フリーフォーム: 図形 183"/>
          <p:cNvSpPr/>
          <p:nvPr/>
        </p:nvSpPr>
        <p:spPr>
          <a:xfrm>
            <a:off x="676080" y="1542960"/>
            <a:ext cx="1324440" cy="267120"/>
          </a:xfrm>
          <a:custGeom>
            <a:avLst/>
            <a:gdLst/>
            <a:ahLst/>
            <a:cxnLst/>
            <a:rect l="0" t="0" r="r" b="b"/>
            <a:pathLst>
              <a:path w="3679" h="742">
                <a:moveTo>
                  <a:pt x="0" y="0"/>
                </a:moveTo>
                <a:lnTo>
                  <a:pt x="3679" y="0"/>
                </a:lnTo>
                <a:lnTo>
                  <a:pt x="3679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フリーフォーム: 図形 184"/>
          <p:cNvSpPr/>
          <p:nvPr/>
        </p:nvSpPr>
        <p:spPr>
          <a:xfrm>
            <a:off x="2000160" y="1542960"/>
            <a:ext cx="1076760" cy="267120"/>
          </a:xfrm>
          <a:custGeom>
            <a:avLst/>
            <a:gdLst/>
            <a:ahLst/>
            <a:cxnLst/>
            <a:rect l="0" t="0" r="r" b="b"/>
            <a:pathLst>
              <a:path w="2991" h="742">
                <a:moveTo>
                  <a:pt x="0" y="0"/>
                </a:moveTo>
                <a:lnTo>
                  <a:pt x="2991" y="0"/>
                </a:lnTo>
                <a:lnTo>
                  <a:pt x="2991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フリーフォーム: 図形 185"/>
          <p:cNvSpPr/>
          <p:nvPr/>
        </p:nvSpPr>
        <p:spPr>
          <a:xfrm>
            <a:off x="3076560" y="1542960"/>
            <a:ext cx="2819520" cy="267120"/>
          </a:xfrm>
          <a:custGeom>
            <a:avLst/>
            <a:gdLst/>
            <a:ahLst/>
            <a:cxnLst/>
            <a:rect l="0" t="0" r="r" b="b"/>
            <a:pathLst>
              <a:path w="7832" h="742">
                <a:moveTo>
                  <a:pt x="0" y="0"/>
                </a:moveTo>
                <a:lnTo>
                  <a:pt x="7832" y="0"/>
                </a:lnTo>
                <a:lnTo>
                  <a:pt x="7832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フリーフォーム: 図形 186"/>
          <p:cNvSpPr/>
          <p:nvPr/>
        </p:nvSpPr>
        <p:spPr>
          <a:xfrm>
            <a:off x="676080" y="1809720"/>
            <a:ext cx="1324440" cy="266760"/>
          </a:xfrm>
          <a:custGeom>
            <a:avLst/>
            <a:gdLst/>
            <a:ahLst/>
            <a:cxnLst/>
            <a:rect l="0" t="0" r="r" b="b"/>
            <a:pathLst>
              <a:path w="3679" h="741">
                <a:moveTo>
                  <a:pt x="0" y="0"/>
                </a:moveTo>
                <a:lnTo>
                  <a:pt x="3679" y="0"/>
                </a:lnTo>
                <a:lnTo>
                  <a:pt x="3679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フリーフォーム: 図形 187"/>
          <p:cNvSpPr/>
          <p:nvPr/>
        </p:nvSpPr>
        <p:spPr>
          <a:xfrm>
            <a:off x="2000160" y="1809720"/>
            <a:ext cx="1076760" cy="266760"/>
          </a:xfrm>
          <a:custGeom>
            <a:avLst/>
            <a:gdLst/>
            <a:ahLst/>
            <a:cxnLst/>
            <a:rect l="0" t="0" r="r" b="b"/>
            <a:pathLst>
              <a:path w="2991" h="741">
                <a:moveTo>
                  <a:pt x="0" y="0"/>
                </a:moveTo>
                <a:lnTo>
                  <a:pt x="2991" y="0"/>
                </a:lnTo>
                <a:lnTo>
                  <a:pt x="2991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フリーフォーム: 図形 188"/>
          <p:cNvSpPr/>
          <p:nvPr/>
        </p:nvSpPr>
        <p:spPr>
          <a:xfrm>
            <a:off x="3076560" y="1809720"/>
            <a:ext cx="2819520" cy="266760"/>
          </a:xfrm>
          <a:custGeom>
            <a:avLst/>
            <a:gdLst/>
            <a:ahLst/>
            <a:cxnLst/>
            <a:rect l="0" t="0" r="r" b="b"/>
            <a:pathLst>
              <a:path w="7832" h="741">
                <a:moveTo>
                  <a:pt x="0" y="0"/>
                </a:moveTo>
                <a:lnTo>
                  <a:pt x="7832" y="0"/>
                </a:lnTo>
                <a:lnTo>
                  <a:pt x="7832" y="741"/>
                </a:lnTo>
                <a:lnTo>
                  <a:pt x="0" y="741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フリーフォーム: 図形 189"/>
          <p:cNvSpPr/>
          <p:nvPr/>
        </p:nvSpPr>
        <p:spPr>
          <a:xfrm>
            <a:off x="676080" y="2342880"/>
            <a:ext cx="1324440" cy="267120"/>
          </a:xfrm>
          <a:custGeom>
            <a:avLst/>
            <a:gdLst/>
            <a:ahLst/>
            <a:cxnLst/>
            <a:rect l="0" t="0" r="r" b="b"/>
            <a:pathLst>
              <a:path w="3679" h="742">
                <a:moveTo>
                  <a:pt x="0" y="0"/>
                </a:moveTo>
                <a:lnTo>
                  <a:pt x="3679" y="0"/>
                </a:lnTo>
                <a:lnTo>
                  <a:pt x="3679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フリーフォーム: 図形 190"/>
          <p:cNvSpPr/>
          <p:nvPr/>
        </p:nvSpPr>
        <p:spPr>
          <a:xfrm>
            <a:off x="2000160" y="2342880"/>
            <a:ext cx="1076760" cy="267120"/>
          </a:xfrm>
          <a:custGeom>
            <a:avLst/>
            <a:gdLst/>
            <a:ahLst/>
            <a:cxnLst/>
            <a:rect l="0" t="0" r="r" b="b"/>
            <a:pathLst>
              <a:path w="2991" h="742">
                <a:moveTo>
                  <a:pt x="0" y="0"/>
                </a:moveTo>
                <a:lnTo>
                  <a:pt x="2991" y="0"/>
                </a:lnTo>
                <a:lnTo>
                  <a:pt x="2991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フリーフォーム: 図形 191"/>
          <p:cNvSpPr/>
          <p:nvPr/>
        </p:nvSpPr>
        <p:spPr>
          <a:xfrm>
            <a:off x="3076560" y="2342880"/>
            <a:ext cx="2819520" cy="267120"/>
          </a:xfrm>
          <a:custGeom>
            <a:avLst/>
            <a:gdLst/>
            <a:ahLst/>
            <a:cxnLst/>
            <a:rect l="0" t="0" r="r" b="b"/>
            <a:pathLst>
              <a:path w="7832" h="742">
                <a:moveTo>
                  <a:pt x="0" y="0"/>
                </a:moveTo>
                <a:lnTo>
                  <a:pt x="7832" y="0"/>
                </a:lnTo>
                <a:lnTo>
                  <a:pt x="7832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フリーフォーム: 図形 192"/>
          <p:cNvSpPr/>
          <p:nvPr/>
        </p:nvSpPr>
        <p:spPr>
          <a:xfrm>
            <a:off x="666720" y="1542960"/>
            <a:ext cx="9720" cy="276480"/>
          </a:xfrm>
          <a:custGeom>
            <a:avLst/>
            <a:gdLst/>
            <a:ahLst/>
            <a:cxn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フリーフォーム: 図形 193"/>
          <p:cNvSpPr/>
          <p:nvPr/>
        </p:nvSpPr>
        <p:spPr>
          <a:xfrm>
            <a:off x="666720" y="1542960"/>
            <a:ext cx="1333800" cy="9720"/>
          </a:xfrm>
          <a:custGeom>
            <a:avLst/>
            <a:gdLst/>
            <a:ahLst/>
            <a:cxn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フリーフォーム: 図形 194"/>
          <p:cNvSpPr/>
          <p:nvPr/>
        </p:nvSpPr>
        <p:spPr>
          <a:xfrm>
            <a:off x="1990440" y="1542960"/>
            <a:ext cx="10080" cy="276480"/>
          </a:xfrm>
          <a:custGeom>
            <a:avLst/>
            <a:gdLst/>
            <a:ahLst/>
            <a:cxn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フリーフォーム: 図形 195"/>
          <p:cNvSpPr/>
          <p:nvPr/>
        </p:nvSpPr>
        <p:spPr>
          <a:xfrm>
            <a:off x="2000160" y="1542960"/>
            <a:ext cx="1086120" cy="9720"/>
          </a:xfrm>
          <a:custGeom>
            <a:avLst/>
            <a:gdLst/>
            <a:ahLst/>
            <a:cxn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フリーフォーム: 図形 196"/>
          <p:cNvSpPr/>
          <p:nvPr/>
        </p:nvSpPr>
        <p:spPr>
          <a:xfrm>
            <a:off x="3076560" y="1542960"/>
            <a:ext cx="9720" cy="276480"/>
          </a:xfrm>
          <a:custGeom>
            <a:avLst/>
            <a:gdLst/>
            <a:ahLst/>
            <a:cxnLst/>
            <a:rect l="0" t="0" r="r" b="b"/>
            <a:pathLst>
              <a:path w="27" h="768">
                <a:moveTo>
                  <a:pt x="0" y="0"/>
                </a:moveTo>
                <a:lnTo>
                  <a:pt x="27" y="0"/>
                </a:lnTo>
                <a:lnTo>
                  <a:pt x="27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フリーフォーム: 図形 197"/>
          <p:cNvSpPr/>
          <p:nvPr/>
        </p:nvSpPr>
        <p:spPr>
          <a:xfrm>
            <a:off x="3085920" y="1542960"/>
            <a:ext cx="2819880" cy="9720"/>
          </a:xfrm>
          <a:custGeom>
            <a:avLst/>
            <a:gdLst/>
            <a:ahLst/>
            <a:cxn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フリーフォーム: 図形 198"/>
          <p:cNvSpPr/>
          <p:nvPr/>
        </p:nvSpPr>
        <p:spPr>
          <a:xfrm>
            <a:off x="5895720" y="1542960"/>
            <a:ext cx="10080" cy="276480"/>
          </a:xfrm>
          <a:custGeom>
            <a:avLst/>
            <a:gdLst/>
            <a:ahLst/>
            <a:cxnLst/>
            <a:rect l="0" t="0" r="r" b="b"/>
            <a:pathLst>
              <a:path w="28" h="768">
                <a:moveTo>
                  <a:pt x="0" y="0"/>
                </a:moveTo>
                <a:lnTo>
                  <a:pt x="28" y="0"/>
                </a:lnTo>
                <a:lnTo>
                  <a:pt x="28" y="768"/>
                </a:lnTo>
                <a:lnTo>
                  <a:pt x="0" y="76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フリーフォーム: 図形 199"/>
          <p:cNvSpPr/>
          <p:nvPr/>
        </p:nvSpPr>
        <p:spPr>
          <a:xfrm>
            <a:off x="666720" y="1809720"/>
            <a:ext cx="1333800" cy="9720"/>
          </a:xfrm>
          <a:custGeom>
            <a:avLst/>
            <a:gdLst/>
            <a:ahLst/>
            <a:cxn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フリーフォーム: 図形 200"/>
          <p:cNvSpPr/>
          <p:nvPr/>
        </p:nvSpPr>
        <p:spPr>
          <a:xfrm>
            <a:off x="2000160" y="1809720"/>
            <a:ext cx="1086120" cy="9720"/>
          </a:xfrm>
          <a:custGeom>
            <a:avLst/>
            <a:gdLst/>
            <a:ahLst/>
            <a:cxn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フリーフォーム: 図形 201"/>
          <p:cNvSpPr/>
          <p:nvPr/>
        </p:nvSpPr>
        <p:spPr>
          <a:xfrm>
            <a:off x="3085920" y="1809720"/>
            <a:ext cx="2819880" cy="9720"/>
          </a:xfrm>
          <a:custGeom>
            <a:avLst/>
            <a:gdLst/>
            <a:ahLst/>
            <a:cxn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フリーフォーム: 図形 202"/>
          <p:cNvSpPr/>
          <p:nvPr/>
        </p:nvSpPr>
        <p:spPr>
          <a:xfrm>
            <a:off x="666720" y="1819080"/>
            <a:ext cx="9720" cy="267120"/>
          </a:xfrm>
          <a:custGeom>
            <a:avLst/>
            <a:gdLst/>
            <a:ahLst/>
            <a:cxn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フリーフォーム: 図形 203"/>
          <p:cNvSpPr/>
          <p:nvPr/>
        </p:nvSpPr>
        <p:spPr>
          <a:xfrm>
            <a:off x="1990440" y="1819080"/>
            <a:ext cx="10080" cy="267120"/>
          </a:xfrm>
          <a:custGeom>
            <a:avLst/>
            <a:gdLst/>
            <a:ahLst/>
            <a:cxn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フリーフォーム: 図形 204"/>
          <p:cNvSpPr/>
          <p:nvPr/>
        </p:nvSpPr>
        <p:spPr>
          <a:xfrm>
            <a:off x="3076560" y="1819080"/>
            <a:ext cx="9720" cy="267120"/>
          </a:xfrm>
          <a:custGeom>
            <a:avLst/>
            <a:gdLst/>
            <a:ahLst/>
            <a:cxn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フリーフォーム: 図形 205"/>
          <p:cNvSpPr/>
          <p:nvPr/>
        </p:nvSpPr>
        <p:spPr>
          <a:xfrm>
            <a:off x="5895720" y="1819080"/>
            <a:ext cx="10080" cy="267120"/>
          </a:xfrm>
          <a:custGeom>
            <a:avLst/>
            <a:gdLst/>
            <a:ahLst/>
            <a:cxn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フリーフォーム: 図形 206"/>
          <p:cNvSpPr/>
          <p:nvPr/>
        </p:nvSpPr>
        <p:spPr>
          <a:xfrm>
            <a:off x="666720" y="2085840"/>
            <a:ext cx="9720" cy="267120"/>
          </a:xfrm>
          <a:custGeom>
            <a:avLst/>
            <a:gdLst/>
            <a:ahLst/>
            <a:cxn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フリーフォーム: 図形 207"/>
          <p:cNvSpPr/>
          <p:nvPr/>
        </p:nvSpPr>
        <p:spPr>
          <a:xfrm>
            <a:off x="666720" y="2076120"/>
            <a:ext cx="1333800" cy="10080"/>
          </a:xfrm>
          <a:custGeom>
            <a:avLst/>
            <a:gdLst/>
            <a:ahLst/>
            <a:cxn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フリーフォーム: 図形 208"/>
          <p:cNvSpPr/>
          <p:nvPr/>
        </p:nvSpPr>
        <p:spPr>
          <a:xfrm>
            <a:off x="1990440" y="2085840"/>
            <a:ext cx="10080" cy="267120"/>
          </a:xfrm>
          <a:custGeom>
            <a:avLst/>
            <a:gdLst/>
            <a:ahLst/>
            <a:cxn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フリーフォーム: 図形 209"/>
          <p:cNvSpPr/>
          <p:nvPr/>
        </p:nvSpPr>
        <p:spPr>
          <a:xfrm>
            <a:off x="2000160" y="207612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フリーフォーム: 図形 210"/>
          <p:cNvSpPr/>
          <p:nvPr/>
        </p:nvSpPr>
        <p:spPr>
          <a:xfrm>
            <a:off x="3076560" y="2085840"/>
            <a:ext cx="9720" cy="267120"/>
          </a:xfrm>
          <a:custGeom>
            <a:avLst/>
            <a:gdLst/>
            <a:ahLst/>
            <a:cxn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フリーフォーム: 図形 211"/>
          <p:cNvSpPr/>
          <p:nvPr/>
        </p:nvSpPr>
        <p:spPr>
          <a:xfrm>
            <a:off x="3085920" y="2076120"/>
            <a:ext cx="2819880" cy="10080"/>
          </a:xfrm>
          <a:custGeom>
            <a:avLst/>
            <a:gdLst/>
            <a:ahLst/>
            <a:cxn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フリーフォーム: 図形 212"/>
          <p:cNvSpPr/>
          <p:nvPr/>
        </p:nvSpPr>
        <p:spPr>
          <a:xfrm>
            <a:off x="5895720" y="2085840"/>
            <a:ext cx="10080" cy="267120"/>
          </a:xfrm>
          <a:custGeom>
            <a:avLst/>
            <a:gdLst/>
            <a:ahLst/>
            <a:cxn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フリーフォーム: 図形 213"/>
          <p:cNvSpPr/>
          <p:nvPr/>
        </p:nvSpPr>
        <p:spPr>
          <a:xfrm>
            <a:off x="666720" y="2352600"/>
            <a:ext cx="9720" cy="267120"/>
          </a:xfrm>
          <a:custGeom>
            <a:avLst/>
            <a:gdLst/>
            <a:ahLst/>
            <a:cxn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フリーフォーム: 図形 214"/>
          <p:cNvSpPr/>
          <p:nvPr/>
        </p:nvSpPr>
        <p:spPr>
          <a:xfrm>
            <a:off x="666720" y="2342880"/>
            <a:ext cx="1333800" cy="10080"/>
          </a:xfrm>
          <a:custGeom>
            <a:avLst/>
            <a:gdLst/>
            <a:ahLst/>
            <a:cxn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フリーフォーム: 図形 215"/>
          <p:cNvSpPr/>
          <p:nvPr/>
        </p:nvSpPr>
        <p:spPr>
          <a:xfrm>
            <a:off x="1990440" y="2352600"/>
            <a:ext cx="10080" cy="267120"/>
          </a:xfrm>
          <a:custGeom>
            <a:avLst/>
            <a:gdLst/>
            <a:ahLst/>
            <a:cxn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フリーフォーム: 図形 216"/>
          <p:cNvSpPr/>
          <p:nvPr/>
        </p:nvSpPr>
        <p:spPr>
          <a:xfrm>
            <a:off x="2000160" y="234288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フリーフォーム: 図形 217"/>
          <p:cNvSpPr/>
          <p:nvPr/>
        </p:nvSpPr>
        <p:spPr>
          <a:xfrm>
            <a:off x="3076560" y="2352600"/>
            <a:ext cx="9720" cy="267120"/>
          </a:xfrm>
          <a:custGeom>
            <a:avLst/>
            <a:gdLst/>
            <a:ahLst/>
            <a:cxnLst/>
            <a:rect l="0" t="0" r="r" b="b"/>
            <a:pathLst>
              <a:path w="27" h="742">
                <a:moveTo>
                  <a:pt x="0" y="0"/>
                </a:moveTo>
                <a:lnTo>
                  <a:pt x="27" y="0"/>
                </a:lnTo>
                <a:lnTo>
                  <a:pt x="27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フリーフォーム: 図形 218"/>
          <p:cNvSpPr/>
          <p:nvPr/>
        </p:nvSpPr>
        <p:spPr>
          <a:xfrm>
            <a:off x="3085920" y="2342880"/>
            <a:ext cx="2819880" cy="10080"/>
          </a:xfrm>
          <a:custGeom>
            <a:avLst/>
            <a:gdLst/>
            <a:ahLst/>
            <a:cxn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フリーフォーム: 図形 219"/>
          <p:cNvSpPr/>
          <p:nvPr/>
        </p:nvSpPr>
        <p:spPr>
          <a:xfrm>
            <a:off x="5895720" y="2352600"/>
            <a:ext cx="10080" cy="267120"/>
          </a:xfrm>
          <a:custGeom>
            <a:avLst/>
            <a:gdLst/>
            <a:ahLst/>
            <a:cxnLst/>
            <a:rect l="0" t="0" r="r" b="b"/>
            <a:pathLst>
              <a:path w="28" h="742">
                <a:moveTo>
                  <a:pt x="0" y="0"/>
                </a:moveTo>
                <a:lnTo>
                  <a:pt x="28" y="0"/>
                </a:lnTo>
                <a:lnTo>
                  <a:pt x="28" y="742"/>
                </a:lnTo>
                <a:lnTo>
                  <a:pt x="0" y="74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フリーフォーム: 図形 220"/>
          <p:cNvSpPr/>
          <p:nvPr/>
        </p:nvSpPr>
        <p:spPr>
          <a:xfrm>
            <a:off x="666720" y="2609640"/>
            <a:ext cx="1333800" cy="10080"/>
          </a:xfrm>
          <a:custGeom>
            <a:avLst/>
            <a:gdLst/>
            <a:ahLst/>
            <a:cxn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フリーフォーム: 図形 221"/>
          <p:cNvSpPr/>
          <p:nvPr/>
        </p:nvSpPr>
        <p:spPr>
          <a:xfrm>
            <a:off x="2000160" y="260964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フリーフォーム: 図形 222"/>
          <p:cNvSpPr/>
          <p:nvPr/>
        </p:nvSpPr>
        <p:spPr>
          <a:xfrm>
            <a:off x="3085920" y="2609640"/>
            <a:ext cx="2819880" cy="10080"/>
          </a:xfrm>
          <a:custGeom>
            <a:avLst/>
            <a:gdLst/>
            <a:ahLst/>
            <a:cxn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テキスト ボックス 223"/>
          <p:cNvSpPr txBox="1"/>
          <p:nvPr/>
        </p:nvSpPr>
        <p:spPr>
          <a:xfrm>
            <a:off x="666720" y="638280"/>
            <a:ext cx="17611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97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認証技術の進化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テキスト ボックス 224"/>
          <p:cNvSpPr txBox="1"/>
          <p:nvPr/>
        </p:nvSpPr>
        <p:spPr>
          <a:xfrm>
            <a:off x="666720" y="1092240"/>
            <a:ext cx="34239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Kerberos → NTLM → </a:t>
            </a:r>
            <a:r>
              <a:rPr lang="ja-JP" sz="16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証明書認証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テキスト ボックス 225"/>
          <p:cNvSpPr txBox="1"/>
          <p:nvPr/>
        </p:nvSpPr>
        <p:spPr>
          <a:xfrm>
            <a:off x="1176120" y="1559160"/>
            <a:ext cx="293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世代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テキスト ボックス 226"/>
          <p:cNvSpPr txBox="1"/>
          <p:nvPr/>
        </p:nvSpPr>
        <p:spPr>
          <a:xfrm>
            <a:off x="2220120" y="1559160"/>
            <a:ext cx="586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1" u="none" strike="noStrike" dirty="0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認証⽅式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テキスト ボックス 227"/>
          <p:cNvSpPr txBox="1"/>
          <p:nvPr/>
        </p:nvSpPr>
        <p:spPr>
          <a:xfrm>
            <a:off x="4329360" y="1559160"/>
            <a:ext cx="293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特徴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テキスト ボックス 228"/>
          <p:cNvSpPr txBox="1"/>
          <p:nvPr/>
        </p:nvSpPr>
        <p:spPr>
          <a:xfrm>
            <a:off x="734760" y="1825560"/>
            <a:ext cx="2000548" cy="1769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従来（</a:t>
            </a:r>
            <a:r>
              <a:rPr lang="en-US" sz="1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環境）</a:t>
            </a:r>
            <a:r>
              <a:rPr lang="en-US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ja-JP" altLang="en-US" sz="1150" dirty="0">
                <a:solidFill>
                  <a:srgbClr val="455A64"/>
                </a:solidFill>
                <a:latin typeface="Meiryo"/>
                <a:ea typeface="Meiryo"/>
              </a:rPr>
              <a:t>    </a:t>
            </a:r>
            <a:r>
              <a:rPr lang="en-US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テキスト ボックス 229"/>
          <p:cNvSpPr txBox="1"/>
          <p:nvPr/>
        </p:nvSpPr>
        <p:spPr>
          <a:xfrm>
            <a:off x="3139920" y="1825560"/>
            <a:ext cx="2053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安全・スケーラブル・</a:t>
            </a:r>
            <a:r>
              <a:rPr lang="en-US" sz="11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1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必須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テキスト ボックス 230"/>
          <p:cNvSpPr txBox="1"/>
          <p:nvPr/>
        </p:nvSpPr>
        <p:spPr>
          <a:xfrm>
            <a:off x="734760" y="2092320"/>
            <a:ext cx="10267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2016</a:t>
            </a:r>
            <a:r>
              <a:rPr lang="ja-JP" sz="1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</a:t>
            </a:r>
            <a:r>
              <a:rPr lang="en-US" sz="1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テキスト ボックス 231"/>
          <p:cNvSpPr txBox="1"/>
          <p:nvPr/>
        </p:nvSpPr>
        <p:spPr>
          <a:xfrm>
            <a:off x="2061720" y="2092320"/>
            <a:ext cx="405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テキスト ボックス 232"/>
          <p:cNvSpPr txBox="1"/>
          <p:nvPr/>
        </p:nvSpPr>
        <p:spPr>
          <a:xfrm>
            <a:off x="3139920" y="2092320"/>
            <a:ext cx="2487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ドメイン不要・セキュリティ上の懸念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テキスト ボックス 233"/>
          <p:cNvSpPr txBox="1"/>
          <p:nvPr/>
        </p:nvSpPr>
        <p:spPr>
          <a:xfrm>
            <a:off x="734760" y="2359080"/>
            <a:ext cx="586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lang="ja-JP" sz="1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テキスト ボックス 234"/>
          <p:cNvSpPr txBox="1"/>
          <p:nvPr/>
        </p:nvSpPr>
        <p:spPr>
          <a:xfrm>
            <a:off x="2061720" y="2359080"/>
            <a:ext cx="2768387" cy="1769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証明書ベース </a:t>
            </a:r>
            <a:r>
              <a:rPr lang="en-US" altLang="ja-JP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  </a:t>
            </a:r>
            <a:r>
              <a:rPr lang="ja-JP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安全・</a:t>
            </a:r>
            <a:r>
              <a:rPr lang="en-US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1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不要・相互認証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フリーフォーム: 図形 235"/>
          <p:cNvSpPr/>
          <p:nvPr/>
        </p:nvSpPr>
        <p:spPr>
          <a:xfrm>
            <a:off x="847440" y="3372006"/>
            <a:ext cx="66960" cy="67320"/>
          </a:xfrm>
          <a:custGeom>
            <a:avLst/>
            <a:gdLst/>
            <a:ahLst/>
            <a:cxn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60"/>
                </a:cubicBezTo>
                <a:cubicBezTo>
                  <a:pt x="151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1" y="19"/>
                  <a:pt x="159" y="28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テキスト ボックス 236"/>
          <p:cNvSpPr txBox="1"/>
          <p:nvPr/>
        </p:nvSpPr>
        <p:spPr>
          <a:xfrm>
            <a:off x="666720" y="2708280"/>
            <a:ext cx="2762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81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証明書ベース認証の仕組み</a:t>
            </a:r>
            <a:endParaRPr lang="en-US" sz="1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フリーフォーム: 図形 237"/>
          <p:cNvSpPr/>
          <p:nvPr/>
        </p:nvSpPr>
        <p:spPr>
          <a:xfrm>
            <a:off x="847440" y="3676926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8" y="151"/>
                  <a:pt x="159" y="159"/>
                </a:cubicBezTo>
                <a:cubicBezTo>
                  <a:pt x="151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8"/>
                </a:cubicBezTo>
                <a:cubicBezTo>
                  <a:pt x="140" y="13"/>
                  <a:pt x="151" y="20"/>
                  <a:pt x="159" y="28"/>
                </a:cubicBezTo>
                <a:cubicBezTo>
                  <a:pt x="168" y="37"/>
                  <a:pt x="175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テキスト ボックス 238"/>
          <p:cNvSpPr txBox="1"/>
          <p:nvPr/>
        </p:nvSpPr>
        <p:spPr>
          <a:xfrm>
            <a:off x="1047600" y="3281646"/>
            <a:ext cx="3387146" cy="2231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各ノードに</a:t>
            </a:r>
            <a:r>
              <a:rPr lang="en-US" altLang="ja-JP" sz="14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X.509</a:t>
            </a:r>
            <a:r>
              <a:rPr lang="ja-JP" sz="14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</a:t>
            </a:r>
            <a:r>
              <a:rPr 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をインストール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フリーフォーム: 図形 239"/>
          <p:cNvSpPr/>
          <p:nvPr/>
        </p:nvSpPr>
        <p:spPr>
          <a:xfrm>
            <a:off x="847440" y="3981846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1" y="18"/>
                  <a:pt x="159" y="27"/>
                </a:cubicBezTo>
                <a:cubicBezTo>
                  <a:pt x="168" y="36"/>
                  <a:pt x="175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テキスト ボックス 240"/>
          <p:cNvSpPr txBox="1"/>
          <p:nvPr/>
        </p:nvSpPr>
        <p:spPr>
          <a:xfrm>
            <a:off x="1047600" y="3586566"/>
            <a:ext cx="2582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相互に証明書を信頼させる設定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フリーフォーム: 図形 241"/>
          <p:cNvSpPr/>
          <p:nvPr/>
        </p:nvSpPr>
        <p:spPr>
          <a:xfrm>
            <a:off x="847440" y="4286406"/>
            <a:ext cx="66960" cy="67320"/>
          </a:xfrm>
          <a:custGeom>
            <a:avLst/>
            <a:gdLst/>
            <a:ahLst/>
            <a:cxn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1" y="19"/>
                  <a:pt x="159" y="28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テキスト ボックス 242"/>
          <p:cNvSpPr txBox="1"/>
          <p:nvPr/>
        </p:nvSpPr>
        <p:spPr>
          <a:xfrm>
            <a:off x="1047600" y="3891126"/>
            <a:ext cx="29743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TLS</a:t>
            </a:r>
            <a:r>
              <a:rPr lang="ja-JP" sz="14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相互認証でノード間通信を保護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テキスト ボックス 243"/>
          <p:cNvSpPr txBox="1"/>
          <p:nvPr/>
        </p:nvSpPr>
        <p:spPr>
          <a:xfrm>
            <a:off x="1047600" y="4196046"/>
            <a:ext cx="3679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⾃⼰署名証明書または</a:t>
            </a:r>
            <a:r>
              <a:rPr lang="en-US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CA</a:t>
            </a:r>
            <a:r>
              <a:rPr 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発⾏証明書を使⽤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072FF80C-929C-07AA-95F9-C9F0E2190F23}"/>
              </a:ext>
            </a:extLst>
          </p:cNvPr>
          <p:cNvSpPr/>
          <p:nvPr/>
        </p:nvSpPr>
        <p:spPr>
          <a:xfrm>
            <a:off x="847440" y="3084270"/>
            <a:ext cx="66960" cy="67320"/>
          </a:xfrm>
          <a:custGeom>
            <a:avLst/>
            <a:gdLst/>
            <a:ahLst/>
            <a:cxn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8" y="151"/>
                  <a:pt x="159" y="160"/>
                </a:cubicBezTo>
                <a:cubicBezTo>
                  <a:pt x="151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1" y="19"/>
                  <a:pt x="159" y="28"/>
                </a:cubicBezTo>
                <a:cubicBezTo>
                  <a:pt x="168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1CE0EB-1F62-5BD2-5080-83A1493AC676}"/>
              </a:ext>
            </a:extLst>
          </p:cNvPr>
          <p:cNvSpPr txBox="1"/>
          <p:nvPr/>
        </p:nvSpPr>
        <p:spPr>
          <a:xfrm>
            <a:off x="1047600" y="2993910"/>
            <a:ext cx="5212966" cy="2231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各ノード</a:t>
            </a:r>
            <a:r>
              <a:rPr lang="ja-JP" altLang="en-US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へのローカルアカウント</a:t>
            </a:r>
            <a:r>
              <a:rPr lang="en-US" alt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(</a:t>
            </a:r>
            <a:r>
              <a:rPr lang="ja-JP" altLang="en-US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同一</a:t>
            </a:r>
            <a:r>
              <a:rPr lang="en-US" alt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ID</a:t>
            </a:r>
            <a:r>
              <a:rPr lang="ja-JP" altLang="en-US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、パスワード</a:t>
            </a:r>
            <a:r>
              <a:rPr lang="en-US" altLang="ja-JP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</a:t>
            </a:r>
            <a:r>
              <a:rPr lang="ja-JP" altLang="en-US" sz="14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の作成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フリーフォーム: 図形 2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フリーフォーム: 図形 2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フリーフォーム: 図形 2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テキスト ボックス 248"/>
          <p:cNvSpPr txBox="1"/>
          <p:nvPr/>
        </p:nvSpPr>
        <p:spPr>
          <a:xfrm>
            <a:off x="666720" y="639720"/>
            <a:ext cx="10251653" cy="389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3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Windows Server 2025</a:t>
            </a:r>
            <a:r>
              <a:rPr lang="ja-JP" sz="253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</a:t>
            </a:r>
            <a:r>
              <a:rPr lang="ja-JP" altLang="en-US" sz="253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ワークグループクラスターの</a:t>
            </a:r>
            <a:r>
              <a:rPr lang="ja-JP" sz="253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サポート範囲</a:t>
            </a:r>
            <a:endParaRPr lang="en-US" sz="2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フリーフォーム: 図形 249"/>
          <p:cNvSpPr/>
          <p:nvPr/>
        </p:nvSpPr>
        <p:spPr>
          <a:xfrm>
            <a:off x="695160" y="1752480"/>
            <a:ext cx="267120" cy="276480"/>
          </a:xfrm>
          <a:custGeom>
            <a:avLst/>
            <a:gdLst/>
            <a:ahLst/>
            <a:cxnLst/>
            <a:rect l="0" t="0" r="r" b="b"/>
            <a:pathLst>
              <a:path w="742" h="768">
                <a:moveTo>
                  <a:pt x="742" y="683"/>
                </a:moveTo>
                <a:cubicBezTo>
                  <a:pt x="742" y="730"/>
                  <a:pt x="705" y="768"/>
                  <a:pt x="658" y="768"/>
                </a:cubicBezTo>
                <a:lnTo>
                  <a:pt x="82" y="768"/>
                </a:lnTo>
                <a:cubicBezTo>
                  <a:pt x="37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7" y="0"/>
                  <a:pt x="82" y="0"/>
                </a:cubicBezTo>
                <a:lnTo>
                  <a:pt x="658" y="0"/>
                </a:lnTo>
                <a:cubicBezTo>
                  <a:pt x="705" y="0"/>
                  <a:pt x="742" y="38"/>
                  <a:pt x="742" y="85"/>
                </a:cubicBezTo>
                <a:lnTo>
                  <a:pt x="742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フリーフォーム: 図形 250"/>
          <p:cNvSpPr/>
          <p:nvPr/>
        </p:nvSpPr>
        <p:spPr>
          <a:xfrm>
            <a:off x="737640" y="1798200"/>
            <a:ext cx="183240" cy="186840"/>
          </a:xfrm>
          <a:custGeom>
            <a:avLst/>
            <a:gdLst/>
            <a:ahLst/>
            <a:cxnLst/>
            <a:rect l="0" t="0" r="r" b="b"/>
            <a:pathLst>
              <a:path w="509" h="519">
                <a:moveTo>
                  <a:pt x="487" y="9"/>
                </a:moveTo>
                <a:cubicBezTo>
                  <a:pt x="463" y="-7"/>
                  <a:pt x="431" y="0"/>
                  <a:pt x="415" y="25"/>
                </a:cubicBezTo>
                <a:lnTo>
                  <a:pt x="190" y="383"/>
                </a:lnTo>
                <a:lnTo>
                  <a:pt x="87" y="284"/>
                </a:lnTo>
                <a:cubicBezTo>
                  <a:pt x="66" y="264"/>
                  <a:pt x="33" y="265"/>
                  <a:pt x="14" y="287"/>
                </a:cubicBezTo>
                <a:cubicBezTo>
                  <a:pt x="-5" y="308"/>
                  <a:pt x="-4" y="342"/>
                  <a:pt x="17" y="362"/>
                </a:cubicBezTo>
                <a:lnTo>
                  <a:pt x="165" y="505"/>
                </a:lnTo>
                <a:cubicBezTo>
                  <a:pt x="175" y="514"/>
                  <a:pt x="188" y="519"/>
                  <a:pt x="200" y="519"/>
                </a:cubicBezTo>
                <a:cubicBezTo>
                  <a:pt x="214" y="519"/>
                  <a:pt x="232" y="513"/>
                  <a:pt x="244" y="495"/>
                </a:cubicBezTo>
                <a:cubicBezTo>
                  <a:pt x="251" y="484"/>
                  <a:pt x="502" y="83"/>
                  <a:pt x="502" y="83"/>
                </a:cubicBezTo>
                <a:cubicBezTo>
                  <a:pt x="517" y="58"/>
                  <a:pt x="510" y="25"/>
                  <a:pt x="48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テキスト ボックス 251"/>
          <p:cNvSpPr txBox="1"/>
          <p:nvPr/>
        </p:nvSpPr>
        <p:spPr>
          <a:xfrm>
            <a:off x="666720" y="1206720"/>
            <a:ext cx="35470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何ができて、何ができない︖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フリーフォーム: 図形 252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テキスト ボックス 253"/>
          <p:cNvSpPr txBox="1"/>
          <p:nvPr/>
        </p:nvSpPr>
        <p:spPr>
          <a:xfrm>
            <a:off x="979920" y="1711440"/>
            <a:ext cx="17280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2150" b="1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正式サポート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フリーフォーム: 図形 254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テキスト ボックス 255"/>
          <p:cNvSpPr txBox="1"/>
          <p:nvPr/>
        </p:nvSpPr>
        <p:spPr>
          <a:xfrm>
            <a:off x="1047600" y="2335320"/>
            <a:ext cx="5488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Hyper-V</a:t>
            </a:r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仮想マシン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（ライブマイグレーション含む）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テキスト ボックス 257"/>
          <p:cNvSpPr txBox="1"/>
          <p:nvPr/>
        </p:nvSpPr>
        <p:spPr>
          <a:xfrm>
            <a:off x="1047600" y="2706840"/>
            <a:ext cx="30258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Always On AG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フリーフォーム: 図形 258"/>
          <p:cNvSpPr/>
          <p:nvPr/>
        </p:nvSpPr>
        <p:spPr>
          <a:xfrm>
            <a:off x="828360" y="3990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テキスト ボックス 259"/>
          <p:cNvSpPr txBox="1"/>
          <p:nvPr/>
        </p:nvSpPr>
        <p:spPr>
          <a:xfrm>
            <a:off x="643034" y="3245040"/>
            <a:ext cx="9775112" cy="330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🔺</a:t>
            </a:r>
            <a:r>
              <a:rPr lang="en-US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2150" b="1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引き続き</a:t>
            </a:r>
            <a:r>
              <a:rPr lang="en-US" sz="2150" b="1" u="none" strike="sng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サポート</a:t>
            </a:r>
            <a:r>
              <a:rPr lang="ja-JP" altLang="en-US" sz="2150" b="1" strike="sngStrike" dirty="0">
                <a:solidFill>
                  <a:srgbClr val="455A64"/>
                </a:solidFill>
                <a:latin typeface="Meiryo"/>
                <a:ea typeface="Meiryo"/>
              </a:rPr>
              <a:t>はするが非推奨</a:t>
            </a:r>
            <a:r>
              <a:rPr lang="ja-JP" altLang="en-US" sz="2150" b="1" dirty="0">
                <a:solidFill>
                  <a:srgbClr val="455A64"/>
                </a:solidFill>
                <a:latin typeface="Meiryo"/>
                <a:ea typeface="Meiryo"/>
              </a:rPr>
              <a:t> </a:t>
            </a:r>
            <a:r>
              <a:rPr lang="en-US" altLang="ja-JP" sz="2150" b="1" dirty="0">
                <a:solidFill>
                  <a:srgbClr val="455A64"/>
                </a:solidFill>
                <a:latin typeface="Meiryo"/>
                <a:ea typeface="Meiryo"/>
              </a:rPr>
              <a:t>or </a:t>
            </a:r>
            <a:r>
              <a:rPr lang="ja-JP" altLang="en-US" sz="2150" b="1" dirty="0">
                <a:solidFill>
                  <a:srgbClr val="455A64"/>
                </a:solidFill>
                <a:latin typeface="Meiryo"/>
                <a:ea typeface="Meiryo"/>
              </a:rPr>
              <a:t>非サポート</a:t>
            </a:r>
            <a:r>
              <a:rPr lang="en-US" altLang="ja-JP" sz="2150" b="1" dirty="0">
                <a:solidFill>
                  <a:srgbClr val="455A64"/>
                </a:solidFill>
                <a:latin typeface="Meiryo"/>
                <a:ea typeface="Meiryo"/>
              </a:rPr>
              <a:t>(</a:t>
            </a:r>
            <a:r>
              <a:rPr lang="ja-JP" altLang="en-US" sz="2150" b="1" dirty="0">
                <a:solidFill>
                  <a:srgbClr val="455A64"/>
                </a:solidFill>
                <a:latin typeface="Meiryo"/>
                <a:ea typeface="Meiryo"/>
              </a:rPr>
              <a:t>ドキュメントに揺れあり</a:t>
            </a:r>
            <a:r>
              <a:rPr lang="en-US" altLang="ja-JP" sz="2150" b="1" dirty="0">
                <a:solidFill>
                  <a:srgbClr val="455A64"/>
                </a:solidFill>
                <a:latin typeface="Meiryo"/>
                <a:ea typeface="Meiryo"/>
              </a:rPr>
              <a:t>)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フリーフォーム: 図形 260"/>
          <p:cNvSpPr/>
          <p:nvPr/>
        </p:nvSpPr>
        <p:spPr>
          <a:xfrm>
            <a:off x="1228680" y="4343040"/>
            <a:ext cx="66960" cy="67320"/>
          </a:xfrm>
          <a:custGeom>
            <a:avLst/>
            <a:gdLst/>
            <a:ahLst/>
            <a:cxn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3" y="118"/>
                  <a:pt x="179" y="130"/>
                </a:cubicBezTo>
                <a:cubicBezTo>
                  <a:pt x="174" y="141"/>
                  <a:pt x="167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7" y="184"/>
                  <a:pt x="106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6" y="0"/>
                  <a:pt x="117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7" y="36"/>
                  <a:pt x="174" y="46"/>
                  <a:pt x="179" y="59"/>
                </a:cubicBezTo>
                <a:cubicBezTo>
                  <a:pt x="183" y="70"/>
                  <a:pt x="186" y="82"/>
                  <a:pt x="186" y="94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テキスト ボックス 261"/>
          <p:cNvSpPr txBox="1"/>
          <p:nvPr/>
        </p:nvSpPr>
        <p:spPr>
          <a:xfrm>
            <a:off x="1047600" y="3868920"/>
            <a:ext cx="17809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フリーフォーム: 図形 262"/>
          <p:cNvSpPr/>
          <p:nvPr/>
        </p:nvSpPr>
        <p:spPr>
          <a:xfrm>
            <a:off x="1228680" y="4676760"/>
            <a:ext cx="66960" cy="66960"/>
          </a:xfrm>
          <a:custGeom>
            <a:avLst/>
            <a:gdLst/>
            <a:ahLst/>
            <a:cxn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3" y="117"/>
                  <a:pt x="179" y="129"/>
                </a:cubicBezTo>
                <a:cubicBezTo>
                  <a:pt x="174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3"/>
                  <a:pt x="106" y="186"/>
                  <a:pt x="93" y="186"/>
                </a:cubicBezTo>
                <a:cubicBezTo>
                  <a:pt x="81" y="186"/>
                  <a:pt x="69" y="183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6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5"/>
                  <a:pt x="174" y="45"/>
                  <a:pt x="179" y="58"/>
                </a:cubicBezTo>
                <a:cubicBezTo>
                  <a:pt x="183" y="69"/>
                  <a:pt x="186" y="81"/>
                  <a:pt x="186" y="93"/>
                </a:cubicBezTo>
                <a:close/>
              </a:path>
            </a:pathLst>
          </a:custGeom>
          <a:noFill/>
          <a:ln w="9360">
            <a:solidFill>
              <a:srgbClr val="455A64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テキスト ボックス 263"/>
          <p:cNvSpPr txBox="1"/>
          <p:nvPr/>
        </p:nvSpPr>
        <p:spPr>
          <a:xfrm>
            <a:off x="1428840" y="4226040"/>
            <a:ext cx="254340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Kerberos</a:t>
            </a:r>
            <a:r>
              <a:rPr lang="ja-JP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認証が必要なため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フリーフォーム: 図形 264"/>
          <p:cNvSpPr/>
          <p:nvPr/>
        </p:nvSpPr>
        <p:spPr>
          <a:xfrm>
            <a:off x="828360" y="5481492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テキスト ボックス 265"/>
          <p:cNvSpPr txBox="1"/>
          <p:nvPr/>
        </p:nvSpPr>
        <p:spPr>
          <a:xfrm>
            <a:off x="1428840" y="4559400"/>
            <a:ext cx="2226240" cy="30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NTLM</a:t>
            </a:r>
            <a:r>
              <a:rPr lang="ja-JP" sz="158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廃⽌の流れもあり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テキスト ボックス 266"/>
          <p:cNvSpPr txBox="1"/>
          <p:nvPr/>
        </p:nvSpPr>
        <p:spPr>
          <a:xfrm>
            <a:off x="1047600" y="5359812"/>
            <a:ext cx="6215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SQL Server FCI (</a:t>
            </a:r>
            <a:r>
              <a:rPr lang="ja-JP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フェールオーバークラスタインスタンス</a:t>
            </a:r>
            <a:r>
              <a:rPr lang="en-US" sz="17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)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FABA4B39-A917-933D-6658-287E2C6468F4}"/>
              </a:ext>
            </a:extLst>
          </p:cNvPr>
          <p:cNvSpPr/>
          <p:nvPr/>
        </p:nvSpPr>
        <p:spPr>
          <a:xfrm>
            <a:off x="705960" y="4996904"/>
            <a:ext cx="245160" cy="245160"/>
          </a:xfrm>
          <a:custGeom>
            <a:avLst/>
            <a:gdLst/>
            <a:ahLst/>
            <a:cxnLst/>
            <a:rect l="0" t="0" r="r" b="b"/>
            <a:pathLst>
              <a:path w="681" h="681">
                <a:moveTo>
                  <a:pt x="413" y="341"/>
                </a:moveTo>
                <a:lnTo>
                  <a:pt x="666" y="89"/>
                </a:lnTo>
                <a:cubicBezTo>
                  <a:pt x="686" y="69"/>
                  <a:pt x="686" y="37"/>
                  <a:pt x="666" y="17"/>
                </a:cubicBezTo>
                <a:cubicBezTo>
                  <a:pt x="646" y="-5"/>
                  <a:pt x="613" y="-5"/>
                  <a:pt x="593" y="17"/>
                </a:cubicBezTo>
                <a:lnTo>
                  <a:pt x="340" y="268"/>
                </a:lnTo>
                <a:lnTo>
                  <a:pt x="89" y="17"/>
                </a:lnTo>
                <a:cubicBezTo>
                  <a:pt x="68" y="-5"/>
                  <a:pt x="36" y="-5"/>
                  <a:pt x="16" y="17"/>
                </a:cubicBezTo>
                <a:cubicBezTo>
                  <a:pt x="-4" y="37"/>
                  <a:pt x="-4" y="69"/>
                  <a:pt x="16" y="89"/>
                </a:cubicBezTo>
                <a:lnTo>
                  <a:pt x="268" y="341"/>
                </a:lnTo>
                <a:lnTo>
                  <a:pt x="15" y="593"/>
                </a:lnTo>
                <a:cubicBezTo>
                  <a:pt x="-5" y="614"/>
                  <a:pt x="-5" y="646"/>
                  <a:pt x="15" y="666"/>
                </a:cubicBezTo>
                <a:cubicBezTo>
                  <a:pt x="25" y="676"/>
                  <a:pt x="38" y="681"/>
                  <a:pt x="52" y="681"/>
                </a:cubicBezTo>
                <a:cubicBezTo>
                  <a:pt x="65" y="681"/>
                  <a:pt x="78" y="676"/>
                  <a:pt x="88" y="666"/>
                </a:cubicBezTo>
                <a:lnTo>
                  <a:pt x="340" y="414"/>
                </a:lnTo>
                <a:lnTo>
                  <a:pt x="593" y="666"/>
                </a:lnTo>
                <a:cubicBezTo>
                  <a:pt x="603" y="676"/>
                  <a:pt x="616" y="681"/>
                  <a:pt x="629" y="681"/>
                </a:cubicBezTo>
                <a:cubicBezTo>
                  <a:pt x="643" y="681"/>
                  <a:pt x="656" y="676"/>
                  <a:pt x="666" y="666"/>
                </a:cubicBezTo>
                <a:cubicBezTo>
                  <a:pt x="686" y="645"/>
                  <a:pt x="686" y="613"/>
                  <a:pt x="666" y="593"/>
                </a:cubicBezTo>
                <a:lnTo>
                  <a:pt x="413" y="341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CD6BDA-90C7-9DDD-6DDA-6AB77C841879}"/>
              </a:ext>
            </a:extLst>
          </p:cNvPr>
          <p:cNvSpPr txBox="1"/>
          <p:nvPr/>
        </p:nvSpPr>
        <p:spPr>
          <a:xfrm>
            <a:off x="979920" y="4945064"/>
            <a:ext cx="2572820" cy="330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</a:t>
            </a:r>
            <a:r>
              <a:rPr lang="en-US" sz="2150" b="1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引き続き</a:t>
            </a:r>
            <a:r>
              <a:rPr lang="ja-JP" altLang="en-US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非</a:t>
            </a:r>
            <a:r>
              <a:rPr lang="en-US" sz="2150" b="1" u="none" strike="noStrike" dirty="0" err="1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サポート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318A46-CB8F-A8CD-75EF-1052775436F6}"/>
              </a:ext>
            </a:extLst>
          </p:cNvPr>
          <p:cNvSpPr txBox="1"/>
          <p:nvPr/>
        </p:nvSpPr>
        <p:spPr>
          <a:xfrm>
            <a:off x="767160" y="5878663"/>
            <a:ext cx="10655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1" dirty="0">
                <a:solidFill>
                  <a:srgbClr val="455A64"/>
                </a:solidFill>
                <a:latin typeface="Meiryo"/>
                <a:ea typeface="Meiryo"/>
              </a:rPr>
              <a:t>参考：</a:t>
            </a:r>
            <a:r>
              <a:rPr lang="en-US" sz="1400" b="1" dirty="0">
                <a:solidFill>
                  <a:srgbClr val="455A64"/>
                </a:solidFill>
                <a:latin typeface="Meiryo"/>
                <a:ea typeface="Meiryo"/>
              </a:rPr>
              <a:t>Windows Server </a:t>
            </a:r>
            <a:r>
              <a:rPr lang="en-US" sz="1400" b="1" dirty="0" err="1">
                <a:solidFill>
                  <a:srgbClr val="455A64"/>
                </a:solidFill>
                <a:latin typeface="Meiryo"/>
                <a:ea typeface="Meiryo"/>
              </a:rPr>
              <a:t>でワークグループ</a:t>
            </a:r>
            <a:r>
              <a:rPr lang="en-US" sz="1400" b="1" dirty="0">
                <a:solidFill>
                  <a:srgbClr val="455A64"/>
                </a:solidFill>
                <a:latin typeface="Meiryo"/>
                <a:ea typeface="Meiryo"/>
              </a:rPr>
              <a:t> </a:t>
            </a:r>
            <a:r>
              <a:rPr lang="en-US" sz="1400" b="1" dirty="0" err="1">
                <a:solidFill>
                  <a:srgbClr val="455A64"/>
                </a:solidFill>
                <a:latin typeface="Meiryo"/>
                <a:ea typeface="Meiryo"/>
              </a:rPr>
              <a:t>クラスターを作成する</a:t>
            </a:r>
            <a:r>
              <a:rPr lang="en-US" sz="1400" b="1" dirty="0">
                <a:solidFill>
                  <a:srgbClr val="455A64"/>
                </a:solidFill>
                <a:latin typeface="Meiryo"/>
                <a:ea typeface="Meiryo"/>
              </a:rPr>
              <a:t> | Microsoft Learn </a:t>
            </a:r>
            <a:r>
              <a:rPr lang="en-US" sz="1400" b="1" dirty="0">
                <a:solidFill>
                  <a:srgbClr val="455A64"/>
                </a:solidFill>
                <a:latin typeface="Meiryo"/>
                <a:ea typeface="Meiry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https://learn.microsoft.com/ja-jp/windows-server/failover-clustering/create-workgroup-cluster?tabs=desktop#cluster-workloads</a:t>
            </a:r>
            <a:endParaRPr lang="en-US" sz="1400" b="1" dirty="0">
              <a:solidFill>
                <a:srgbClr val="455A64"/>
              </a:solidFill>
              <a:latin typeface="Meiryo"/>
              <a:ea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フリーフォーム: 図形 2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フリーフォーム: 図形 2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フリーフォーム: 図形 270"/>
          <p:cNvSpPr/>
          <p:nvPr/>
        </p:nvSpPr>
        <p:spPr>
          <a:xfrm>
            <a:off x="0" y="1386038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テキスト ボックス 271"/>
          <p:cNvSpPr txBox="1"/>
          <p:nvPr/>
        </p:nvSpPr>
        <p:spPr>
          <a:xfrm>
            <a:off x="666720" y="639720"/>
            <a:ext cx="436572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</a:t>
            </a:r>
            <a:r>
              <a:rPr lang="en-US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レス構成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テキスト ボックス 272"/>
          <p:cNvSpPr txBox="1"/>
          <p:nvPr/>
        </p:nvSpPr>
        <p:spPr>
          <a:xfrm>
            <a:off x="666720" y="1206720"/>
            <a:ext cx="32742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クラウド統合でさらに進化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テキスト ボックス 274"/>
          <p:cNvSpPr txBox="1"/>
          <p:nvPr/>
        </p:nvSpPr>
        <p:spPr>
          <a:xfrm>
            <a:off x="666720" y="3097478"/>
            <a:ext cx="11300016" cy="4308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altLang="ja-JP" sz="28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Windows Server</a:t>
            </a:r>
            <a:r>
              <a:rPr lang="ja-JP" altLang="en-US" sz="28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のワークグループクラスター </a:t>
            </a:r>
            <a:r>
              <a:rPr lang="en-US" altLang="ja-JP" sz="28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+ Azure Key Vault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621BEB-B782-DC84-DE25-79AF9F6809BE}"/>
              </a:ext>
            </a:extLst>
          </p:cNvPr>
          <p:cNvSpPr txBox="1"/>
          <p:nvPr/>
        </p:nvSpPr>
        <p:spPr>
          <a:xfrm>
            <a:off x="666720" y="4055954"/>
            <a:ext cx="4180632" cy="330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150" b="1" dirty="0">
                <a:solidFill>
                  <a:srgbClr val="455A64"/>
                </a:solidFill>
                <a:latin typeface="Meiryo"/>
                <a:ea typeface="Meiryo"/>
              </a:rPr>
              <a:t>後半パートで</a:t>
            </a:r>
            <a:r>
              <a:rPr lang="en-US" altLang="ja-JP" sz="2150" b="1" dirty="0">
                <a:solidFill>
                  <a:srgbClr val="455A64"/>
                </a:solidFill>
                <a:latin typeface="Meiryo"/>
                <a:ea typeface="Meiryo"/>
              </a:rPr>
              <a:t>MKI</a:t>
            </a:r>
            <a:r>
              <a:rPr lang="ja-JP" altLang="en-US" sz="2150" b="1" dirty="0">
                <a:solidFill>
                  <a:srgbClr val="455A64"/>
                </a:solidFill>
                <a:latin typeface="Meiryo"/>
                <a:ea typeface="Meiryo"/>
              </a:rPr>
              <a:t>松本さんから！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フリーフォーム: 図形 2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フリーフォーム: 図形 2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フリーフォーム: 図形 2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テキスト ボックス 293"/>
          <p:cNvSpPr txBox="1"/>
          <p:nvPr/>
        </p:nvSpPr>
        <p:spPr>
          <a:xfrm>
            <a:off x="666720" y="639720"/>
            <a:ext cx="3885679" cy="3893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530" b="1" dirty="0">
                <a:solidFill>
                  <a:srgbClr val="0078D4"/>
                </a:solidFill>
                <a:latin typeface="Meiryo"/>
                <a:ea typeface="Meiryo"/>
              </a:rPr>
              <a:t>背景にある</a:t>
            </a:r>
            <a:r>
              <a:rPr lang="ja-JP" sz="253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管理機能の強化</a:t>
            </a:r>
            <a:endParaRPr lang="en-US" sz="2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フリーフォーム: 図形 308"/>
          <p:cNvSpPr/>
          <p:nvPr/>
        </p:nvSpPr>
        <p:spPr>
          <a:xfrm>
            <a:off x="828360" y="2209137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テキスト ボックス 309"/>
          <p:cNvSpPr txBox="1"/>
          <p:nvPr/>
        </p:nvSpPr>
        <p:spPr>
          <a:xfrm>
            <a:off x="666720" y="1463577"/>
            <a:ext cx="20376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Arc</a:t>
            </a:r>
            <a:r>
              <a:rPr lang="ja-JP" sz="215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連携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フリーフォーム: 図形 310"/>
          <p:cNvSpPr/>
          <p:nvPr/>
        </p:nvSpPr>
        <p:spPr>
          <a:xfrm>
            <a:off x="828360" y="2580657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テキスト ボックス 311"/>
          <p:cNvSpPr txBox="1"/>
          <p:nvPr/>
        </p:nvSpPr>
        <p:spPr>
          <a:xfrm>
            <a:off x="1047600" y="2087457"/>
            <a:ext cx="33382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ドメインレスでも集中管理が可能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テキスト ボックス 312"/>
          <p:cNvSpPr txBox="1"/>
          <p:nvPr/>
        </p:nvSpPr>
        <p:spPr>
          <a:xfrm>
            <a:off x="1047600" y="2458977"/>
            <a:ext cx="46731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ポリシー適⽤・監視・タグ付けをクラウドから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D108E9-BCA6-57BD-6DBB-D5B4059F3B69}"/>
              </a:ext>
            </a:extLst>
          </p:cNvPr>
          <p:cNvSpPr txBox="1"/>
          <p:nvPr/>
        </p:nvSpPr>
        <p:spPr>
          <a:xfrm>
            <a:off x="666720" y="3955588"/>
            <a:ext cx="6617196" cy="330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2150" b="1" dirty="0">
                <a:solidFill>
                  <a:srgbClr val="455A64"/>
                </a:solidFill>
                <a:latin typeface="Meiryo"/>
                <a:ea typeface="Meiryo"/>
              </a:rPr>
              <a:t>ただし、超推されているわけでもないので注意が必要</a:t>
            </a:r>
            <a:endParaRPr lang="en-US" sz="21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テキスト ボックス 374"/>
          <p:cNvSpPr txBox="1"/>
          <p:nvPr/>
        </p:nvSpPr>
        <p:spPr>
          <a:xfrm>
            <a:off x="666720" y="629640"/>
            <a:ext cx="9478557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360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が担っていた役割</a:t>
            </a:r>
            <a:r>
              <a:rPr lang="ja-JP" altLang="en-US" sz="3600" b="1" dirty="0">
                <a:solidFill>
                  <a:srgbClr val="0078D4"/>
                </a:solidFill>
                <a:latin typeface="Meiryo"/>
                <a:ea typeface="Meiryo"/>
              </a:rPr>
              <a:t>とその代替え</a:t>
            </a:r>
            <a:r>
              <a:rPr lang="ja-JP" sz="360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（まとめ）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テキスト ボックス 375"/>
          <p:cNvSpPr txBox="1"/>
          <p:nvPr/>
        </p:nvSpPr>
        <p:spPr>
          <a:xfrm>
            <a:off x="666720" y="1456560"/>
            <a:ext cx="7392088" cy="960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Active Directory</a:t>
            </a:r>
            <a:r>
              <a:rPr lang="ja-JP" sz="31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は何をしていたのか︖</a:t>
            </a:r>
            <a:endParaRPr lang="en-US" altLang="ja-JP" sz="3120" b="1" u="none" strike="noStrike" dirty="0">
              <a:solidFill>
                <a:srgbClr val="0078D4"/>
              </a:solidFill>
              <a:effectLst/>
              <a:uFillTx/>
              <a:latin typeface="Meiryo"/>
              <a:ea typeface="Meiryo"/>
            </a:endParaRPr>
          </a:p>
          <a:p>
            <a:r>
              <a:rPr lang="ja-JP" altLang="en-US" sz="31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その役割をどう置き換えるか？</a:t>
            </a:r>
            <a:endParaRPr lang="en-US" altLang="ja-JP" sz="3120" b="1" u="none" strike="noStrike" dirty="0">
              <a:solidFill>
                <a:srgbClr val="0078D4"/>
              </a:solidFill>
              <a:effectLst/>
              <a:uFillTx/>
              <a:latin typeface="Meiryo"/>
              <a:ea typeface="Meiryo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669790C-00BE-B17D-FBCD-8D80FDAB7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88868"/>
              </p:ext>
            </p:extLst>
          </p:nvPr>
        </p:nvGraphicFramePr>
        <p:xfrm>
          <a:off x="666720" y="2922859"/>
          <a:ext cx="10858560" cy="276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32101">
                  <a:extLst>
                    <a:ext uri="{9D8B030D-6E8A-4147-A177-3AD203B41FA5}">
                      <a16:colId xmlns:a16="http://schemas.microsoft.com/office/drawing/2014/main" val="2719765583"/>
                    </a:ext>
                  </a:extLst>
                </a:gridCol>
                <a:gridCol w="5306939">
                  <a:extLst>
                    <a:ext uri="{9D8B030D-6E8A-4147-A177-3AD203B41FA5}">
                      <a16:colId xmlns:a16="http://schemas.microsoft.com/office/drawing/2014/main" val="571886591"/>
                    </a:ext>
                  </a:extLst>
                </a:gridCol>
                <a:gridCol w="3619520">
                  <a:extLst>
                    <a:ext uri="{9D8B030D-6E8A-4147-A177-3AD203B41FA5}">
                      <a16:colId xmlns:a16="http://schemas.microsoft.com/office/drawing/2014/main" val="2655161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役割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内容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AD</a:t>
                      </a:r>
                      <a:r>
                        <a:rPr lang="ja-JP" altLang="en-US" dirty="0"/>
                        <a:t>レス環境での代替え手段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14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ID</a:t>
                      </a:r>
                      <a:r>
                        <a:rPr lang="ja-JP" altLang="en-US" dirty="0"/>
                        <a:t>管理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CNO/VCO</a:t>
                      </a:r>
                      <a:r>
                        <a:rPr lang="ja-JP" altLang="en-US" dirty="0"/>
                        <a:t>でクラスター名・役割名を管理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ローカルアカウント </a:t>
                      </a:r>
                      <a:r>
                        <a:rPr lang="en-US" altLang="ja-JP" dirty="0"/>
                        <a:t>/ DNS</a:t>
                      </a:r>
                      <a:r>
                        <a:rPr lang="ja-JP" altLang="en-US" dirty="0"/>
                        <a:t>で管理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30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ja-JP" altLang="en-US" dirty="0"/>
                        <a:t>認証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Kerberos</a:t>
                      </a:r>
                      <a:r>
                        <a:rPr lang="ja-JP" altLang="en-US" dirty="0"/>
                        <a:t>でノード間・クライアント認証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証明書ベース認証</a:t>
                      </a:r>
                      <a:r>
                        <a:rPr lang="en-US" altLang="ja-JP" dirty="0"/>
                        <a:t>(2025</a:t>
                      </a:r>
                      <a:r>
                        <a:rPr lang="ja-JP" altLang="en-US" dirty="0"/>
                        <a:t>～</a:t>
                      </a:r>
                      <a:r>
                        <a:rPr lang="en-US" altLang="ja-JP" dirty="0"/>
                        <a:t>) / NTLM (※</a:t>
                      </a:r>
                      <a:r>
                        <a:rPr lang="ja-JP" altLang="en-US" dirty="0"/>
                        <a:t>廃止の方向</a:t>
                      </a:r>
                      <a:r>
                        <a:rPr lang="en-US" altLang="ja-JP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2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 </a:t>
                      </a:r>
                      <a:r>
                        <a:rPr lang="en-US" altLang="ja-JP" dirty="0"/>
                        <a:t>DNS</a:t>
                      </a:r>
                      <a:r>
                        <a:rPr lang="ja-JP" altLang="en-US" dirty="0"/>
                        <a:t>連携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動的</a:t>
                      </a:r>
                      <a:r>
                        <a:rPr lang="en-US" altLang="ja-JP" dirty="0"/>
                        <a:t>DNS</a:t>
                      </a:r>
                      <a:r>
                        <a:rPr lang="ja-JP" altLang="en-US" dirty="0"/>
                        <a:t>更新で名前解決を自動化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手動登録 </a:t>
                      </a:r>
                      <a:r>
                        <a:rPr lang="en-US" altLang="ja-JP" dirty="0"/>
                        <a:t>/ </a:t>
                      </a:r>
                      <a:r>
                        <a:rPr lang="ja-JP" altLang="en-US" dirty="0"/>
                        <a:t>スクリプト </a:t>
                      </a:r>
                      <a:r>
                        <a:rPr lang="en-US" altLang="ja-JP" dirty="0"/>
                        <a:t>/</a:t>
                      </a:r>
                      <a:r>
                        <a:rPr lang="ja-JP" altLang="en-US" dirty="0"/>
                        <a:t>その他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638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4. </a:t>
                      </a:r>
                      <a:r>
                        <a:rPr lang="ja-JP" altLang="en-US" dirty="0"/>
                        <a:t>権限管理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ドメインアカウント、グループでアクセス制御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ローカルセキュリティ設定等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51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5. </a:t>
                      </a:r>
                      <a:r>
                        <a:rPr lang="ja-JP" altLang="en-US" dirty="0"/>
                        <a:t>管理性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GPO, </a:t>
                      </a:r>
                      <a:r>
                        <a:rPr lang="ja-JP" altLang="en-US" dirty="0"/>
                        <a:t>一元管理による運用の簡素化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スクリプト </a:t>
                      </a:r>
                      <a:r>
                        <a:rPr lang="en-US" altLang="ja-JP" dirty="0"/>
                        <a:t>/ Azure Arc / Azure Policy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697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フリーフォーム: 図形 4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フリーフォーム: 図形 4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フリーフォーム: 図形 4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テキスト ボックス 468"/>
          <p:cNvSpPr txBox="1"/>
          <p:nvPr/>
        </p:nvSpPr>
        <p:spPr>
          <a:xfrm>
            <a:off x="666720" y="639720"/>
            <a:ext cx="3216240" cy="48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3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メリット・デメリット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フリーフォーム: 図形 469"/>
          <p:cNvSpPr/>
          <p:nvPr/>
        </p:nvSpPr>
        <p:spPr>
          <a:xfrm>
            <a:off x="695160" y="1752480"/>
            <a:ext cx="267120" cy="276480"/>
          </a:xfrm>
          <a:custGeom>
            <a:avLst/>
            <a:gdLst/>
            <a:ahLst/>
            <a:cxnLst/>
            <a:rect l="0" t="0" r="r" b="b"/>
            <a:pathLst>
              <a:path w="742" h="768">
                <a:moveTo>
                  <a:pt x="742" y="683"/>
                </a:moveTo>
                <a:cubicBezTo>
                  <a:pt x="742" y="730"/>
                  <a:pt x="705" y="768"/>
                  <a:pt x="658" y="768"/>
                </a:cubicBezTo>
                <a:lnTo>
                  <a:pt x="82" y="768"/>
                </a:lnTo>
                <a:cubicBezTo>
                  <a:pt x="37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7" y="0"/>
                  <a:pt x="82" y="0"/>
                </a:cubicBezTo>
                <a:lnTo>
                  <a:pt x="658" y="0"/>
                </a:lnTo>
                <a:cubicBezTo>
                  <a:pt x="705" y="0"/>
                  <a:pt x="742" y="38"/>
                  <a:pt x="742" y="85"/>
                </a:cubicBezTo>
                <a:lnTo>
                  <a:pt x="742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フリーフォーム: 図形 470"/>
          <p:cNvSpPr/>
          <p:nvPr/>
        </p:nvSpPr>
        <p:spPr>
          <a:xfrm>
            <a:off x="737640" y="1798200"/>
            <a:ext cx="183240" cy="186840"/>
          </a:xfrm>
          <a:custGeom>
            <a:avLst/>
            <a:gdLst/>
            <a:ahLst/>
            <a:cxnLst/>
            <a:rect l="0" t="0" r="r" b="b"/>
            <a:pathLst>
              <a:path w="509" h="519">
                <a:moveTo>
                  <a:pt x="487" y="9"/>
                </a:moveTo>
                <a:cubicBezTo>
                  <a:pt x="463" y="-7"/>
                  <a:pt x="431" y="0"/>
                  <a:pt x="415" y="25"/>
                </a:cubicBezTo>
                <a:lnTo>
                  <a:pt x="190" y="383"/>
                </a:lnTo>
                <a:lnTo>
                  <a:pt x="87" y="284"/>
                </a:lnTo>
                <a:cubicBezTo>
                  <a:pt x="66" y="264"/>
                  <a:pt x="33" y="265"/>
                  <a:pt x="14" y="287"/>
                </a:cubicBezTo>
                <a:cubicBezTo>
                  <a:pt x="-5" y="308"/>
                  <a:pt x="-4" y="342"/>
                  <a:pt x="17" y="362"/>
                </a:cubicBezTo>
                <a:lnTo>
                  <a:pt x="165" y="505"/>
                </a:lnTo>
                <a:cubicBezTo>
                  <a:pt x="175" y="514"/>
                  <a:pt x="188" y="519"/>
                  <a:pt x="200" y="519"/>
                </a:cubicBezTo>
                <a:cubicBezTo>
                  <a:pt x="214" y="519"/>
                  <a:pt x="232" y="513"/>
                  <a:pt x="244" y="495"/>
                </a:cubicBezTo>
                <a:cubicBezTo>
                  <a:pt x="251" y="484"/>
                  <a:pt x="502" y="83"/>
                  <a:pt x="502" y="83"/>
                </a:cubicBezTo>
                <a:cubicBezTo>
                  <a:pt x="517" y="58"/>
                  <a:pt x="510" y="25"/>
                  <a:pt x="48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テキスト ボックス 471"/>
          <p:cNvSpPr txBox="1"/>
          <p:nvPr/>
        </p:nvSpPr>
        <p:spPr>
          <a:xfrm>
            <a:off x="666720" y="1206720"/>
            <a:ext cx="240948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215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レス構成の評価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フリーフォーム: 図形 472"/>
          <p:cNvSpPr/>
          <p:nvPr/>
        </p:nvSpPr>
        <p:spPr>
          <a:xfrm>
            <a:off x="828360" y="2457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テキスト ボックス 473"/>
          <p:cNvSpPr txBox="1"/>
          <p:nvPr/>
        </p:nvSpPr>
        <p:spPr>
          <a:xfrm>
            <a:off x="979920" y="1711440"/>
            <a:ext cx="118260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メリット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フリーフォーム: 図形 474"/>
          <p:cNvSpPr/>
          <p:nvPr/>
        </p:nvSpPr>
        <p:spPr>
          <a:xfrm>
            <a:off x="828360" y="2828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テキスト ボックス 475"/>
          <p:cNvSpPr txBox="1"/>
          <p:nvPr/>
        </p:nvSpPr>
        <p:spPr>
          <a:xfrm>
            <a:off x="1047600" y="2335320"/>
            <a:ext cx="48956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ドメインコントローラーの構築・維持コスト削減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フリーフォーム: 図形 476"/>
          <p:cNvSpPr/>
          <p:nvPr/>
        </p:nvSpPr>
        <p:spPr>
          <a:xfrm>
            <a:off x="82836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テキスト ボックス 477"/>
          <p:cNvSpPr txBox="1"/>
          <p:nvPr/>
        </p:nvSpPr>
        <p:spPr>
          <a:xfrm>
            <a:off x="1047600" y="2706840"/>
            <a:ext cx="35607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⼩規模・エッジ環境での迅速な展開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フリーフォーム: 図形 478"/>
          <p:cNvSpPr/>
          <p:nvPr/>
        </p:nvSpPr>
        <p:spPr>
          <a:xfrm>
            <a:off x="699120" y="3653640"/>
            <a:ext cx="259560" cy="263160"/>
          </a:xfrm>
          <a:custGeom>
            <a:avLst/>
            <a:gdLst/>
            <a:ahLst/>
            <a:cxnLst/>
            <a:rect l="0" t="0" r="r" b="b"/>
            <a:pathLst>
              <a:path w="721" h="731">
                <a:moveTo>
                  <a:pt x="45" y="731"/>
                </a:moveTo>
                <a:cubicBezTo>
                  <a:pt x="7" y="731"/>
                  <a:pt x="-10" y="703"/>
                  <a:pt x="7" y="668"/>
                </a:cubicBezTo>
                <a:lnTo>
                  <a:pt x="329" y="26"/>
                </a:lnTo>
                <a:cubicBezTo>
                  <a:pt x="346" y="-9"/>
                  <a:pt x="375" y="-9"/>
                  <a:pt x="392" y="26"/>
                </a:cubicBezTo>
                <a:lnTo>
                  <a:pt x="714" y="668"/>
                </a:lnTo>
                <a:cubicBezTo>
                  <a:pt x="732" y="703"/>
                  <a:pt x="715" y="731"/>
                  <a:pt x="677" y="731"/>
                </a:cubicBezTo>
                <a:lnTo>
                  <a:pt x="45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フリーフォーム: 図形 479"/>
          <p:cNvSpPr/>
          <p:nvPr/>
        </p:nvSpPr>
        <p:spPr>
          <a:xfrm>
            <a:off x="810720" y="3713400"/>
            <a:ext cx="36000" cy="175680"/>
          </a:xfrm>
          <a:custGeom>
            <a:avLst/>
            <a:gdLst/>
            <a:ahLst/>
            <a:cxnLst/>
            <a:rect l="0" t="0" r="r" b="b"/>
            <a:pathLst>
              <a:path w="100" h="488">
                <a:moveTo>
                  <a:pt x="0" y="436"/>
                </a:moveTo>
                <a:cubicBezTo>
                  <a:pt x="0" y="408"/>
                  <a:pt x="22" y="385"/>
                  <a:pt x="49" y="385"/>
                </a:cubicBezTo>
                <a:cubicBezTo>
                  <a:pt x="78" y="385"/>
                  <a:pt x="100" y="408"/>
                  <a:pt x="100" y="436"/>
                </a:cubicBezTo>
                <a:cubicBezTo>
                  <a:pt x="100" y="465"/>
                  <a:pt x="78" y="488"/>
                  <a:pt x="49" y="488"/>
                </a:cubicBezTo>
                <a:cubicBezTo>
                  <a:pt x="22" y="488"/>
                  <a:pt x="0" y="465"/>
                  <a:pt x="0" y="436"/>
                </a:cubicBezTo>
                <a:moveTo>
                  <a:pt x="3" y="45"/>
                </a:moveTo>
                <a:cubicBezTo>
                  <a:pt x="3" y="17"/>
                  <a:pt x="23" y="0"/>
                  <a:pt x="49" y="0"/>
                </a:cubicBezTo>
                <a:cubicBezTo>
                  <a:pt x="76" y="0"/>
                  <a:pt x="96" y="18"/>
                  <a:pt x="96" y="45"/>
                </a:cubicBezTo>
                <a:lnTo>
                  <a:pt x="96" y="301"/>
                </a:lnTo>
                <a:cubicBezTo>
                  <a:pt x="96" y="328"/>
                  <a:pt x="76" y="346"/>
                  <a:pt x="49" y="346"/>
                </a:cubicBezTo>
                <a:cubicBezTo>
                  <a:pt x="23" y="346"/>
                  <a:pt x="3" y="328"/>
                  <a:pt x="3" y="301"/>
                </a:cubicBezTo>
                <a:lnTo>
                  <a:pt x="3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テキスト ボックス 480"/>
          <p:cNvSpPr txBox="1"/>
          <p:nvPr/>
        </p:nvSpPr>
        <p:spPr>
          <a:xfrm>
            <a:off x="1047600" y="3078360"/>
            <a:ext cx="22258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インフラのシンプル化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フリーフォーム: 図形 481"/>
          <p:cNvSpPr/>
          <p:nvPr/>
        </p:nvSpPr>
        <p:spPr>
          <a:xfrm>
            <a:off x="828360" y="4362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0" y="213"/>
                  <a:pt x="106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テキスト ボックス 482"/>
          <p:cNvSpPr txBox="1"/>
          <p:nvPr/>
        </p:nvSpPr>
        <p:spPr>
          <a:xfrm>
            <a:off x="979920" y="3606840"/>
            <a:ext cx="1455120" cy="41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5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デメリット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フリーフォーム: 図形 483"/>
          <p:cNvSpPr/>
          <p:nvPr/>
        </p:nvSpPr>
        <p:spPr>
          <a:xfrm>
            <a:off x="828360" y="4724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cubicBezTo>
                  <a:pt x="120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テキスト ボックス 484"/>
          <p:cNvSpPr txBox="1"/>
          <p:nvPr/>
        </p:nvSpPr>
        <p:spPr>
          <a:xfrm>
            <a:off x="1047600" y="4240440"/>
            <a:ext cx="39441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⼿動設定が増加（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DNS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、証明書など）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フリーフォーム: 図形 485"/>
          <p:cNvSpPr/>
          <p:nvPr/>
        </p:nvSpPr>
        <p:spPr>
          <a:xfrm>
            <a:off x="828360" y="50958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テキスト ボックス 486"/>
          <p:cNvSpPr txBox="1"/>
          <p:nvPr/>
        </p:nvSpPr>
        <p:spPr>
          <a:xfrm>
            <a:off x="1047600" y="4602600"/>
            <a:ext cx="244836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証明書管理の知識が必要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フリーフォーム: 図形 487"/>
          <p:cNvSpPr/>
          <p:nvPr/>
        </p:nvSpPr>
        <p:spPr>
          <a:xfrm>
            <a:off x="828360" y="54673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テキスト ボックス 488"/>
          <p:cNvSpPr txBox="1"/>
          <p:nvPr/>
        </p:nvSpPr>
        <p:spPr>
          <a:xfrm>
            <a:off x="1047600" y="4973760"/>
            <a:ext cx="556884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ファイルサーバーなど⼀部ワークロードは依然</a:t>
            </a:r>
            <a:r>
              <a:rPr lang="en-US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7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必須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テキスト ボックス 489"/>
          <p:cNvSpPr txBox="1"/>
          <p:nvPr/>
        </p:nvSpPr>
        <p:spPr>
          <a:xfrm>
            <a:off x="1047600" y="5345280"/>
            <a:ext cx="2893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運⽤者にとって馴染みが薄い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5FAE0C83-5AEF-241C-D0D5-C3FC685D8B53}"/>
              </a:ext>
            </a:extLst>
          </p:cNvPr>
          <p:cNvSpPr/>
          <p:nvPr/>
        </p:nvSpPr>
        <p:spPr>
          <a:xfrm>
            <a:off x="828360" y="5870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0" y="212"/>
                  <a:pt x="106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cubicBezTo>
                  <a:pt x="120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C942DD-1D21-CE70-BDF6-F023C02F9F3A}"/>
              </a:ext>
            </a:extLst>
          </p:cNvPr>
          <p:cNvSpPr txBox="1"/>
          <p:nvPr/>
        </p:nvSpPr>
        <p:spPr>
          <a:xfrm>
            <a:off x="1047600" y="5748840"/>
            <a:ext cx="5386090" cy="2693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altLang="en-US" sz="17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ツールの動作にも各種特別設定が必要なケースが多い</a:t>
            </a:r>
            <a:endParaRPr lang="en-US" sz="17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F8E7-A399-5EE2-C3EA-203CA9B4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フリーフォーム: 図形 465">
            <a:extLst>
              <a:ext uri="{FF2B5EF4-FFF2-40B4-BE49-F238E27FC236}">
                <a16:creationId xmlns:a16="http://schemas.microsoft.com/office/drawing/2014/main" id="{595F9DC9-0DC9-64D9-9179-AB204BD8DFF5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フリーフォーム: 図形 466">
            <a:extLst>
              <a:ext uri="{FF2B5EF4-FFF2-40B4-BE49-F238E27FC236}">
                <a16:creationId xmlns:a16="http://schemas.microsoft.com/office/drawing/2014/main" id="{8C24B6A2-973C-667E-70DA-6146A763B7AE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フリーフォーム: 図形 467">
            <a:extLst>
              <a:ext uri="{FF2B5EF4-FFF2-40B4-BE49-F238E27FC236}">
                <a16:creationId xmlns:a16="http://schemas.microsoft.com/office/drawing/2014/main" id="{11442781-E96A-1E2F-7CE8-B265F68FDDC8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フリーフォーム: 図形 470">
            <a:extLst>
              <a:ext uri="{FF2B5EF4-FFF2-40B4-BE49-F238E27FC236}">
                <a16:creationId xmlns:a16="http://schemas.microsoft.com/office/drawing/2014/main" id="{2EB4B1AA-D3FE-028C-FA93-B76E90D1A680}"/>
              </a:ext>
            </a:extLst>
          </p:cNvPr>
          <p:cNvSpPr/>
          <p:nvPr/>
        </p:nvSpPr>
        <p:spPr>
          <a:xfrm>
            <a:off x="737640" y="1798200"/>
            <a:ext cx="183240" cy="186840"/>
          </a:xfrm>
          <a:custGeom>
            <a:avLst/>
            <a:gdLst/>
            <a:ahLst/>
            <a:cxnLst/>
            <a:rect l="0" t="0" r="r" b="b"/>
            <a:pathLst>
              <a:path w="509" h="519">
                <a:moveTo>
                  <a:pt x="487" y="9"/>
                </a:moveTo>
                <a:cubicBezTo>
                  <a:pt x="463" y="-7"/>
                  <a:pt x="431" y="0"/>
                  <a:pt x="415" y="25"/>
                </a:cubicBezTo>
                <a:lnTo>
                  <a:pt x="190" y="383"/>
                </a:lnTo>
                <a:lnTo>
                  <a:pt x="87" y="284"/>
                </a:lnTo>
                <a:cubicBezTo>
                  <a:pt x="66" y="264"/>
                  <a:pt x="33" y="265"/>
                  <a:pt x="14" y="287"/>
                </a:cubicBezTo>
                <a:cubicBezTo>
                  <a:pt x="-5" y="308"/>
                  <a:pt x="-4" y="342"/>
                  <a:pt x="17" y="362"/>
                </a:cubicBezTo>
                <a:lnTo>
                  <a:pt x="165" y="505"/>
                </a:lnTo>
                <a:cubicBezTo>
                  <a:pt x="175" y="514"/>
                  <a:pt x="188" y="519"/>
                  <a:pt x="200" y="519"/>
                </a:cubicBezTo>
                <a:cubicBezTo>
                  <a:pt x="214" y="519"/>
                  <a:pt x="232" y="513"/>
                  <a:pt x="244" y="495"/>
                </a:cubicBezTo>
                <a:cubicBezTo>
                  <a:pt x="251" y="484"/>
                  <a:pt x="502" y="83"/>
                  <a:pt x="502" y="83"/>
                </a:cubicBezTo>
                <a:cubicBezTo>
                  <a:pt x="517" y="58"/>
                  <a:pt x="510" y="25"/>
                  <a:pt x="487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テキスト ボックス 473">
            <a:extLst>
              <a:ext uri="{FF2B5EF4-FFF2-40B4-BE49-F238E27FC236}">
                <a16:creationId xmlns:a16="http://schemas.microsoft.com/office/drawing/2014/main" id="{1C9F485F-6CB8-9CAA-9AE0-524C3EFCC076}"/>
              </a:ext>
            </a:extLst>
          </p:cNvPr>
          <p:cNvSpPr txBox="1"/>
          <p:nvPr/>
        </p:nvSpPr>
        <p:spPr>
          <a:xfrm>
            <a:off x="298383" y="452387"/>
            <a:ext cx="11097929" cy="61555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ja-JP" altLang="en-US" sz="40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クラウド時代の「</a:t>
            </a:r>
            <a:r>
              <a:rPr lang="en-US" altLang="ja-JP" sz="40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altLang="en-US" sz="40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非依存」型の仕組みは色々と増えてきている！</a:t>
            </a:r>
            <a:endParaRPr lang="en-US" altLang="ja-JP" sz="4000" b="1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Windows Server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を使う→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AD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も必要→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DC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が複数台必要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…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 が減ってきている！</a:t>
            </a:r>
            <a:endParaRPr lang="en-US" altLang="ja-JP" sz="4000" b="1" dirty="0">
              <a:solidFill>
                <a:srgbClr val="455A64"/>
              </a:solidFill>
              <a:latin typeface="Meiryo"/>
              <a:ea typeface="Meiryo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NTLM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廃止の流れが追い風のような、向かい風のような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…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ローカルの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Kerberos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認証が登場すると景色がまたガラッと変わりそう。</a:t>
            </a:r>
            <a:r>
              <a:rPr lang="en-US" altLang="ja-JP" sz="4000" b="1" dirty="0" err="1">
                <a:solidFill>
                  <a:srgbClr val="455A64"/>
                </a:solidFill>
                <a:latin typeface="Meiryo"/>
                <a:ea typeface="Meiryo"/>
              </a:rPr>
              <a:t>localKDC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サービスは入ってるがまだ動かない？</a:t>
            </a:r>
            <a:endParaRPr lang="en-US" altLang="ja-JP" sz="4000" b="1" dirty="0">
              <a:solidFill>
                <a:srgbClr val="455A64"/>
              </a:solidFill>
              <a:latin typeface="Meiryo"/>
              <a:ea typeface="Meiryo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とはいえ、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AD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はまだまだこれからも</a:t>
            </a:r>
            <a:r>
              <a:rPr lang="en-US" altLang="ja-JP" sz="4000" b="1" dirty="0">
                <a:solidFill>
                  <a:srgbClr val="455A64"/>
                </a:solidFill>
                <a:latin typeface="Meiryo"/>
                <a:ea typeface="Meiryo"/>
              </a:rPr>
              <a:t>…</a:t>
            </a:r>
            <a:r>
              <a:rPr lang="ja-JP" altLang="en-US" sz="4000" b="1" dirty="0">
                <a:solidFill>
                  <a:srgbClr val="455A64"/>
                </a:solidFill>
                <a:latin typeface="Meiryo"/>
                <a:ea typeface="Meiryo"/>
              </a:rPr>
              <a:t>。</a:t>
            </a:r>
            <a:endParaRPr lang="en-US" altLang="ja-JP" sz="4000" b="1" dirty="0">
              <a:solidFill>
                <a:srgbClr val="455A64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9363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フリーフォーム: 図形 4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フリーフォーム: 図形 4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フリーフォーム: 図形 4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テキスト ボックス 494"/>
          <p:cNvSpPr txBox="1"/>
          <p:nvPr/>
        </p:nvSpPr>
        <p:spPr>
          <a:xfrm>
            <a:off x="666720" y="638280"/>
            <a:ext cx="10065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97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参考資料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テキスト ボックス 496"/>
          <p:cNvSpPr txBox="1"/>
          <p:nvPr/>
        </p:nvSpPr>
        <p:spPr>
          <a:xfrm>
            <a:off x="666720" y="1098720"/>
            <a:ext cx="11138287" cy="34009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ja-JP" sz="1300" b="1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公式ドキュメント</a:t>
            </a:r>
            <a:endParaRPr lang="en-US" altLang="ja-JP" sz="1300" b="1" u="none" strike="noStrike" dirty="0">
              <a:solidFill>
                <a:srgbClr val="455A64"/>
              </a:solidFill>
              <a:effectLst/>
              <a:uFillTx/>
              <a:latin typeface="Meiryo"/>
              <a:ea typeface="Meiry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300" dirty="0">
                <a:solidFill>
                  <a:srgbClr val="0288D1"/>
                </a:solidFill>
                <a:latin typeface="Meiryo"/>
                <a:ea typeface="Meiryo"/>
              </a:rPr>
              <a:t>フェールオーバー クラスタリング </a:t>
            </a: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  <a:t>| Microsoft Learn</a:t>
            </a:r>
            <a:b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</a:b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  <a:hlinkClick r:id="rId2"/>
              </a:rPr>
              <a:t>https://learn.microsoft.com/ja-jp/windows-server/failover-clustering/failover-clustering-overview</a:t>
            </a:r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  <a:t>Windows Server </a:t>
            </a:r>
            <a:r>
              <a:rPr lang="ja-JP" altLang="en-US" sz="1300" dirty="0">
                <a:solidFill>
                  <a:srgbClr val="0288D1"/>
                </a:solidFill>
                <a:latin typeface="Meiryo"/>
                <a:ea typeface="Meiryo"/>
              </a:rPr>
              <a:t>でワークグループ クラスターを作成する </a:t>
            </a: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  <a:t>| Microsoft Learn</a:t>
            </a:r>
            <a:b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</a:b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  <a:hlinkClick r:id="rId3"/>
              </a:rPr>
              <a:t>https://learn.microsoft.com/ja-jp/windows-server/failover-clustering/create-workgroup-cluster?tabs=desktop</a:t>
            </a:r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  <a:t>Windows Server </a:t>
            </a:r>
            <a:r>
              <a:rPr lang="ja-JP" altLang="en-US" sz="1300" dirty="0">
                <a:solidFill>
                  <a:srgbClr val="0288D1"/>
                </a:solidFill>
                <a:latin typeface="Meiryo"/>
                <a:ea typeface="Meiryo"/>
              </a:rPr>
              <a:t>のワークグループ クラスターを使用してライブ マイグレーションを行う </a:t>
            </a: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  <a:t>| Microsoft Learn</a:t>
            </a:r>
            <a:b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</a:b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  <a:hlinkClick r:id="rId4"/>
              </a:rPr>
              <a:t>https://learn.microsoft.com/ja-jp/windows-server/virtualization/hyper-v/manage/live-migration-workgroup-cluster?tabs=powershell</a:t>
            </a:r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r>
              <a:rPr lang="ja-JP" altLang="en-US" sz="1300" b="1" dirty="0">
                <a:solidFill>
                  <a:srgbClr val="455A64"/>
                </a:solidFill>
                <a:latin typeface="Meiryo"/>
                <a:ea typeface="Meiryo"/>
              </a:rPr>
              <a:t>技術ブログ</a:t>
            </a:r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  <a:t>Windows Server 2025 Hyper-V Workgroup Cluster with Certificate-Based Authentication | Microsoft Community Hub</a:t>
            </a:r>
            <a:b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</a:rPr>
            </a:br>
            <a:r>
              <a:rPr lang="en-US" altLang="ja-JP" sz="1300" dirty="0">
                <a:solidFill>
                  <a:srgbClr val="0288D1"/>
                </a:solidFill>
                <a:latin typeface="Meiryo"/>
                <a:ea typeface="Meiryo"/>
                <a:hlinkClick r:id="rId5"/>
              </a:rPr>
              <a:t>https://techcommunity.microsoft.com/blog/itopstalkblog/windows-server-2025-hyper-v-workgroup-cluster-with-certificate-based-authenticat/4428783</a:t>
            </a:r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0288D1"/>
              </a:solidFill>
              <a:latin typeface="Meiryo"/>
              <a:ea typeface="Meiry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000000"/>
              </a:solidFill>
              <a:latin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フリーフォーム: 図形 5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フリーフォーム: 図形 5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フリーフォーム: 図形 5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0" name="図 519"/>
          <p:cNvPicPr/>
          <p:nvPr/>
        </p:nvPicPr>
        <p:blipFill>
          <a:blip r:embed="rId2"/>
          <a:stretch/>
        </p:blipFill>
        <p:spPr>
          <a:xfrm>
            <a:off x="361800" y="1962000"/>
            <a:ext cx="2923920" cy="29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テキスト ボックス 520"/>
          <p:cNvSpPr txBox="1"/>
          <p:nvPr/>
        </p:nvSpPr>
        <p:spPr>
          <a:xfrm>
            <a:off x="4561560" y="1885320"/>
            <a:ext cx="6655668" cy="664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ありがとうございま</a:t>
            </a:r>
            <a:r>
              <a:rPr lang="ja-JP" altLang="en-US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した！</a:t>
            </a:r>
            <a:endParaRPr lang="en-US" sz="4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テキスト ボックス 522"/>
          <p:cNvSpPr txBox="1"/>
          <p:nvPr/>
        </p:nvSpPr>
        <p:spPr>
          <a:xfrm>
            <a:off x="4415760" y="3586320"/>
            <a:ext cx="6828120" cy="640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359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質問・コメントをお待ちしています</a:t>
            </a:r>
            <a:endParaRPr lang="en-US" sz="335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源真ゴシック Heavy">
      <a:majorFont>
        <a:latin typeface="源真ゴシック Heavy"/>
        <a:ea typeface="源真ゴシック Heavy"/>
        <a:cs typeface=""/>
      </a:majorFont>
      <a:minorFont>
        <a:latin typeface="源真ゴシック Heavy"/>
        <a:ea typeface="源真ゴシック Heavy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1448</Words>
  <Application>Microsoft Office PowerPoint</Application>
  <PresentationFormat>ワイド画面</PresentationFormat>
  <Paragraphs>192</Paragraphs>
  <Slides>18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18</vt:i4>
      </vt:variant>
    </vt:vector>
  </HeadingPairs>
  <TitlesOfParts>
    <vt:vector size="29" baseType="lpstr">
      <vt:lpstr>Meiryo</vt:lpstr>
      <vt:lpstr>游ゴシック</vt:lpstr>
      <vt:lpstr>源真ゴシック Heavy</vt:lpstr>
      <vt:lpstr>源真ゴシックP Heavy</vt:lpstr>
      <vt:lpstr>Aptos</vt:lpstr>
      <vt:lpstr>Arial</vt:lpstr>
      <vt:lpstr>Symbol</vt:lpstr>
      <vt:lpstr>Times New Roman</vt:lpstr>
      <vt:lpstr>Wingdings</vt:lpstr>
      <vt:lpstr>Office</vt:lpstr>
      <vt:lpstr>2_デザインの設定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Ebisuda Masahiko</cp:lastModifiedBy>
  <cp:revision>3</cp:revision>
  <dcterms:modified xsi:type="dcterms:W3CDTF">2025-11-14T01:33:14Z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