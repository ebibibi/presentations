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ja-JP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ja-JP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ja-JP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8896320" y="1962000"/>
            <a:ext cx="2923920" cy="292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752400" y="1113840"/>
            <a:ext cx="70398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に依存しないクラスタの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583720" y="1856880"/>
            <a:ext cx="37774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世界へ</a:t>
            </a:r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(</a:t>
            </a:r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前半</a:t>
            </a:r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)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962280" y="2814840"/>
            <a:ext cx="6740640" cy="64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35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On-Prem</a:t>
            </a:r>
            <a:r>
              <a:rPr b="1" lang="ja-JP" sz="335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から</a:t>
            </a:r>
            <a:r>
              <a:rPr b="1" lang="en-US" sz="335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Local</a:t>
            </a:r>
            <a:r>
              <a:rPr b="1" lang="ja-JP" sz="335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まで</a:t>
            </a:r>
            <a:endParaRPr b="0" lang="en-US" sz="335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11520" y="3715560"/>
            <a:ext cx="652968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（⽇本ビジネスシステムズ株式会社 </a:t>
            </a:r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984040" y="4125240"/>
            <a:ext cx="24858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MVP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710080" y="4839480"/>
            <a:ext cx="323496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HCCJP 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第</a:t>
            </a:r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67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回勉強会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987280" y="5249160"/>
            <a:ext cx="28872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2025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年</a:t>
            </a:r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11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⽉</a:t>
            </a:r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⽇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1790360" y="6342480"/>
            <a:ext cx="24336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66720" y="629640"/>
            <a:ext cx="3658320" cy="68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36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前半のアジェンダ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66720" y="1562760"/>
            <a:ext cx="855756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フェールオーバークラスタの</a:t>
            </a:r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⾮依存構成の進化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52680" y="2280960"/>
            <a:ext cx="455688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1. </a:t>
            </a:r>
            <a:r>
              <a:rPr b="1" lang="ja-JP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フェールオーバークラスタの基本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52680" y="2728800"/>
            <a:ext cx="29462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2. </a:t>
            </a:r>
            <a:r>
              <a:rPr b="1" lang="ja-JP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従来の</a:t>
            </a:r>
            <a:r>
              <a:rPr b="1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依存構成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52680" y="3186000"/>
            <a:ext cx="59778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3. </a:t>
            </a:r>
            <a:r>
              <a:rPr b="1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Server 2012 R2</a:t>
            </a:r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AD-detached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52680" y="3633480"/>
            <a:ext cx="71352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4. </a:t>
            </a:r>
            <a:r>
              <a:rPr b="1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Server 2016</a:t>
            </a:r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ワークグループクラスター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52680" y="4090680"/>
            <a:ext cx="65948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5. </a:t>
            </a:r>
            <a:r>
              <a:rPr b="1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Server 2025</a:t>
            </a:r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Hyper-V</a:t>
            </a:r>
            <a:r>
              <a:rPr b="0" lang="ja-JP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完全サポート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52680" y="4538520"/>
            <a:ext cx="30564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6. </a:t>
            </a:r>
            <a:r>
              <a:rPr b="1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の役割と代替⼿段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30520" y="5757120"/>
            <a:ext cx="34200" cy="25920"/>
          </a:xfrm>
          <a:custGeom>
            <a:avLst/>
            <a:gdLst/>
            <a:ahLst/>
            <a:rect l="0" t="0" r="r" b="b"/>
            <a:pathLst>
              <a:path w="95" h="72">
                <a:moveTo>
                  <a:pt x="0" y="0"/>
                </a:moveTo>
                <a:lnTo>
                  <a:pt x="95" y="0"/>
                </a:lnTo>
                <a:lnTo>
                  <a:pt x="95" y="72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796680" y="5723280"/>
            <a:ext cx="165600" cy="93600"/>
          </a:xfrm>
          <a:custGeom>
            <a:avLst/>
            <a:gdLst/>
            <a:ahLst/>
            <a:rect l="0" t="0" r="r" b="b"/>
            <a:pathLst>
              <a:path w="460" h="260">
                <a:moveTo>
                  <a:pt x="235" y="0"/>
                </a:moveTo>
                <a:lnTo>
                  <a:pt x="47" y="0"/>
                </a:lnTo>
                <a:cubicBezTo>
                  <a:pt x="21" y="0"/>
                  <a:pt x="0" y="21"/>
                  <a:pt x="0" y="47"/>
                </a:cubicBezTo>
                <a:cubicBezTo>
                  <a:pt x="0" y="73"/>
                  <a:pt x="21" y="94"/>
                  <a:pt x="47" y="94"/>
                </a:cubicBezTo>
                <a:lnTo>
                  <a:pt x="235" y="94"/>
                </a:lnTo>
                <a:cubicBezTo>
                  <a:pt x="261" y="94"/>
                  <a:pt x="282" y="73"/>
                  <a:pt x="282" y="47"/>
                </a:cubicBezTo>
                <a:cubicBezTo>
                  <a:pt x="282" y="21"/>
                  <a:pt x="261" y="0"/>
                  <a:pt x="235" y="0"/>
                </a:cubicBezTo>
                <a:moveTo>
                  <a:pt x="382" y="248"/>
                </a:moveTo>
                <a:lnTo>
                  <a:pt x="346" y="216"/>
                </a:lnTo>
                <a:cubicBezTo>
                  <a:pt x="327" y="199"/>
                  <a:pt x="325" y="169"/>
                  <a:pt x="342" y="150"/>
                </a:cubicBezTo>
                <a:cubicBezTo>
                  <a:pt x="359" y="130"/>
                  <a:pt x="389" y="128"/>
                  <a:pt x="408" y="145"/>
                </a:cubicBezTo>
                <a:lnTo>
                  <a:pt x="444" y="176"/>
                </a:lnTo>
                <a:cubicBezTo>
                  <a:pt x="463" y="193"/>
                  <a:pt x="465" y="223"/>
                  <a:pt x="448" y="244"/>
                </a:cubicBezTo>
                <a:cubicBezTo>
                  <a:pt x="431" y="263"/>
                  <a:pt x="401" y="265"/>
                  <a:pt x="382" y="248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754560" y="5799600"/>
            <a:ext cx="186480" cy="186480"/>
          </a:xfrm>
          <a:custGeom>
            <a:avLst/>
            <a:gdLst/>
            <a:ahLst/>
            <a:rect l="0" t="0" r="r" b="b"/>
            <a:pathLst>
              <a:path w="518" h="518">
                <a:moveTo>
                  <a:pt x="518" y="259"/>
                </a:moveTo>
                <a:cubicBezTo>
                  <a:pt x="518" y="276"/>
                  <a:pt x="516" y="293"/>
                  <a:pt x="513" y="310"/>
                </a:cubicBezTo>
                <a:cubicBezTo>
                  <a:pt x="510" y="327"/>
                  <a:pt x="505" y="343"/>
                  <a:pt x="498" y="358"/>
                </a:cubicBezTo>
                <a:cubicBezTo>
                  <a:pt x="492" y="374"/>
                  <a:pt x="484" y="389"/>
                  <a:pt x="474" y="403"/>
                </a:cubicBezTo>
                <a:cubicBezTo>
                  <a:pt x="465" y="417"/>
                  <a:pt x="454" y="430"/>
                  <a:pt x="442" y="442"/>
                </a:cubicBezTo>
                <a:cubicBezTo>
                  <a:pt x="430" y="454"/>
                  <a:pt x="417" y="465"/>
                  <a:pt x="403" y="474"/>
                </a:cubicBezTo>
                <a:cubicBezTo>
                  <a:pt x="389" y="484"/>
                  <a:pt x="374" y="492"/>
                  <a:pt x="358" y="498"/>
                </a:cubicBezTo>
                <a:cubicBezTo>
                  <a:pt x="343" y="505"/>
                  <a:pt x="326" y="510"/>
                  <a:pt x="310" y="513"/>
                </a:cubicBezTo>
                <a:cubicBezTo>
                  <a:pt x="293" y="516"/>
                  <a:pt x="276" y="518"/>
                  <a:pt x="259" y="518"/>
                </a:cubicBezTo>
                <a:cubicBezTo>
                  <a:pt x="242" y="518"/>
                  <a:pt x="224" y="516"/>
                  <a:pt x="208" y="513"/>
                </a:cubicBezTo>
                <a:cubicBezTo>
                  <a:pt x="191" y="510"/>
                  <a:pt x="175" y="505"/>
                  <a:pt x="159" y="498"/>
                </a:cubicBezTo>
                <a:cubicBezTo>
                  <a:pt x="144" y="492"/>
                  <a:pt x="129" y="484"/>
                  <a:pt x="115" y="474"/>
                </a:cubicBezTo>
                <a:cubicBezTo>
                  <a:pt x="100" y="465"/>
                  <a:pt x="87" y="454"/>
                  <a:pt x="75" y="442"/>
                </a:cubicBezTo>
                <a:cubicBezTo>
                  <a:pt x="63" y="430"/>
                  <a:pt x="53" y="417"/>
                  <a:pt x="43" y="403"/>
                </a:cubicBezTo>
                <a:cubicBezTo>
                  <a:pt x="34" y="389"/>
                  <a:pt x="26" y="374"/>
                  <a:pt x="19" y="358"/>
                </a:cubicBezTo>
                <a:cubicBezTo>
                  <a:pt x="13" y="343"/>
                  <a:pt x="8" y="327"/>
                  <a:pt x="5" y="310"/>
                </a:cubicBezTo>
                <a:cubicBezTo>
                  <a:pt x="1" y="293"/>
                  <a:pt x="0" y="276"/>
                  <a:pt x="0" y="259"/>
                </a:cubicBezTo>
                <a:cubicBezTo>
                  <a:pt x="0" y="242"/>
                  <a:pt x="1" y="226"/>
                  <a:pt x="5" y="209"/>
                </a:cubicBezTo>
                <a:cubicBezTo>
                  <a:pt x="8" y="192"/>
                  <a:pt x="13" y="175"/>
                  <a:pt x="19" y="159"/>
                </a:cubicBezTo>
                <a:cubicBezTo>
                  <a:pt x="26" y="144"/>
                  <a:pt x="34" y="129"/>
                  <a:pt x="43" y="115"/>
                </a:cubicBezTo>
                <a:cubicBezTo>
                  <a:pt x="53" y="101"/>
                  <a:pt x="63" y="87"/>
                  <a:pt x="75" y="75"/>
                </a:cubicBezTo>
                <a:cubicBezTo>
                  <a:pt x="87" y="63"/>
                  <a:pt x="100" y="53"/>
                  <a:pt x="115" y="43"/>
                </a:cubicBezTo>
                <a:cubicBezTo>
                  <a:pt x="129" y="34"/>
                  <a:pt x="144" y="26"/>
                  <a:pt x="159" y="19"/>
                </a:cubicBezTo>
                <a:cubicBezTo>
                  <a:pt x="175" y="13"/>
                  <a:pt x="191" y="8"/>
                  <a:pt x="208" y="5"/>
                </a:cubicBezTo>
                <a:cubicBezTo>
                  <a:pt x="224" y="1"/>
                  <a:pt x="242" y="0"/>
                  <a:pt x="259" y="0"/>
                </a:cubicBezTo>
                <a:cubicBezTo>
                  <a:pt x="276" y="0"/>
                  <a:pt x="293" y="1"/>
                  <a:pt x="310" y="5"/>
                </a:cubicBezTo>
                <a:cubicBezTo>
                  <a:pt x="326" y="8"/>
                  <a:pt x="343" y="13"/>
                  <a:pt x="358" y="19"/>
                </a:cubicBezTo>
                <a:cubicBezTo>
                  <a:pt x="374" y="26"/>
                  <a:pt x="389" y="34"/>
                  <a:pt x="403" y="43"/>
                </a:cubicBezTo>
                <a:cubicBezTo>
                  <a:pt x="417" y="53"/>
                  <a:pt x="430" y="63"/>
                  <a:pt x="442" y="75"/>
                </a:cubicBezTo>
                <a:cubicBezTo>
                  <a:pt x="454" y="87"/>
                  <a:pt x="465" y="101"/>
                  <a:pt x="474" y="115"/>
                </a:cubicBezTo>
                <a:cubicBezTo>
                  <a:pt x="484" y="129"/>
                  <a:pt x="492" y="144"/>
                  <a:pt x="498" y="159"/>
                </a:cubicBezTo>
                <a:cubicBezTo>
                  <a:pt x="505" y="175"/>
                  <a:pt x="510" y="192"/>
                  <a:pt x="513" y="209"/>
                </a:cubicBezTo>
                <a:cubicBezTo>
                  <a:pt x="516" y="226"/>
                  <a:pt x="518" y="242"/>
                  <a:pt x="518" y="259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729000" y="5774040"/>
            <a:ext cx="237600" cy="237600"/>
          </a:xfrm>
          <a:custGeom>
            <a:avLst/>
            <a:gdLst/>
            <a:ahLst/>
            <a:rect l="0" t="0" r="r" b="b"/>
            <a:pathLst>
              <a:path w="660" h="660">
                <a:moveTo>
                  <a:pt x="330" y="0"/>
                </a:moveTo>
                <a:cubicBezTo>
                  <a:pt x="147" y="0"/>
                  <a:pt x="0" y="149"/>
                  <a:pt x="0" y="330"/>
                </a:cubicBezTo>
                <a:cubicBezTo>
                  <a:pt x="0" y="512"/>
                  <a:pt x="147" y="660"/>
                  <a:pt x="330" y="660"/>
                </a:cubicBezTo>
                <a:cubicBezTo>
                  <a:pt x="512" y="660"/>
                  <a:pt x="660" y="512"/>
                  <a:pt x="660" y="330"/>
                </a:cubicBezTo>
                <a:cubicBezTo>
                  <a:pt x="660" y="149"/>
                  <a:pt x="512" y="0"/>
                  <a:pt x="330" y="0"/>
                </a:cubicBezTo>
                <a:moveTo>
                  <a:pt x="330" y="589"/>
                </a:moveTo>
                <a:cubicBezTo>
                  <a:pt x="187" y="589"/>
                  <a:pt x="71" y="473"/>
                  <a:pt x="71" y="330"/>
                </a:cubicBezTo>
                <a:cubicBezTo>
                  <a:pt x="71" y="188"/>
                  <a:pt x="187" y="71"/>
                  <a:pt x="330" y="71"/>
                </a:cubicBezTo>
                <a:cubicBezTo>
                  <a:pt x="473" y="71"/>
                  <a:pt x="589" y="188"/>
                  <a:pt x="589" y="330"/>
                </a:cubicBezTo>
                <a:cubicBezTo>
                  <a:pt x="589" y="473"/>
                  <a:pt x="473" y="589"/>
                  <a:pt x="330" y="589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830520" y="5884200"/>
            <a:ext cx="101880" cy="17280"/>
          </a:xfrm>
          <a:custGeom>
            <a:avLst/>
            <a:gdLst/>
            <a:ahLst/>
            <a:rect l="0" t="0" r="r" b="b"/>
            <a:pathLst>
              <a:path w="283" h="48">
                <a:moveTo>
                  <a:pt x="260" y="48"/>
                </a:moveTo>
                <a:lnTo>
                  <a:pt x="24" y="48"/>
                </a:lnTo>
                <a:cubicBezTo>
                  <a:pt x="11" y="48"/>
                  <a:pt x="0" y="37"/>
                  <a:pt x="0" y="23"/>
                </a:cubicBezTo>
                <a:cubicBezTo>
                  <a:pt x="0" y="10"/>
                  <a:pt x="11" y="0"/>
                  <a:pt x="24" y="0"/>
                </a:cubicBezTo>
                <a:lnTo>
                  <a:pt x="260" y="0"/>
                </a:lnTo>
                <a:cubicBezTo>
                  <a:pt x="273" y="0"/>
                  <a:pt x="283" y="10"/>
                  <a:pt x="283" y="23"/>
                </a:cubicBezTo>
                <a:cubicBezTo>
                  <a:pt x="283" y="37"/>
                  <a:pt x="273" y="48"/>
                  <a:pt x="260" y="4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839160" y="580788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25"/>
                </a:moveTo>
                <a:cubicBezTo>
                  <a:pt x="48" y="31"/>
                  <a:pt x="46" y="37"/>
                  <a:pt x="40" y="41"/>
                </a:cubicBezTo>
                <a:cubicBezTo>
                  <a:pt x="35" y="46"/>
                  <a:pt x="30" y="48"/>
                  <a:pt x="23" y="48"/>
                </a:cubicBezTo>
                <a:cubicBezTo>
                  <a:pt x="17" y="48"/>
                  <a:pt x="11" y="46"/>
                  <a:pt x="7" y="41"/>
                </a:cubicBezTo>
                <a:cubicBezTo>
                  <a:pt x="2" y="37"/>
                  <a:pt x="0" y="31"/>
                  <a:pt x="0" y="25"/>
                </a:cubicBezTo>
                <a:cubicBezTo>
                  <a:pt x="0" y="18"/>
                  <a:pt x="2" y="13"/>
                  <a:pt x="7" y="7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7"/>
                </a:cubicBezTo>
                <a:cubicBezTo>
                  <a:pt x="46" y="13"/>
                  <a:pt x="48" y="18"/>
                  <a:pt x="48" y="25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39160" y="596052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24"/>
                </a:moveTo>
                <a:cubicBezTo>
                  <a:pt x="48" y="31"/>
                  <a:pt x="46" y="36"/>
                  <a:pt x="40" y="41"/>
                </a:cubicBezTo>
                <a:cubicBezTo>
                  <a:pt x="35" y="45"/>
                  <a:pt x="30" y="48"/>
                  <a:pt x="23" y="48"/>
                </a:cubicBezTo>
                <a:cubicBezTo>
                  <a:pt x="17" y="48"/>
                  <a:pt x="11" y="45"/>
                  <a:pt x="7" y="41"/>
                </a:cubicBezTo>
                <a:cubicBezTo>
                  <a:pt x="2" y="36"/>
                  <a:pt x="0" y="31"/>
                  <a:pt x="0" y="24"/>
                </a:cubicBezTo>
                <a:cubicBezTo>
                  <a:pt x="0" y="18"/>
                  <a:pt x="2" y="12"/>
                  <a:pt x="7" y="6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6"/>
                </a:cubicBezTo>
                <a:cubicBezTo>
                  <a:pt x="46" y="12"/>
                  <a:pt x="48" y="18"/>
                  <a:pt x="48" y="2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788400" y="583344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23"/>
                </a:moveTo>
                <a:cubicBezTo>
                  <a:pt x="48" y="30"/>
                  <a:pt x="45" y="36"/>
                  <a:pt x="40" y="41"/>
                </a:cubicBezTo>
                <a:cubicBezTo>
                  <a:pt x="35" y="45"/>
                  <a:pt x="30" y="48"/>
                  <a:pt x="23" y="48"/>
                </a:cubicBezTo>
                <a:cubicBezTo>
                  <a:pt x="17" y="48"/>
                  <a:pt x="11" y="45"/>
                  <a:pt x="7" y="41"/>
                </a:cubicBezTo>
                <a:cubicBezTo>
                  <a:pt x="2" y="36"/>
                  <a:pt x="0" y="30"/>
                  <a:pt x="0" y="23"/>
                </a:cubicBezTo>
                <a:cubicBezTo>
                  <a:pt x="0" y="17"/>
                  <a:pt x="2" y="11"/>
                  <a:pt x="7" y="7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7"/>
                </a:cubicBezTo>
                <a:cubicBezTo>
                  <a:pt x="45" y="11"/>
                  <a:pt x="48" y="17"/>
                  <a:pt x="48" y="2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889920" y="593496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23"/>
                </a:moveTo>
                <a:cubicBezTo>
                  <a:pt x="48" y="30"/>
                  <a:pt x="46" y="37"/>
                  <a:pt x="40" y="41"/>
                </a:cubicBezTo>
                <a:cubicBezTo>
                  <a:pt x="35" y="46"/>
                  <a:pt x="30" y="48"/>
                  <a:pt x="23" y="48"/>
                </a:cubicBezTo>
                <a:cubicBezTo>
                  <a:pt x="17" y="48"/>
                  <a:pt x="11" y="46"/>
                  <a:pt x="7" y="41"/>
                </a:cubicBezTo>
                <a:cubicBezTo>
                  <a:pt x="2" y="37"/>
                  <a:pt x="0" y="30"/>
                  <a:pt x="0" y="23"/>
                </a:cubicBezTo>
                <a:cubicBezTo>
                  <a:pt x="0" y="17"/>
                  <a:pt x="2" y="11"/>
                  <a:pt x="7" y="7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7"/>
                </a:cubicBezTo>
                <a:cubicBezTo>
                  <a:pt x="46" y="11"/>
                  <a:pt x="48" y="17"/>
                  <a:pt x="48" y="2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762840" y="588420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23"/>
                </a:moveTo>
                <a:cubicBezTo>
                  <a:pt x="48" y="30"/>
                  <a:pt x="46" y="36"/>
                  <a:pt x="41" y="41"/>
                </a:cubicBezTo>
                <a:cubicBezTo>
                  <a:pt x="37" y="46"/>
                  <a:pt x="31" y="48"/>
                  <a:pt x="25" y="48"/>
                </a:cubicBezTo>
                <a:cubicBezTo>
                  <a:pt x="17" y="48"/>
                  <a:pt x="12" y="46"/>
                  <a:pt x="7" y="41"/>
                </a:cubicBezTo>
                <a:cubicBezTo>
                  <a:pt x="2" y="36"/>
                  <a:pt x="0" y="30"/>
                  <a:pt x="0" y="23"/>
                </a:cubicBezTo>
                <a:cubicBezTo>
                  <a:pt x="0" y="17"/>
                  <a:pt x="2" y="11"/>
                  <a:pt x="7" y="7"/>
                </a:cubicBezTo>
                <a:cubicBezTo>
                  <a:pt x="12" y="2"/>
                  <a:pt x="17" y="0"/>
                  <a:pt x="25" y="0"/>
                </a:cubicBezTo>
                <a:cubicBezTo>
                  <a:pt x="31" y="0"/>
                  <a:pt x="37" y="2"/>
                  <a:pt x="41" y="7"/>
                </a:cubicBezTo>
                <a:cubicBezTo>
                  <a:pt x="46" y="11"/>
                  <a:pt x="48" y="17"/>
                  <a:pt x="48" y="2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889920" y="583344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48" y="23"/>
                </a:moveTo>
                <a:cubicBezTo>
                  <a:pt x="48" y="30"/>
                  <a:pt x="46" y="36"/>
                  <a:pt x="40" y="41"/>
                </a:cubicBezTo>
                <a:cubicBezTo>
                  <a:pt x="35" y="45"/>
                  <a:pt x="30" y="48"/>
                  <a:pt x="23" y="48"/>
                </a:cubicBezTo>
                <a:cubicBezTo>
                  <a:pt x="17" y="48"/>
                  <a:pt x="11" y="45"/>
                  <a:pt x="7" y="41"/>
                </a:cubicBezTo>
                <a:cubicBezTo>
                  <a:pt x="2" y="36"/>
                  <a:pt x="0" y="30"/>
                  <a:pt x="0" y="23"/>
                </a:cubicBezTo>
                <a:cubicBezTo>
                  <a:pt x="0" y="17"/>
                  <a:pt x="2" y="11"/>
                  <a:pt x="7" y="7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7"/>
                </a:cubicBezTo>
                <a:cubicBezTo>
                  <a:pt x="46" y="11"/>
                  <a:pt x="48" y="17"/>
                  <a:pt x="48" y="2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788400" y="58755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8" y="206"/>
                </a:moveTo>
                <a:cubicBezTo>
                  <a:pt x="-2" y="197"/>
                  <a:pt x="-2" y="182"/>
                  <a:pt x="8" y="173"/>
                </a:cubicBezTo>
                <a:lnTo>
                  <a:pt x="173" y="7"/>
                </a:lnTo>
                <a:cubicBezTo>
                  <a:pt x="182" y="-2"/>
                  <a:pt x="197" y="-2"/>
                  <a:pt x="206" y="7"/>
                </a:cubicBezTo>
                <a:cubicBezTo>
                  <a:pt x="216" y="16"/>
                  <a:pt x="216" y="31"/>
                  <a:pt x="206" y="41"/>
                </a:cubicBezTo>
                <a:lnTo>
                  <a:pt x="42" y="206"/>
                </a:lnTo>
                <a:cubicBezTo>
                  <a:pt x="37" y="211"/>
                  <a:pt x="31" y="213"/>
                  <a:pt x="24" y="213"/>
                </a:cubicBezTo>
                <a:cubicBezTo>
                  <a:pt x="18" y="213"/>
                  <a:pt x="12" y="211"/>
                  <a:pt x="8" y="206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52680" y="4995720"/>
            <a:ext cx="20880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7. </a:t>
            </a:r>
            <a:r>
              <a:rPr b="1" lang="ja-JP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まとめと展望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17000" y="5668200"/>
            <a:ext cx="127548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約</a:t>
            </a:r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790360" y="6342480"/>
            <a:ext cx="24336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66720" y="639720"/>
            <a:ext cx="482436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フェールオーバークラスタの基本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828360" y="1962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66720" y="1206720"/>
            <a:ext cx="32742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⾼可⽤性を実現する仕組み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828360" y="2323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047600" y="1840320"/>
            <a:ext cx="42282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複数のノード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を連携させてサービスを提供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828360" y="2695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047600" y="2202120"/>
            <a:ext cx="46731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障害時に</a:t>
            </a:r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⾃動フェールオーバー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でサービス継続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828360" y="30574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047600" y="2573640"/>
            <a:ext cx="31158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ハートビート監視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で問題を検知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047600" y="2935440"/>
            <a:ext cx="42282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サーバー障害時もサービス停⽌を最⼩限に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828360" y="4228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66720" y="3473640"/>
            <a:ext cx="1637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代表的な⽤途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828360" y="4590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047600" y="4107240"/>
            <a:ext cx="31892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仮想マシンの⾼可⽤性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828360" y="4962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047600" y="4469040"/>
            <a:ext cx="36374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(FCI / Always On AG)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047600" y="4840560"/>
            <a:ext cx="1780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818800" y="6371640"/>
            <a:ext cx="197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66720" y="639720"/>
            <a:ext cx="293688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従来の</a:t>
            </a:r>
            <a:r>
              <a:rPr b="1" lang="en-US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依存構成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66720" y="1206720"/>
            <a:ext cx="45741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Active Directory</a:t>
            </a:r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が前提だった時代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66720" y="1711440"/>
            <a:ext cx="3500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が担っていた重要な役割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047600" y="2335320"/>
            <a:ext cx="50227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クラスター名アカウント </a:t>
            </a:r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(CNO) 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上で管理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28360" y="3200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47600" y="2706840"/>
            <a:ext cx="43862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ノード間認証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Kerberos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認証で安全な通信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28360" y="35622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47600" y="3078360"/>
            <a:ext cx="39308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連携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動的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更新で名前解決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828360" y="39337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047600" y="3440520"/>
            <a:ext cx="45327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権限管理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ドメイングループでアクセス制御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047600" y="3812040"/>
            <a:ext cx="36615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管理の容易性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GPO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による統⼀設定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66720" y="4357080"/>
            <a:ext cx="581220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9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問題点</a:t>
            </a:r>
            <a:r>
              <a:rPr b="0" lang="en-US" sz="19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9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⼩規模環境やエッジでは</a:t>
            </a:r>
            <a:r>
              <a:rPr b="0" lang="en-US" sz="19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0" lang="ja-JP" sz="19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構築が負担に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818800" y="6371640"/>
            <a:ext cx="197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66720" y="639720"/>
            <a:ext cx="674604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2012 R2: AD-detached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66720" y="1206720"/>
            <a:ext cx="35823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初めての</a:t>
            </a:r>
            <a:r>
              <a:rPr b="1" lang="en-US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⾮依存への試み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66720" y="1711440"/>
            <a:ext cx="10918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主な特徴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047600" y="2335320"/>
            <a:ext cx="58143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クラスター名の</a:t>
            </a:r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オブジェクトを作成しない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構成が可能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828360" y="3200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047600" y="2706840"/>
            <a:ext cx="56408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New-Cluster -AdministrativeAccessPoint Dns 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で構成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047600" y="3078360"/>
            <a:ext cx="34326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名だけで管理するクラスター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828360" y="4362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1066680" y="4276440"/>
            <a:ext cx="228960" cy="219600"/>
          </a:xfrm>
          <a:custGeom>
            <a:avLst/>
            <a:gdLst/>
            <a:ahLst/>
            <a:rect l="0" t="0" r="r" b="b"/>
            <a:pathLst>
              <a:path w="636" h="610">
                <a:moveTo>
                  <a:pt x="636" y="541"/>
                </a:moveTo>
                <a:cubicBezTo>
                  <a:pt x="636" y="579"/>
                  <a:pt x="604" y="610"/>
                  <a:pt x="565" y="610"/>
                </a:cubicBezTo>
                <a:lnTo>
                  <a:pt x="70" y="610"/>
                </a:lnTo>
                <a:cubicBezTo>
                  <a:pt x="31" y="610"/>
                  <a:pt x="0" y="579"/>
                  <a:pt x="0" y="541"/>
                </a:cubicBezTo>
                <a:lnTo>
                  <a:pt x="0" y="68"/>
                </a:lnTo>
                <a:cubicBezTo>
                  <a:pt x="0" y="31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1"/>
                  <a:pt x="636" y="68"/>
                </a:cubicBezTo>
                <a:lnTo>
                  <a:pt x="636" y="541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103040" y="4312800"/>
            <a:ext cx="157320" cy="147960"/>
          </a:xfrm>
          <a:custGeom>
            <a:avLst/>
            <a:gdLst/>
            <a:ahLst/>
            <a:rect l="0" t="0" r="r" b="b"/>
            <a:pathLst>
              <a:path w="437" h="411">
                <a:moveTo>
                  <a:pt x="416" y="7"/>
                </a:moveTo>
                <a:cubicBezTo>
                  <a:pt x="396" y="-6"/>
                  <a:pt x="369" y="0"/>
                  <a:pt x="355" y="19"/>
                </a:cubicBezTo>
                <a:lnTo>
                  <a:pt x="162" y="304"/>
                </a:lnTo>
                <a:lnTo>
                  <a:pt x="74" y="225"/>
                </a:lnTo>
                <a:cubicBezTo>
                  <a:pt x="56" y="209"/>
                  <a:pt x="28" y="211"/>
                  <a:pt x="11" y="228"/>
                </a:cubicBezTo>
                <a:cubicBezTo>
                  <a:pt x="-5" y="245"/>
                  <a:pt x="-4" y="272"/>
                  <a:pt x="14" y="287"/>
                </a:cubicBezTo>
                <a:lnTo>
                  <a:pt x="141" y="400"/>
                </a:lnTo>
                <a:cubicBezTo>
                  <a:pt x="149" y="408"/>
                  <a:pt x="160" y="411"/>
                  <a:pt x="171" y="411"/>
                </a:cubicBezTo>
                <a:cubicBezTo>
                  <a:pt x="183" y="411"/>
                  <a:pt x="198" y="407"/>
                  <a:pt x="209" y="392"/>
                </a:cubicBezTo>
                <a:cubicBezTo>
                  <a:pt x="215" y="383"/>
                  <a:pt x="429" y="65"/>
                  <a:pt x="429" y="65"/>
                </a:cubicBezTo>
                <a:cubicBezTo>
                  <a:pt x="443" y="46"/>
                  <a:pt x="437" y="20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66720" y="3606840"/>
            <a:ext cx="5464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制約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828360" y="4724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1066680" y="4638600"/>
            <a:ext cx="228960" cy="228960"/>
          </a:xfrm>
          <a:custGeom>
            <a:avLst/>
            <a:gdLst/>
            <a:ahLst/>
            <a:rect l="0" t="0" r="r" b="b"/>
            <a:pathLst>
              <a:path w="636" h="636">
                <a:moveTo>
                  <a:pt x="636" y="565"/>
                </a:moveTo>
                <a:cubicBezTo>
                  <a:pt x="636" y="604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4"/>
                  <a:pt x="0" y="565"/>
                </a:cubicBezTo>
                <a:lnTo>
                  <a:pt x="0" y="70"/>
                </a:lnTo>
                <a:cubicBezTo>
                  <a:pt x="0" y="31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1"/>
                  <a:pt x="636" y="70"/>
                </a:cubicBezTo>
                <a:lnTo>
                  <a:pt x="636" y="56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103040" y="4676400"/>
            <a:ext cx="157320" cy="154440"/>
          </a:xfrm>
          <a:custGeom>
            <a:avLst/>
            <a:gdLst/>
            <a:ahLst/>
            <a:rect l="0" t="0" r="r" b="b"/>
            <a:pathLst>
              <a:path w="437" h="429">
                <a:moveTo>
                  <a:pt x="416" y="7"/>
                </a:moveTo>
                <a:cubicBezTo>
                  <a:pt x="396" y="-6"/>
                  <a:pt x="369" y="-1"/>
                  <a:pt x="355" y="20"/>
                </a:cubicBezTo>
                <a:lnTo>
                  <a:pt x="162" y="317"/>
                </a:lnTo>
                <a:lnTo>
                  <a:pt x="74" y="235"/>
                </a:lnTo>
                <a:cubicBezTo>
                  <a:pt x="56" y="218"/>
                  <a:pt x="28" y="219"/>
                  <a:pt x="11" y="237"/>
                </a:cubicBezTo>
                <a:cubicBezTo>
                  <a:pt x="-5" y="255"/>
                  <a:pt x="-4" y="283"/>
                  <a:pt x="14" y="300"/>
                </a:cubicBezTo>
                <a:lnTo>
                  <a:pt x="141" y="417"/>
                </a:lnTo>
                <a:cubicBezTo>
                  <a:pt x="149" y="425"/>
                  <a:pt x="160" y="429"/>
                  <a:pt x="171" y="429"/>
                </a:cubicBezTo>
                <a:cubicBezTo>
                  <a:pt x="183" y="429"/>
                  <a:pt x="198" y="424"/>
                  <a:pt x="209" y="409"/>
                </a:cubicBezTo>
                <a:cubicBezTo>
                  <a:pt x="215" y="400"/>
                  <a:pt x="429" y="69"/>
                  <a:pt x="429" y="69"/>
                </a:cubicBezTo>
                <a:cubicBezTo>
                  <a:pt x="443" y="47"/>
                  <a:pt x="437" y="20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303560" y="4240440"/>
            <a:ext cx="45554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ノードは依然として</a:t>
            </a:r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ドメイン参加が必要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828360" y="50958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076040" y="5019120"/>
            <a:ext cx="210240" cy="201240"/>
          </a:xfrm>
          <a:custGeom>
            <a:avLst/>
            <a:gdLst/>
            <a:ahLst/>
            <a:rect l="0" t="0" r="r" b="b"/>
            <a:pathLst>
              <a:path w="584" h="559">
                <a:moveTo>
                  <a:pt x="356" y="279"/>
                </a:moveTo>
                <a:lnTo>
                  <a:pt x="571" y="72"/>
                </a:lnTo>
                <a:cubicBezTo>
                  <a:pt x="589" y="56"/>
                  <a:pt x="589" y="29"/>
                  <a:pt x="571" y="12"/>
                </a:cubicBezTo>
                <a:cubicBezTo>
                  <a:pt x="554" y="-4"/>
                  <a:pt x="526" y="-4"/>
                  <a:pt x="509" y="12"/>
                </a:cubicBezTo>
                <a:lnTo>
                  <a:pt x="293" y="219"/>
                </a:lnTo>
                <a:lnTo>
                  <a:pt x="77" y="12"/>
                </a:lnTo>
                <a:cubicBezTo>
                  <a:pt x="59" y="-4"/>
                  <a:pt x="31" y="-4"/>
                  <a:pt x="14" y="12"/>
                </a:cubicBezTo>
                <a:cubicBezTo>
                  <a:pt x="-3" y="29"/>
                  <a:pt x="-3" y="56"/>
                  <a:pt x="14" y="72"/>
                </a:cubicBezTo>
                <a:lnTo>
                  <a:pt x="231" y="279"/>
                </a:lnTo>
                <a:lnTo>
                  <a:pt x="14" y="487"/>
                </a:lnTo>
                <a:cubicBezTo>
                  <a:pt x="-4" y="504"/>
                  <a:pt x="-4" y="530"/>
                  <a:pt x="14" y="547"/>
                </a:cubicBezTo>
                <a:cubicBezTo>
                  <a:pt x="22" y="555"/>
                  <a:pt x="34" y="559"/>
                  <a:pt x="45" y="559"/>
                </a:cubicBezTo>
                <a:cubicBezTo>
                  <a:pt x="56" y="559"/>
                  <a:pt x="67" y="555"/>
                  <a:pt x="76" y="547"/>
                </a:cubicBezTo>
                <a:lnTo>
                  <a:pt x="293" y="340"/>
                </a:lnTo>
                <a:lnTo>
                  <a:pt x="509" y="546"/>
                </a:lnTo>
                <a:cubicBezTo>
                  <a:pt x="518" y="555"/>
                  <a:pt x="529" y="559"/>
                  <a:pt x="540" y="559"/>
                </a:cubicBezTo>
                <a:cubicBezTo>
                  <a:pt x="552" y="559"/>
                  <a:pt x="563" y="555"/>
                  <a:pt x="571" y="546"/>
                </a:cubicBezTo>
                <a:cubicBezTo>
                  <a:pt x="589" y="530"/>
                  <a:pt x="589" y="503"/>
                  <a:pt x="571" y="487"/>
                </a:cubicBezTo>
                <a:lnTo>
                  <a:pt x="356" y="279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303560" y="4602600"/>
            <a:ext cx="5236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主に</a:t>
            </a:r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Always On AG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向けにサポート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303560" y="4973760"/>
            <a:ext cx="39322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Hyper-V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やファイルサーバーは⾮推奨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66720" y="5528520"/>
            <a:ext cx="406692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9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位置づけ</a:t>
            </a:r>
            <a:r>
              <a:rPr b="0" lang="en-US" sz="19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9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限定的だが重要な第⼀歩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818800" y="6371640"/>
            <a:ext cx="197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66720" y="639720"/>
            <a:ext cx="857520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2016: </a:t>
            </a:r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ワークグループクラスター登場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66720" y="1206720"/>
            <a:ext cx="358272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真の</a:t>
            </a:r>
            <a:r>
              <a:rPr b="1" lang="en-US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⾮依存クラスターへ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66720" y="1711440"/>
            <a:ext cx="1637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画期的な進化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047600" y="2335320"/>
            <a:ext cx="53409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ドメイン⾮参加ノード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だけでクラスター構成が可能に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047600" y="2706840"/>
            <a:ext cx="40057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ワークグループ環境でも⾼可⽤性を実現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828360" y="3990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66720" y="3245040"/>
            <a:ext cx="10918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主な要件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28360" y="4362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047600" y="3868920"/>
            <a:ext cx="5989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ノード間認証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同⼀のローカル管理者アカウント 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+ NTLM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28360" y="4724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47600" y="4240440"/>
            <a:ext cx="34146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⼿動でクラスター名を登録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228680" y="5076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3" y="117"/>
                  <a:pt x="179" y="129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3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047600" y="4602600"/>
            <a:ext cx="5224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クォーラム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Cloud Witness 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または 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Disk Witness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428840" y="4959360"/>
            <a:ext cx="330480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ファイル共有</a:t>
            </a:r>
            <a:r>
              <a:rPr b="0" lang="en-US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Witness</a:t>
            </a:r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は⾮サポート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1818800" y="6371640"/>
            <a:ext cx="197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66720" y="638280"/>
            <a:ext cx="37551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2016</a:t>
            </a:r>
            <a:r>
              <a:rPr b="1" lang="ja-JP" sz="197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の制約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85440" y="1523880"/>
            <a:ext cx="238680" cy="228960"/>
          </a:xfrm>
          <a:custGeom>
            <a:avLst/>
            <a:gdLst/>
            <a:ahLst/>
            <a:rect l="0" t="0" r="r" b="b"/>
            <a:pathLst>
              <a:path w="663" h="636">
                <a:moveTo>
                  <a:pt x="663" y="565"/>
                </a:moveTo>
                <a:cubicBezTo>
                  <a:pt x="663" y="604"/>
                  <a:pt x="630" y="636"/>
                  <a:pt x="589" y="636"/>
                </a:cubicBezTo>
                <a:lnTo>
                  <a:pt x="74" y="636"/>
                </a:lnTo>
                <a:cubicBezTo>
                  <a:pt x="33" y="636"/>
                  <a:pt x="0" y="604"/>
                  <a:pt x="0" y="565"/>
                </a:cubicBezTo>
                <a:lnTo>
                  <a:pt x="0" y="70"/>
                </a:lnTo>
                <a:cubicBezTo>
                  <a:pt x="0" y="31"/>
                  <a:pt x="33" y="0"/>
                  <a:pt x="74" y="0"/>
                </a:cubicBezTo>
                <a:lnTo>
                  <a:pt x="589" y="0"/>
                </a:lnTo>
                <a:cubicBezTo>
                  <a:pt x="630" y="0"/>
                  <a:pt x="663" y="31"/>
                  <a:pt x="663" y="70"/>
                </a:cubicBezTo>
                <a:lnTo>
                  <a:pt x="663" y="56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23240" y="1561680"/>
            <a:ext cx="163800" cy="154440"/>
          </a:xfrm>
          <a:custGeom>
            <a:avLst/>
            <a:gdLst/>
            <a:ahLst/>
            <a:rect l="0" t="0" r="r" b="b"/>
            <a:pathLst>
              <a:path w="455" h="429">
                <a:moveTo>
                  <a:pt x="434" y="7"/>
                </a:moveTo>
                <a:cubicBezTo>
                  <a:pt x="413" y="-6"/>
                  <a:pt x="385" y="0"/>
                  <a:pt x="371" y="20"/>
                </a:cubicBezTo>
                <a:lnTo>
                  <a:pt x="171" y="317"/>
                </a:lnTo>
                <a:lnTo>
                  <a:pt x="79" y="235"/>
                </a:lnTo>
                <a:cubicBezTo>
                  <a:pt x="60" y="218"/>
                  <a:pt x="31" y="220"/>
                  <a:pt x="13" y="237"/>
                </a:cubicBezTo>
                <a:cubicBezTo>
                  <a:pt x="-5" y="255"/>
                  <a:pt x="-3" y="283"/>
                  <a:pt x="15" y="300"/>
                </a:cubicBezTo>
                <a:lnTo>
                  <a:pt x="149" y="417"/>
                </a:lnTo>
                <a:cubicBezTo>
                  <a:pt x="157" y="425"/>
                  <a:pt x="169" y="429"/>
                  <a:pt x="180" y="429"/>
                </a:cubicBezTo>
                <a:cubicBezTo>
                  <a:pt x="192" y="429"/>
                  <a:pt x="208" y="424"/>
                  <a:pt x="218" y="409"/>
                </a:cubicBezTo>
                <a:cubicBezTo>
                  <a:pt x="224" y="400"/>
                  <a:pt x="448" y="68"/>
                  <a:pt x="448" y="68"/>
                </a:cubicBezTo>
                <a:cubicBezTo>
                  <a:pt x="462" y="48"/>
                  <a:pt x="456" y="20"/>
                  <a:pt x="434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66720" y="1092240"/>
            <a:ext cx="208872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6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サポート範囲が限定的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847440" y="2104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39"/>
                  <a:pt x="168" y="149"/>
                  <a:pt x="159" y="158"/>
                </a:cubicBezTo>
                <a:cubicBezTo>
                  <a:pt x="151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931680" y="1479600"/>
            <a:ext cx="30686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1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サポートされるワークロード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247760" y="2400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047600" y="2014200"/>
            <a:ext cx="4151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Always On </a:t>
            </a:r>
            <a:r>
              <a:rPr b="1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可⽤性グループ </a:t>
            </a:r>
            <a:r>
              <a:rPr b="1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(AG)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95160" y="2781000"/>
            <a:ext cx="218880" cy="210240"/>
          </a:xfrm>
          <a:custGeom>
            <a:avLst/>
            <a:gdLst/>
            <a:ahLst/>
            <a:rect l="0" t="0" r="r" b="b"/>
            <a:pathLst>
              <a:path w="608" h="584">
                <a:moveTo>
                  <a:pt x="370" y="292"/>
                </a:moveTo>
                <a:lnTo>
                  <a:pt x="595" y="76"/>
                </a:lnTo>
                <a:cubicBezTo>
                  <a:pt x="613" y="58"/>
                  <a:pt x="613" y="30"/>
                  <a:pt x="595" y="13"/>
                </a:cubicBezTo>
                <a:cubicBezTo>
                  <a:pt x="577" y="-4"/>
                  <a:pt x="548" y="-4"/>
                  <a:pt x="530" y="13"/>
                </a:cubicBezTo>
                <a:lnTo>
                  <a:pt x="305" y="230"/>
                </a:lnTo>
                <a:lnTo>
                  <a:pt x="79" y="13"/>
                </a:lnTo>
                <a:cubicBezTo>
                  <a:pt x="61" y="-4"/>
                  <a:pt x="32" y="-4"/>
                  <a:pt x="14" y="13"/>
                </a:cubicBezTo>
                <a:cubicBezTo>
                  <a:pt x="-3" y="30"/>
                  <a:pt x="-3" y="58"/>
                  <a:pt x="14" y="76"/>
                </a:cubicBezTo>
                <a:lnTo>
                  <a:pt x="240" y="292"/>
                </a:lnTo>
                <a:lnTo>
                  <a:pt x="14" y="509"/>
                </a:lnTo>
                <a:cubicBezTo>
                  <a:pt x="-4" y="526"/>
                  <a:pt x="-4" y="554"/>
                  <a:pt x="14" y="571"/>
                </a:cubicBezTo>
                <a:cubicBezTo>
                  <a:pt x="23" y="580"/>
                  <a:pt x="35" y="584"/>
                  <a:pt x="46" y="584"/>
                </a:cubicBezTo>
                <a:cubicBezTo>
                  <a:pt x="58" y="584"/>
                  <a:pt x="70" y="580"/>
                  <a:pt x="79" y="571"/>
                </a:cubicBezTo>
                <a:lnTo>
                  <a:pt x="305" y="355"/>
                </a:lnTo>
                <a:lnTo>
                  <a:pt x="530" y="571"/>
                </a:lnTo>
                <a:cubicBezTo>
                  <a:pt x="539" y="579"/>
                  <a:pt x="551" y="583"/>
                  <a:pt x="562" y="583"/>
                </a:cubicBezTo>
                <a:cubicBezTo>
                  <a:pt x="574" y="583"/>
                  <a:pt x="586" y="579"/>
                  <a:pt x="595" y="571"/>
                </a:cubicBezTo>
                <a:cubicBezTo>
                  <a:pt x="613" y="553"/>
                  <a:pt x="613" y="525"/>
                  <a:pt x="595" y="508"/>
                </a:cubicBezTo>
                <a:lnTo>
                  <a:pt x="370" y="292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428840" y="2314080"/>
            <a:ext cx="21974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2016</a:t>
            </a:r>
            <a:r>
              <a:rPr b="0" lang="ja-JP" sz="12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以降で対応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847440" y="3352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931680" y="2727360"/>
            <a:ext cx="260856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1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制約のあるワークロード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247760" y="36478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047600" y="3261960"/>
            <a:ext cx="2541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構成は可能だが</a:t>
            </a:r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...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247760" y="391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428840" y="3561840"/>
            <a:ext cx="4685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2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ライブマイグレーション不可（クイックマイグレーションのみ）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847440" y="4190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8" y="151"/>
                  <a:pt x="159" y="159"/>
                </a:cubicBezTo>
                <a:cubicBezTo>
                  <a:pt x="151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1" y="19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428840" y="3828600"/>
            <a:ext cx="3231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2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ダウンタイムが発⽣するため実⽤性に⽋ける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847440" y="4495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8" y="149"/>
                  <a:pt x="159" y="158"/>
                </a:cubicBezTo>
                <a:cubicBezTo>
                  <a:pt x="151" y="167"/>
                  <a:pt x="140" y="173"/>
                  <a:pt x="128" y="178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8"/>
                </a:cubicBezTo>
                <a:cubicBezTo>
                  <a:pt x="46" y="173"/>
                  <a:pt x="36" y="167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047600" y="4100400"/>
            <a:ext cx="3387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</a:t>
            </a:r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認証の問題で⾮推奨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047600" y="4404960"/>
            <a:ext cx="33555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CAU (</a:t>
            </a:r>
            <a:r>
              <a:rPr b="1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クラスター対応更新</a:t>
            </a:r>
            <a:r>
              <a:rPr b="1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)</a:t>
            </a:r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使⽤不可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66720" y="4854600"/>
            <a:ext cx="452340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6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結論</a:t>
            </a:r>
            <a:r>
              <a:rPr b="0" lang="en-US" sz="16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6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主に</a:t>
            </a:r>
            <a:r>
              <a:rPr b="0" lang="en-US" sz="16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AG</a:t>
            </a:r>
            <a:r>
              <a:rPr b="0" lang="ja-JP" sz="16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向けの機能として位置づけ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1837880" y="6394680"/>
            <a:ext cx="167400" cy="25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7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66720" y="639720"/>
            <a:ext cx="568116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2025: </a:t>
            </a:r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⼤きな進化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02720" y="1829160"/>
            <a:ext cx="185400" cy="192240"/>
          </a:xfrm>
          <a:custGeom>
            <a:avLst/>
            <a:gdLst/>
            <a:ahLst/>
            <a:rect l="0" t="0" r="r" b="b"/>
            <a:pathLst>
              <a:path w="515" h="534">
                <a:moveTo>
                  <a:pt x="0" y="149"/>
                </a:moveTo>
                <a:lnTo>
                  <a:pt x="164" y="0"/>
                </a:lnTo>
                <a:lnTo>
                  <a:pt x="494" y="21"/>
                </a:lnTo>
                <a:lnTo>
                  <a:pt x="515" y="362"/>
                </a:lnTo>
                <a:lnTo>
                  <a:pt x="371" y="534"/>
                </a:lnTo>
                <a:cubicBezTo>
                  <a:pt x="371" y="534"/>
                  <a:pt x="371" y="405"/>
                  <a:pt x="246" y="277"/>
                </a:cubicBezTo>
                <a:cubicBezTo>
                  <a:pt x="123" y="149"/>
                  <a:pt x="0" y="149"/>
                  <a:pt x="0" y="149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702360" y="1914840"/>
            <a:ext cx="104400" cy="106560"/>
          </a:xfrm>
          <a:custGeom>
            <a:avLst/>
            <a:gdLst/>
            <a:ahLst/>
            <a:rect l="0" t="0" r="r" b="b"/>
            <a:pathLst>
              <a:path w="290" h="296">
                <a:moveTo>
                  <a:pt x="0" y="296"/>
                </a:moveTo>
                <a:cubicBezTo>
                  <a:pt x="0" y="296"/>
                  <a:pt x="-1" y="126"/>
                  <a:pt x="61" y="60"/>
                </a:cubicBezTo>
                <a:cubicBezTo>
                  <a:pt x="124" y="-4"/>
                  <a:pt x="290" y="0"/>
                  <a:pt x="290" y="0"/>
                </a:cubicBezTo>
                <a:cubicBezTo>
                  <a:pt x="290" y="0"/>
                  <a:pt x="290" y="168"/>
                  <a:pt x="228" y="232"/>
                </a:cubicBezTo>
                <a:cubicBezTo>
                  <a:pt x="165" y="296"/>
                  <a:pt x="0" y="296"/>
                  <a:pt x="0" y="296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732240" y="1928880"/>
            <a:ext cx="59400" cy="61920"/>
          </a:xfrm>
          <a:custGeom>
            <a:avLst/>
            <a:gdLst/>
            <a:ahLst/>
            <a:rect l="0" t="0" r="r" b="b"/>
            <a:pathLst>
              <a:path w="165" h="172">
                <a:moveTo>
                  <a:pt x="165" y="85"/>
                </a:moveTo>
                <a:cubicBezTo>
                  <a:pt x="165" y="97"/>
                  <a:pt x="163" y="107"/>
                  <a:pt x="159" y="118"/>
                </a:cubicBezTo>
                <a:cubicBezTo>
                  <a:pt x="155" y="128"/>
                  <a:pt x="149" y="138"/>
                  <a:pt x="141" y="146"/>
                </a:cubicBezTo>
                <a:cubicBezTo>
                  <a:pt x="134" y="154"/>
                  <a:pt x="125" y="160"/>
                  <a:pt x="115" y="164"/>
                </a:cubicBezTo>
                <a:cubicBezTo>
                  <a:pt x="105" y="169"/>
                  <a:pt x="94" y="172"/>
                  <a:pt x="83" y="172"/>
                </a:cubicBezTo>
                <a:cubicBezTo>
                  <a:pt x="72" y="172"/>
                  <a:pt x="62" y="169"/>
                  <a:pt x="52" y="164"/>
                </a:cubicBezTo>
                <a:cubicBezTo>
                  <a:pt x="42" y="160"/>
                  <a:pt x="33" y="154"/>
                  <a:pt x="25" y="146"/>
                </a:cubicBezTo>
                <a:cubicBezTo>
                  <a:pt x="17" y="138"/>
                  <a:pt x="10" y="128"/>
                  <a:pt x="6" y="118"/>
                </a:cubicBezTo>
                <a:cubicBezTo>
                  <a:pt x="2" y="107"/>
                  <a:pt x="0" y="97"/>
                  <a:pt x="0" y="85"/>
                </a:cubicBezTo>
                <a:cubicBezTo>
                  <a:pt x="0" y="74"/>
                  <a:pt x="2" y="63"/>
                  <a:pt x="6" y="53"/>
                </a:cubicBezTo>
                <a:cubicBezTo>
                  <a:pt x="10" y="42"/>
                  <a:pt x="17" y="33"/>
                  <a:pt x="25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5"/>
                </a:cubicBezTo>
                <a:cubicBezTo>
                  <a:pt x="149" y="33"/>
                  <a:pt x="155" y="42"/>
                  <a:pt x="159" y="53"/>
                </a:cubicBezTo>
                <a:cubicBezTo>
                  <a:pt x="163" y="63"/>
                  <a:pt x="165" y="74"/>
                  <a:pt x="165" y="8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760320" y="1752480"/>
            <a:ext cx="201960" cy="209160"/>
          </a:xfrm>
          <a:custGeom>
            <a:avLst/>
            <a:gdLst/>
            <a:ahLst/>
            <a:rect l="0" t="0" r="r" b="b"/>
            <a:pathLst>
              <a:path w="561" h="581">
                <a:moveTo>
                  <a:pt x="561" y="0"/>
                </a:moveTo>
                <a:cubicBezTo>
                  <a:pt x="561" y="0"/>
                  <a:pt x="354" y="0"/>
                  <a:pt x="107" y="214"/>
                </a:cubicBezTo>
                <a:cubicBezTo>
                  <a:pt x="-16" y="321"/>
                  <a:pt x="-16" y="512"/>
                  <a:pt x="25" y="555"/>
                </a:cubicBezTo>
                <a:cubicBezTo>
                  <a:pt x="66" y="598"/>
                  <a:pt x="251" y="598"/>
                  <a:pt x="354" y="470"/>
                </a:cubicBezTo>
                <a:cubicBezTo>
                  <a:pt x="561" y="214"/>
                  <a:pt x="561" y="0"/>
                  <a:pt x="561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868320" y="1790640"/>
            <a:ext cx="56880" cy="59040"/>
          </a:xfrm>
          <a:custGeom>
            <a:avLst/>
            <a:gdLst/>
            <a:ahLst/>
            <a:rect l="0" t="0" r="r" b="b"/>
            <a:pathLst>
              <a:path w="158" h="164">
                <a:moveTo>
                  <a:pt x="76" y="0"/>
                </a:moveTo>
                <a:cubicBezTo>
                  <a:pt x="42" y="0"/>
                  <a:pt x="13" y="21"/>
                  <a:pt x="0" y="51"/>
                </a:cubicBezTo>
                <a:cubicBezTo>
                  <a:pt x="10" y="46"/>
                  <a:pt x="21" y="43"/>
                  <a:pt x="34" y="43"/>
                </a:cubicBezTo>
                <a:cubicBezTo>
                  <a:pt x="80" y="43"/>
                  <a:pt x="117" y="81"/>
                  <a:pt x="117" y="128"/>
                </a:cubicBezTo>
                <a:cubicBezTo>
                  <a:pt x="117" y="142"/>
                  <a:pt x="114" y="154"/>
                  <a:pt x="109" y="164"/>
                </a:cubicBezTo>
                <a:cubicBezTo>
                  <a:pt x="138" y="151"/>
                  <a:pt x="158" y="120"/>
                  <a:pt x="158" y="86"/>
                </a:cubicBezTo>
                <a:cubicBezTo>
                  <a:pt x="158" y="39"/>
                  <a:pt x="121" y="0"/>
                  <a:pt x="76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754560" y="1851480"/>
            <a:ext cx="111600" cy="115920"/>
          </a:xfrm>
          <a:custGeom>
            <a:avLst/>
            <a:gdLst/>
            <a:ahLst/>
            <a:rect l="0" t="0" r="r" b="b"/>
            <a:pathLst>
              <a:path w="310" h="322">
                <a:moveTo>
                  <a:pt x="0" y="322"/>
                </a:moveTo>
                <a:cubicBezTo>
                  <a:pt x="0" y="322"/>
                  <a:pt x="0" y="236"/>
                  <a:pt x="20" y="215"/>
                </a:cubicBezTo>
                <a:cubicBezTo>
                  <a:pt x="41" y="194"/>
                  <a:pt x="289" y="-20"/>
                  <a:pt x="309" y="1"/>
                </a:cubicBezTo>
                <a:cubicBezTo>
                  <a:pt x="330" y="22"/>
                  <a:pt x="123" y="279"/>
                  <a:pt x="102" y="300"/>
                </a:cubicBezTo>
                <a:cubicBezTo>
                  <a:pt x="82" y="322"/>
                  <a:pt x="0" y="322"/>
                  <a:pt x="0" y="322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66720" y="1206720"/>
            <a:ext cx="40017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完全サポートが実現︕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979920" y="1711440"/>
            <a:ext cx="2546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ついに実現した機能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047600" y="2335320"/>
            <a:ext cx="55555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ワークグループクラスターで</a:t>
            </a:r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が正式サポート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828360" y="3200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047600" y="2706840"/>
            <a:ext cx="33382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ライブマイグレーション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が可能に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47600" y="3078360"/>
            <a:ext cx="31406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ダウンタイムなしで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VM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を移⾏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828360" y="4362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66720" y="3606840"/>
            <a:ext cx="300132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なぜ可能になったのか︖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828360" y="4724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047600" y="4240440"/>
            <a:ext cx="24483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証明書ベース認証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の導⼊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828360" y="50958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047600" y="4602600"/>
            <a:ext cx="63442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からの脱却（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は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2024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年に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⾮推奨化）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047600" y="4973760"/>
            <a:ext cx="26708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より安全な相互認証の実現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818800" y="6371640"/>
            <a:ext cx="197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8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76080" y="1542960"/>
            <a:ext cx="1324440" cy="267120"/>
          </a:xfrm>
          <a:custGeom>
            <a:avLst/>
            <a:gdLst/>
            <a:ahLst/>
            <a:rect l="0" t="0" r="r" b="b"/>
            <a:pathLst>
              <a:path w="3679" h="742">
                <a:moveTo>
                  <a:pt x="0" y="0"/>
                </a:moveTo>
                <a:lnTo>
                  <a:pt x="3679" y="0"/>
                </a:lnTo>
                <a:lnTo>
                  <a:pt x="3679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000160" y="1542960"/>
            <a:ext cx="1076760" cy="267120"/>
          </a:xfrm>
          <a:custGeom>
            <a:avLst/>
            <a:gdLst/>
            <a:ahLst/>
            <a:rect l="0" t="0" r="r" b="b"/>
            <a:pathLst>
              <a:path w="2991" h="742">
                <a:moveTo>
                  <a:pt x="0" y="0"/>
                </a:moveTo>
                <a:lnTo>
                  <a:pt x="2991" y="0"/>
                </a:lnTo>
                <a:lnTo>
                  <a:pt x="2991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076560" y="1542960"/>
            <a:ext cx="2819520" cy="267120"/>
          </a:xfrm>
          <a:custGeom>
            <a:avLst/>
            <a:gdLst/>
            <a:ahLst/>
            <a:rect l="0" t="0" r="r" b="b"/>
            <a:pathLst>
              <a:path w="7832" h="742">
                <a:moveTo>
                  <a:pt x="0" y="0"/>
                </a:moveTo>
                <a:lnTo>
                  <a:pt x="7832" y="0"/>
                </a:lnTo>
                <a:lnTo>
                  <a:pt x="7832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76080" y="1809720"/>
            <a:ext cx="1324440" cy="266760"/>
          </a:xfrm>
          <a:custGeom>
            <a:avLst/>
            <a:gdLst/>
            <a:ahLst/>
            <a:rect l="0" t="0" r="r" b="b"/>
            <a:pathLst>
              <a:path w="3679" h="741">
                <a:moveTo>
                  <a:pt x="0" y="0"/>
                </a:moveTo>
                <a:lnTo>
                  <a:pt x="3679" y="0"/>
                </a:lnTo>
                <a:lnTo>
                  <a:pt x="3679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000160" y="1809720"/>
            <a:ext cx="1076760" cy="266760"/>
          </a:xfrm>
          <a:custGeom>
            <a:avLst/>
            <a:gdLst/>
            <a:ahLst/>
            <a:rect l="0" t="0" r="r" b="b"/>
            <a:pathLst>
              <a:path w="2991" h="741">
                <a:moveTo>
                  <a:pt x="0" y="0"/>
                </a:moveTo>
                <a:lnTo>
                  <a:pt x="2991" y="0"/>
                </a:lnTo>
                <a:lnTo>
                  <a:pt x="2991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076560" y="1809720"/>
            <a:ext cx="2819520" cy="266760"/>
          </a:xfrm>
          <a:custGeom>
            <a:avLst/>
            <a:gdLst/>
            <a:ahLst/>
            <a:rect l="0" t="0" r="r" b="b"/>
            <a:pathLst>
              <a:path w="7832" h="741">
                <a:moveTo>
                  <a:pt x="0" y="0"/>
                </a:moveTo>
                <a:lnTo>
                  <a:pt x="7832" y="0"/>
                </a:lnTo>
                <a:lnTo>
                  <a:pt x="7832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76080" y="2342880"/>
            <a:ext cx="1324440" cy="267120"/>
          </a:xfrm>
          <a:custGeom>
            <a:avLst/>
            <a:gdLst/>
            <a:ahLst/>
            <a:rect l="0" t="0" r="r" b="b"/>
            <a:pathLst>
              <a:path w="3679" h="742">
                <a:moveTo>
                  <a:pt x="0" y="0"/>
                </a:moveTo>
                <a:lnTo>
                  <a:pt x="3679" y="0"/>
                </a:lnTo>
                <a:lnTo>
                  <a:pt x="3679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000160" y="2342880"/>
            <a:ext cx="1076760" cy="267120"/>
          </a:xfrm>
          <a:custGeom>
            <a:avLst/>
            <a:gdLst/>
            <a:ahLst/>
            <a:rect l="0" t="0" r="r" b="b"/>
            <a:pathLst>
              <a:path w="2991" h="742">
                <a:moveTo>
                  <a:pt x="0" y="0"/>
                </a:moveTo>
                <a:lnTo>
                  <a:pt x="2991" y="0"/>
                </a:lnTo>
                <a:lnTo>
                  <a:pt x="2991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076560" y="2342880"/>
            <a:ext cx="2819520" cy="267120"/>
          </a:xfrm>
          <a:custGeom>
            <a:avLst/>
            <a:gdLst/>
            <a:ahLst/>
            <a:rect l="0" t="0" r="r" b="b"/>
            <a:pathLst>
              <a:path w="7832" h="742">
                <a:moveTo>
                  <a:pt x="0" y="0"/>
                </a:moveTo>
                <a:lnTo>
                  <a:pt x="7832" y="0"/>
                </a:lnTo>
                <a:lnTo>
                  <a:pt x="7832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66720" y="154296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66720" y="154296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990440" y="154296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000160" y="154296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3076560" y="1542960"/>
            <a:ext cx="9720" cy="276480"/>
          </a:xfrm>
          <a:custGeom>
            <a:avLst/>
            <a:gdLst/>
            <a:ah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085920" y="154296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895720" y="1542960"/>
            <a:ext cx="10080" cy="276480"/>
          </a:xfrm>
          <a:custGeom>
            <a:avLst/>
            <a:gdLst/>
            <a:ah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66720" y="180972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000160" y="18097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085920" y="180972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66720" y="1819080"/>
            <a:ext cx="9720" cy="267120"/>
          </a:xfrm>
          <a:custGeom>
            <a:avLst/>
            <a:gdLst/>
            <a:ah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990440" y="1819080"/>
            <a:ext cx="10080" cy="267120"/>
          </a:xfrm>
          <a:custGeom>
            <a:avLst/>
            <a:gdLst/>
            <a:ah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076560" y="1819080"/>
            <a:ext cx="9720" cy="267120"/>
          </a:xfrm>
          <a:custGeom>
            <a:avLst/>
            <a:gdLst/>
            <a:ah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895720" y="1819080"/>
            <a:ext cx="10080" cy="267120"/>
          </a:xfrm>
          <a:custGeom>
            <a:avLst/>
            <a:gdLst/>
            <a:ah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666720" y="2085840"/>
            <a:ext cx="9720" cy="267120"/>
          </a:xfrm>
          <a:custGeom>
            <a:avLst/>
            <a:gdLst/>
            <a:ah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66720" y="207612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990440" y="2085840"/>
            <a:ext cx="10080" cy="267120"/>
          </a:xfrm>
          <a:custGeom>
            <a:avLst/>
            <a:gdLst/>
            <a:ah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000160" y="207612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3076560" y="2085840"/>
            <a:ext cx="9720" cy="267120"/>
          </a:xfrm>
          <a:custGeom>
            <a:avLst/>
            <a:gdLst/>
            <a:ah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085920" y="207612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895720" y="2085840"/>
            <a:ext cx="10080" cy="267120"/>
          </a:xfrm>
          <a:custGeom>
            <a:avLst/>
            <a:gdLst/>
            <a:ah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66720" y="2352600"/>
            <a:ext cx="9720" cy="267120"/>
          </a:xfrm>
          <a:custGeom>
            <a:avLst/>
            <a:gdLst/>
            <a:ah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666720" y="234288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990440" y="2352600"/>
            <a:ext cx="10080" cy="267120"/>
          </a:xfrm>
          <a:custGeom>
            <a:avLst/>
            <a:gdLst/>
            <a:ah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000160" y="234288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076560" y="2352600"/>
            <a:ext cx="9720" cy="267120"/>
          </a:xfrm>
          <a:custGeom>
            <a:avLst/>
            <a:gdLst/>
            <a:ah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3085920" y="234288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895720" y="2352600"/>
            <a:ext cx="10080" cy="267120"/>
          </a:xfrm>
          <a:custGeom>
            <a:avLst/>
            <a:gdLst/>
            <a:ah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666720" y="260964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000160" y="260964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085920" y="260964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66720" y="638280"/>
            <a:ext cx="176112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97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認証技術の進化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66720" y="1092240"/>
            <a:ext cx="342396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Kerberos → NTLM → </a:t>
            </a:r>
            <a:r>
              <a:rPr b="1" lang="ja-JP" sz="16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証明書認証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176120" y="1559160"/>
            <a:ext cx="293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15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世代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2220120" y="1559160"/>
            <a:ext cx="586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15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認証⽅式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4329360" y="1559160"/>
            <a:ext cx="293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15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特徴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34760" y="1825560"/>
            <a:ext cx="1918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従来（</a:t>
            </a:r>
            <a:r>
              <a:rPr b="1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環境）</a:t>
            </a:r>
            <a:r>
              <a:rPr b="0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b="0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3139920" y="1825560"/>
            <a:ext cx="2053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安全・スケーラブル・</a:t>
            </a:r>
            <a:r>
              <a:rPr b="0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0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必須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34760" y="2092320"/>
            <a:ext cx="10267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2016</a:t>
            </a:r>
            <a:r>
              <a:rPr b="1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〜</a:t>
            </a:r>
            <a:r>
              <a:rPr b="1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2022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2061720" y="2092320"/>
            <a:ext cx="405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3139920" y="2092320"/>
            <a:ext cx="2487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ドメイン不要・セキュリティ上の懸念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34760" y="2359080"/>
            <a:ext cx="586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2025</a:t>
            </a:r>
            <a:r>
              <a:rPr b="1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〜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061720" y="2359080"/>
            <a:ext cx="2688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証明書ベース 安全・</a:t>
            </a:r>
            <a:r>
              <a:rPr b="0" lang="en-US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0" lang="ja-JP" sz="1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不要・相互認証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847440" y="33238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8" y="151"/>
                  <a:pt x="159" y="160"/>
                </a:cubicBezTo>
                <a:cubicBezTo>
                  <a:pt x="151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1" y="19"/>
                  <a:pt x="159" y="28"/>
                </a:cubicBezTo>
                <a:cubicBezTo>
                  <a:pt x="168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66720" y="2708280"/>
            <a:ext cx="2762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81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証明書ベース認証の仕組み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847440" y="3628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8" y="151"/>
                  <a:pt x="159" y="159"/>
                </a:cubicBezTo>
                <a:cubicBezTo>
                  <a:pt x="151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20"/>
                  <a:pt x="46" y="13"/>
                  <a:pt x="57" y="8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8"/>
                </a:cubicBezTo>
                <a:cubicBezTo>
                  <a:pt x="140" y="13"/>
                  <a:pt x="151" y="20"/>
                  <a:pt x="159" y="28"/>
                </a:cubicBezTo>
                <a:cubicBezTo>
                  <a:pt x="168" y="37"/>
                  <a:pt x="175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047600" y="3233520"/>
            <a:ext cx="344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各ノードに</a:t>
            </a:r>
            <a:r>
              <a:rPr b="1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X.509</a:t>
            </a:r>
            <a:r>
              <a:rPr b="1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</a:t>
            </a:r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をインストール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847440" y="3933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047600" y="3538440"/>
            <a:ext cx="2582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相互に証明書を信頼させる設定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847440" y="42382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1" y="19"/>
                  <a:pt x="159" y="28"/>
                </a:cubicBezTo>
                <a:cubicBezTo>
                  <a:pt x="168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047600" y="3843000"/>
            <a:ext cx="2974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TLS</a:t>
            </a:r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相互認証でノード間通信を保護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047600" y="4147920"/>
            <a:ext cx="36792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⾃⼰署名証明書または</a:t>
            </a:r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CA</a:t>
            </a:r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発⾏証明書を使⽤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1837880" y="6394680"/>
            <a:ext cx="167400" cy="25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9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66720" y="639720"/>
            <a:ext cx="608796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2025</a:t>
            </a:r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のサポート範囲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695160" y="1752480"/>
            <a:ext cx="267120" cy="276480"/>
          </a:xfrm>
          <a:custGeom>
            <a:avLst/>
            <a:gdLst/>
            <a:ahLst/>
            <a:rect l="0" t="0" r="r" b="b"/>
            <a:pathLst>
              <a:path w="742" h="768">
                <a:moveTo>
                  <a:pt x="742" y="683"/>
                </a:moveTo>
                <a:cubicBezTo>
                  <a:pt x="742" y="730"/>
                  <a:pt x="705" y="768"/>
                  <a:pt x="658" y="768"/>
                </a:cubicBezTo>
                <a:lnTo>
                  <a:pt x="82" y="768"/>
                </a:lnTo>
                <a:cubicBezTo>
                  <a:pt x="37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7" y="0"/>
                  <a:pt x="82" y="0"/>
                </a:cubicBezTo>
                <a:lnTo>
                  <a:pt x="658" y="0"/>
                </a:lnTo>
                <a:cubicBezTo>
                  <a:pt x="705" y="0"/>
                  <a:pt x="742" y="38"/>
                  <a:pt x="742" y="85"/>
                </a:cubicBezTo>
                <a:lnTo>
                  <a:pt x="742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737640" y="1798200"/>
            <a:ext cx="183240" cy="186840"/>
          </a:xfrm>
          <a:custGeom>
            <a:avLst/>
            <a:gdLst/>
            <a:ahLst/>
            <a:rect l="0" t="0" r="r" b="b"/>
            <a:pathLst>
              <a:path w="509" h="519">
                <a:moveTo>
                  <a:pt x="487" y="9"/>
                </a:moveTo>
                <a:cubicBezTo>
                  <a:pt x="463" y="-7"/>
                  <a:pt x="431" y="0"/>
                  <a:pt x="415" y="25"/>
                </a:cubicBezTo>
                <a:lnTo>
                  <a:pt x="190" y="383"/>
                </a:lnTo>
                <a:lnTo>
                  <a:pt x="87" y="284"/>
                </a:lnTo>
                <a:cubicBezTo>
                  <a:pt x="66" y="264"/>
                  <a:pt x="33" y="265"/>
                  <a:pt x="14" y="287"/>
                </a:cubicBezTo>
                <a:cubicBezTo>
                  <a:pt x="-5" y="308"/>
                  <a:pt x="-4" y="342"/>
                  <a:pt x="17" y="362"/>
                </a:cubicBezTo>
                <a:lnTo>
                  <a:pt x="165" y="505"/>
                </a:lnTo>
                <a:cubicBezTo>
                  <a:pt x="175" y="514"/>
                  <a:pt x="188" y="519"/>
                  <a:pt x="200" y="519"/>
                </a:cubicBezTo>
                <a:cubicBezTo>
                  <a:pt x="214" y="519"/>
                  <a:pt x="232" y="513"/>
                  <a:pt x="244" y="495"/>
                </a:cubicBezTo>
                <a:cubicBezTo>
                  <a:pt x="251" y="484"/>
                  <a:pt x="502" y="83"/>
                  <a:pt x="502" y="83"/>
                </a:cubicBezTo>
                <a:cubicBezTo>
                  <a:pt x="517" y="58"/>
                  <a:pt x="510" y="25"/>
                  <a:pt x="487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66720" y="1206720"/>
            <a:ext cx="35470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何ができて、何ができない︖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979920" y="1711440"/>
            <a:ext cx="17280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正式サポート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047600" y="2335320"/>
            <a:ext cx="5488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仮想マシン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（ライブマイグレーション含む）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705960" y="3296880"/>
            <a:ext cx="245160" cy="245160"/>
          </a:xfrm>
          <a:custGeom>
            <a:avLst/>
            <a:gdLst/>
            <a:ahLst/>
            <a:rect l="0" t="0" r="r" b="b"/>
            <a:pathLst>
              <a:path w="681" h="681">
                <a:moveTo>
                  <a:pt x="413" y="341"/>
                </a:moveTo>
                <a:lnTo>
                  <a:pt x="666" y="89"/>
                </a:lnTo>
                <a:cubicBezTo>
                  <a:pt x="686" y="69"/>
                  <a:pt x="686" y="37"/>
                  <a:pt x="666" y="17"/>
                </a:cubicBezTo>
                <a:cubicBezTo>
                  <a:pt x="646" y="-5"/>
                  <a:pt x="613" y="-5"/>
                  <a:pt x="593" y="17"/>
                </a:cubicBezTo>
                <a:lnTo>
                  <a:pt x="340" y="268"/>
                </a:lnTo>
                <a:lnTo>
                  <a:pt x="89" y="17"/>
                </a:lnTo>
                <a:cubicBezTo>
                  <a:pt x="68" y="-5"/>
                  <a:pt x="36" y="-5"/>
                  <a:pt x="16" y="17"/>
                </a:cubicBezTo>
                <a:cubicBezTo>
                  <a:pt x="-4" y="37"/>
                  <a:pt x="-4" y="69"/>
                  <a:pt x="16" y="89"/>
                </a:cubicBezTo>
                <a:lnTo>
                  <a:pt x="268" y="341"/>
                </a:lnTo>
                <a:lnTo>
                  <a:pt x="15" y="593"/>
                </a:lnTo>
                <a:cubicBezTo>
                  <a:pt x="-5" y="614"/>
                  <a:pt x="-5" y="646"/>
                  <a:pt x="15" y="666"/>
                </a:cubicBezTo>
                <a:cubicBezTo>
                  <a:pt x="25" y="676"/>
                  <a:pt x="38" y="681"/>
                  <a:pt x="52" y="681"/>
                </a:cubicBezTo>
                <a:cubicBezTo>
                  <a:pt x="65" y="681"/>
                  <a:pt x="78" y="676"/>
                  <a:pt x="88" y="666"/>
                </a:cubicBezTo>
                <a:lnTo>
                  <a:pt x="340" y="414"/>
                </a:lnTo>
                <a:lnTo>
                  <a:pt x="593" y="666"/>
                </a:lnTo>
                <a:cubicBezTo>
                  <a:pt x="603" y="676"/>
                  <a:pt x="616" y="681"/>
                  <a:pt x="629" y="681"/>
                </a:cubicBezTo>
                <a:cubicBezTo>
                  <a:pt x="643" y="681"/>
                  <a:pt x="656" y="676"/>
                  <a:pt x="666" y="666"/>
                </a:cubicBezTo>
                <a:cubicBezTo>
                  <a:pt x="686" y="645"/>
                  <a:pt x="686" y="613"/>
                  <a:pt x="666" y="593"/>
                </a:cubicBezTo>
                <a:lnTo>
                  <a:pt x="413" y="341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047600" y="2706840"/>
            <a:ext cx="30258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Always On AG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828360" y="3990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79920" y="3245040"/>
            <a:ext cx="2546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引き続き⾮サポート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228680" y="43430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3" y="118"/>
                  <a:pt x="179" y="130"/>
                </a:cubicBezTo>
                <a:cubicBezTo>
                  <a:pt x="174" y="141"/>
                  <a:pt x="167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7" y="184"/>
                  <a:pt x="106" y="187"/>
                  <a:pt x="93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30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8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7" y="36"/>
                  <a:pt x="174" y="46"/>
                  <a:pt x="179" y="59"/>
                </a:cubicBezTo>
                <a:cubicBezTo>
                  <a:pt x="183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047600" y="3868920"/>
            <a:ext cx="1780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228680" y="4676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3" y="117"/>
                  <a:pt x="179" y="129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7" y="35"/>
                  <a:pt x="174" y="45"/>
                  <a:pt x="179" y="58"/>
                </a:cubicBezTo>
                <a:cubicBezTo>
                  <a:pt x="183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428840" y="4226040"/>
            <a:ext cx="254340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認証が必要なため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828360" y="5019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428840" y="4559400"/>
            <a:ext cx="222624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廃⽌の流れもあり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047600" y="4897800"/>
            <a:ext cx="62157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FCI (</a:t>
            </a:r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フェールオーバークラスタインスタンス</a:t>
            </a:r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)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1683800" y="6371640"/>
            <a:ext cx="246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66720" y="639720"/>
            <a:ext cx="436572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Local</a:t>
            </a:r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の</a:t>
            </a:r>
            <a:r>
              <a:rPr b="1" lang="en-US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レス構成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666720" y="1206720"/>
            <a:ext cx="32742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クラウド統合でさらに進化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66720" y="1711440"/>
            <a:ext cx="46382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ローカルアイデンティティクラスター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047600" y="2335320"/>
            <a:ext cx="54993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Local (23H2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以降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) 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レス構成をサポート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228680" y="31813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3" y="116"/>
                  <a:pt x="179" y="128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2" y="116"/>
                  <a:pt x="0" y="104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7" y="35"/>
                  <a:pt x="174" y="45"/>
                  <a:pt x="179" y="57"/>
                </a:cubicBezTo>
                <a:cubicBezTo>
                  <a:pt x="183" y="68"/>
                  <a:pt x="186" y="80"/>
                  <a:pt x="186" y="92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047600" y="2706840"/>
            <a:ext cx="26222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Key Vault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と統合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228680" y="3514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3" y="116"/>
                  <a:pt x="179" y="128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7" y="35"/>
                  <a:pt x="174" y="45"/>
                  <a:pt x="179" y="57"/>
                </a:cubicBezTo>
                <a:cubicBezTo>
                  <a:pt x="183" y="68"/>
                  <a:pt x="186" y="80"/>
                  <a:pt x="186" y="92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428840" y="3063960"/>
            <a:ext cx="422532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ノードのパスワードや暗号化キーを安全に保管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428840" y="3397320"/>
            <a:ext cx="338112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BitLocker</a:t>
            </a:r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鍵もクラウドバックアップ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828360" y="4657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666720" y="3902400"/>
            <a:ext cx="10918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メリット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828360" y="5019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047600" y="4535640"/>
            <a:ext cx="37224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構築が不要で導⼊のハードル低下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828360" y="5391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047600" y="4897800"/>
            <a:ext cx="35607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クラウドによる安全な秘密情報管理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047600" y="5269320"/>
            <a:ext cx="5899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エコシステム（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Veeam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、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Dell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、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Lenovo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など）との協調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11683800" y="6371640"/>
            <a:ext cx="246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11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666720" y="639720"/>
            <a:ext cx="225180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管理機能の強化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666720" y="1206720"/>
            <a:ext cx="44949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WS2025</a:t>
            </a:r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と</a:t>
            </a:r>
            <a:r>
              <a:rPr b="1" lang="en-US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Local</a:t>
            </a:r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の新機能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666720" y="1711440"/>
            <a:ext cx="27288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運⽤を簡素化する機能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228680" y="2809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3" y="117"/>
                  <a:pt x="179" y="129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7" y="36"/>
                  <a:pt x="174" y="46"/>
                  <a:pt x="179" y="57"/>
                </a:cubicBezTo>
                <a:cubicBezTo>
                  <a:pt x="183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047600" y="2335320"/>
            <a:ext cx="19746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内部</a:t>
            </a:r>
            <a:r>
              <a:rPr b="1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サービス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228680" y="3143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3" y="117"/>
                  <a:pt x="179" y="129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3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428840" y="2692440"/>
            <a:ext cx="321948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クラスター内で名前解決を⾃⼰完結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828360" y="35622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428840" y="3025800"/>
            <a:ext cx="316368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外部</a:t>
            </a:r>
            <a:r>
              <a:rPr b="0" lang="en-US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サーバーへの依存を削減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228680" y="39049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3" y="117"/>
                  <a:pt x="179" y="128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7" y="184"/>
                  <a:pt x="106" y="187"/>
                  <a:pt x="93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7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3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047600" y="3440520"/>
            <a:ext cx="1780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管理ツールキット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228680" y="42382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3" y="117"/>
                  <a:pt x="179" y="128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7" y="184"/>
                  <a:pt x="106" y="187"/>
                  <a:pt x="93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8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3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428840" y="3787920"/>
            <a:ext cx="342072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ガイド付きウィザードで設定を⾃動化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428840" y="4121280"/>
            <a:ext cx="319248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証明書配置や管理</a:t>
            </a:r>
            <a:r>
              <a:rPr b="0" lang="en-US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PC</a:t>
            </a:r>
            <a:r>
              <a:rPr b="0" lang="ja-JP" sz="158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設定を簡略化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828360" y="5381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66720" y="4635720"/>
            <a:ext cx="20376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Arc</a:t>
            </a:r>
            <a:r>
              <a:rPr b="1" lang="ja-JP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連携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828360" y="5752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047600" y="5259600"/>
            <a:ext cx="33382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ドメインレスでも集中管理が可能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047600" y="5631120"/>
            <a:ext cx="46731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ポリシー適⽤・監視・タグ付けをクラウドから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1683800" y="6371640"/>
            <a:ext cx="246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12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76080" y="2238120"/>
            <a:ext cx="1457640" cy="381600"/>
          </a:xfrm>
          <a:custGeom>
            <a:avLst/>
            <a:gdLst/>
            <a:ahLst/>
            <a:rect l="0" t="0" r="r" b="b"/>
            <a:pathLst>
              <a:path w="4049" h="1060">
                <a:moveTo>
                  <a:pt x="0" y="0"/>
                </a:moveTo>
                <a:lnTo>
                  <a:pt x="4049" y="0"/>
                </a:lnTo>
                <a:lnTo>
                  <a:pt x="404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133360" y="2238120"/>
            <a:ext cx="4429440" cy="381600"/>
          </a:xfrm>
          <a:custGeom>
            <a:avLst/>
            <a:gdLst/>
            <a:ahLst/>
            <a:rect l="0" t="0" r="r" b="b"/>
            <a:pathLst>
              <a:path w="12304" h="1060">
                <a:moveTo>
                  <a:pt x="0" y="0"/>
                </a:moveTo>
                <a:lnTo>
                  <a:pt x="12304" y="0"/>
                </a:lnTo>
                <a:lnTo>
                  <a:pt x="1230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6562440" y="2238120"/>
            <a:ext cx="914760" cy="381600"/>
          </a:xfrm>
          <a:custGeom>
            <a:avLst/>
            <a:gdLst/>
            <a:ahLst/>
            <a:rect l="0" t="0" r="r" b="b"/>
            <a:pathLst>
              <a:path w="2541" h="1060">
                <a:moveTo>
                  <a:pt x="0" y="0"/>
                </a:moveTo>
                <a:lnTo>
                  <a:pt x="2541" y="0"/>
                </a:lnTo>
                <a:lnTo>
                  <a:pt x="254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676080" y="2619360"/>
            <a:ext cx="1457640" cy="381240"/>
          </a:xfrm>
          <a:custGeom>
            <a:avLst/>
            <a:gdLst/>
            <a:ahLst/>
            <a:rect l="0" t="0" r="r" b="b"/>
            <a:pathLst>
              <a:path w="4049" h="1059">
                <a:moveTo>
                  <a:pt x="0" y="0"/>
                </a:moveTo>
                <a:lnTo>
                  <a:pt x="4049" y="0"/>
                </a:lnTo>
                <a:lnTo>
                  <a:pt x="404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133360" y="2619360"/>
            <a:ext cx="4429440" cy="381240"/>
          </a:xfrm>
          <a:custGeom>
            <a:avLst/>
            <a:gdLst/>
            <a:ahLst/>
            <a:rect l="0" t="0" r="r" b="b"/>
            <a:pathLst>
              <a:path w="12304" h="1059">
                <a:moveTo>
                  <a:pt x="0" y="0"/>
                </a:moveTo>
                <a:lnTo>
                  <a:pt x="12304" y="0"/>
                </a:lnTo>
                <a:lnTo>
                  <a:pt x="1230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6562440" y="2619360"/>
            <a:ext cx="914760" cy="381240"/>
          </a:xfrm>
          <a:custGeom>
            <a:avLst/>
            <a:gdLst/>
            <a:ahLst/>
            <a:rect l="0" t="0" r="r" b="b"/>
            <a:pathLst>
              <a:path w="2541" h="1059">
                <a:moveTo>
                  <a:pt x="0" y="0"/>
                </a:moveTo>
                <a:lnTo>
                  <a:pt x="2541" y="0"/>
                </a:lnTo>
                <a:lnTo>
                  <a:pt x="25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676080" y="3381120"/>
            <a:ext cx="1457640" cy="381600"/>
          </a:xfrm>
          <a:custGeom>
            <a:avLst/>
            <a:gdLst/>
            <a:ahLst/>
            <a:rect l="0" t="0" r="r" b="b"/>
            <a:pathLst>
              <a:path w="4049" h="1060">
                <a:moveTo>
                  <a:pt x="0" y="0"/>
                </a:moveTo>
                <a:lnTo>
                  <a:pt x="4049" y="0"/>
                </a:lnTo>
                <a:lnTo>
                  <a:pt x="404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133360" y="3381120"/>
            <a:ext cx="4429440" cy="381600"/>
          </a:xfrm>
          <a:custGeom>
            <a:avLst/>
            <a:gdLst/>
            <a:ahLst/>
            <a:rect l="0" t="0" r="r" b="b"/>
            <a:pathLst>
              <a:path w="12304" h="1060">
                <a:moveTo>
                  <a:pt x="0" y="0"/>
                </a:moveTo>
                <a:lnTo>
                  <a:pt x="12304" y="0"/>
                </a:lnTo>
                <a:lnTo>
                  <a:pt x="1230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6562440" y="3381120"/>
            <a:ext cx="914760" cy="381600"/>
          </a:xfrm>
          <a:custGeom>
            <a:avLst/>
            <a:gdLst/>
            <a:ahLst/>
            <a:rect l="0" t="0" r="r" b="b"/>
            <a:pathLst>
              <a:path w="2541" h="1060">
                <a:moveTo>
                  <a:pt x="0" y="0"/>
                </a:moveTo>
                <a:lnTo>
                  <a:pt x="2541" y="0"/>
                </a:lnTo>
                <a:lnTo>
                  <a:pt x="254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676080" y="4143240"/>
            <a:ext cx="1457640" cy="390960"/>
          </a:xfrm>
          <a:custGeom>
            <a:avLst/>
            <a:gdLst/>
            <a:ahLst/>
            <a:rect l="0" t="0" r="r" b="b"/>
            <a:pathLst>
              <a:path w="4049" h="1086">
                <a:moveTo>
                  <a:pt x="0" y="0"/>
                </a:moveTo>
                <a:lnTo>
                  <a:pt x="4049" y="0"/>
                </a:lnTo>
                <a:lnTo>
                  <a:pt x="404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2133360" y="4143240"/>
            <a:ext cx="4429440" cy="390960"/>
          </a:xfrm>
          <a:custGeom>
            <a:avLst/>
            <a:gdLst/>
            <a:ahLst/>
            <a:rect l="0" t="0" r="r" b="b"/>
            <a:pathLst>
              <a:path w="12304" h="1086">
                <a:moveTo>
                  <a:pt x="0" y="0"/>
                </a:moveTo>
                <a:lnTo>
                  <a:pt x="12304" y="0"/>
                </a:lnTo>
                <a:lnTo>
                  <a:pt x="12304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6562440" y="4143240"/>
            <a:ext cx="914760" cy="390960"/>
          </a:xfrm>
          <a:custGeom>
            <a:avLst/>
            <a:gdLst/>
            <a:ahLst/>
            <a:rect l="0" t="0" r="r" b="b"/>
            <a:pathLst>
              <a:path w="2541" h="1086">
                <a:moveTo>
                  <a:pt x="0" y="0"/>
                </a:moveTo>
                <a:lnTo>
                  <a:pt x="2541" y="0"/>
                </a:lnTo>
                <a:lnTo>
                  <a:pt x="254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666720" y="22287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666720" y="2228760"/>
            <a:ext cx="1467000" cy="9720"/>
          </a:xfrm>
          <a:custGeom>
            <a:avLst/>
            <a:gdLst/>
            <a:ahLst/>
            <a:rect l="0" t="0" r="r" b="b"/>
            <a:pathLst>
              <a:path w="4075" h="27">
                <a:moveTo>
                  <a:pt x="0" y="0"/>
                </a:moveTo>
                <a:lnTo>
                  <a:pt x="4075" y="0"/>
                </a:lnTo>
                <a:lnTo>
                  <a:pt x="40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124000" y="22287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133360" y="2228760"/>
            <a:ext cx="4429440" cy="9720"/>
          </a:xfrm>
          <a:custGeom>
            <a:avLst/>
            <a:gdLst/>
            <a:ahLst/>
            <a:rect l="0" t="0" r="r" b="b"/>
            <a:pathLst>
              <a:path w="12304" h="27">
                <a:moveTo>
                  <a:pt x="0" y="0"/>
                </a:moveTo>
                <a:lnTo>
                  <a:pt x="12304" y="0"/>
                </a:lnTo>
                <a:lnTo>
                  <a:pt x="12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6553080" y="22287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6562440" y="222876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7467480" y="22287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666720" y="2609640"/>
            <a:ext cx="1467000" cy="10080"/>
          </a:xfrm>
          <a:custGeom>
            <a:avLst/>
            <a:gdLst/>
            <a:ahLst/>
            <a:rect l="0" t="0" r="r" b="b"/>
            <a:pathLst>
              <a:path w="4075" h="28">
                <a:moveTo>
                  <a:pt x="0" y="0"/>
                </a:moveTo>
                <a:lnTo>
                  <a:pt x="4075" y="0"/>
                </a:lnTo>
                <a:lnTo>
                  <a:pt x="40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2133360" y="2609640"/>
            <a:ext cx="4429440" cy="10080"/>
          </a:xfrm>
          <a:custGeom>
            <a:avLst/>
            <a:gdLst/>
            <a:ahLst/>
            <a:rect l="0" t="0" r="r" b="b"/>
            <a:pathLst>
              <a:path w="12304" h="28">
                <a:moveTo>
                  <a:pt x="0" y="0"/>
                </a:moveTo>
                <a:lnTo>
                  <a:pt x="12304" y="0"/>
                </a:lnTo>
                <a:lnTo>
                  <a:pt x="12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6562440" y="260964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666720" y="2619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124000" y="2619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6553080" y="2619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7467480" y="2619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666720" y="30002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666720" y="2990520"/>
            <a:ext cx="1467000" cy="10080"/>
          </a:xfrm>
          <a:custGeom>
            <a:avLst/>
            <a:gdLst/>
            <a:ahLst/>
            <a:rect l="0" t="0" r="r" b="b"/>
            <a:pathLst>
              <a:path w="4075" h="28">
                <a:moveTo>
                  <a:pt x="0" y="0"/>
                </a:moveTo>
                <a:lnTo>
                  <a:pt x="4075" y="0"/>
                </a:lnTo>
                <a:lnTo>
                  <a:pt x="40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124000" y="30002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133360" y="2990520"/>
            <a:ext cx="4429440" cy="10080"/>
          </a:xfrm>
          <a:custGeom>
            <a:avLst/>
            <a:gdLst/>
            <a:ahLst/>
            <a:rect l="0" t="0" r="r" b="b"/>
            <a:pathLst>
              <a:path w="12304" h="28">
                <a:moveTo>
                  <a:pt x="0" y="0"/>
                </a:moveTo>
                <a:lnTo>
                  <a:pt x="12304" y="0"/>
                </a:lnTo>
                <a:lnTo>
                  <a:pt x="12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553080" y="30002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562440" y="299052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7467480" y="30002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66720" y="3390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666720" y="3381120"/>
            <a:ext cx="1467000" cy="10080"/>
          </a:xfrm>
          <a:custGeom>
            <a:avLst/>
            <a:gdLst/>
            <a:ahLst/>
            <a:rect l="0" t="0" r="r" b="b"/>
            <a:pathLst>
              <a:path w="4075" h="28">
                <a:moveTo>
                  <a:pt x="0" y="0"/>
                </a:moveTo>
                <a:lnTo>
                  <a:pt x="4075" y="0"/>
                </a:lnTo>
                <a:lnTo>
                  <a:pt x="40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2124000" y="3390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133360" y="3381120"/>
            <a:ext cx="4429440" cy="10080"/>
          </a:xfrm>
          <a:custGeom>
            <a:avLst/>
            <a:gdLst/>
            <a:ahLst/>
            <a:rect l="0" t="0" r="r" b="b"/>
            <a:pathLst>
              <a:path w="12304" h="28">
                <a:moveTo>
                  <a:pt x="0" y="0"/>
                </a:moveTo>
                <a:lnTo>
                  <a:pt x="12304" y="0"/>
                </a:lnTo>
                <a:lnTo>
                  <a:pt x="12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6553080" y="3390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6562440" y="338112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7467480" y="3390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66720" y="3771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66720" y="3762360"/>
            <a:ext cx="1467000" cy="9720"/>
          </a:xfrm>
          <a:custGeom>
            <a:avLst/>
            <a:gdLst/>
            <a:ahLst/>
            <a:rect l="0" t="0" r="r" b="b"/>
            <a:pathLst>
              <a:path w="4075" h="27">
                <a:moveTo>
                  <a:pt x="0" y="0"/>
                </a:moveTo>
                <a:lnTo>
                  <a:pt x="4075" y="0"/>
                </a:lnTo>
                <a:lnTo>
                  <a:pt x="40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124000" y="3771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133360" y="3762360"/>
            <a:ext cx="4429440" cy="9720"/>
          </a:xfrm>
          <a:custGeom>
            <a:avLst/>
            <a:gdLst/>
            <a:ahLst/>
            <a:rect l="0" t="0" r="r" b="b"/>
            <a:pathLst>
              <a:path w="12304" h="27">
                <a:moveTo>
                  <a:pt x="0" y="0"/>
                </a:moveTo>
                <a:lnTo>
                  <a:pt x="12304" y="0"/>
                </a:lnTo>
                <a:lnTo>
                  <a:pt x="12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6553080" y="3771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562440" y="376236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7467480" y="3771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66720" y="41526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66720" y="4143240"/>
            <a:ext cx="1467000" cy="9720"/>
          </a:xfrm>
          <a:custGeom>
            <a:avLst/>
            <a:gdLst/>
            <a:ahLst/>
            <a:rect l="0" t="0" r="r" b="b"/>
            <a:pathLst>
              <a:path w="4075" h="27">
                <a:moveTo>
                  <a:pt x="0" y="0"/>
                </a:moveTo>
                <a:lnTo>
                  <a:pt x="4075" y="0"/>
                </a:lnTo>
                <a:lnTo>
                  <a:pt x="40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124000" y="41526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2133360" y="4143240"/>
            <a:ext cx="4429440" cy="9720"/>
          </a:xfrm>
          <a:custGeom>
            <a:avLst/>
            <a:gdLst/>
            <a:ahLst/>
            <a:rect l="0" t="0" r="r" b="b"/>
            <a:pathLst>
              <a:path w="12304" h="27">
                <a:moveTo>
                  <a:pt x="0" y="0"/>
                </a:moveTo>
                <a:lnTo>
                  <a:pt x="12304" y="0"/>
                </a:lnTo>
                <a:lnTo>
                  <a:pt x="12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6553080" y="41526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6562440" y="4143240"/>
            <a:ext cx="914760" cy="9720"/>
          </a:xfrm>
          <a:custGeom>
            <a:avLst/>
            <a:gdLst/>
            <a:ahLst/>
            <a:rect l="0" t="0" r="r" b="b"/>
            <a:pathLst>
              <a:path w="2541" h="27">
                <a:moveTo>
                  <a:pt x="0" y="0"/>
                </a:moveTo>
                <a:lnTo>
                  <a:pt x="2541" y="0"/>
                </a:lnTo>
                <a:lnTo>
                  <a:pt x="2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7467480" y="41526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66720" y="4524120"/>
            <a:ext cx="1467000" cy="10080"/>
          </a:xfrm>
          <a:custGeom>
            <a:avLst/>
            <a:gdLst/>
            <a:ahLst/>
            <a:rect l="0" t="0" r="r" b="b"/>
            <a:pathLst>
              <a:path w="4075" h="28">
                <a:moveTo>
                  <a:pt x="0" y="0"/>
                </a:moveTo>
                <a:lnTo>
                  <a:pt x="4075" y="0"/>
                </a:lnTo>
                <a:lnTo>
                  <a:pt x="40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2133360" y="4524120"/>
            <a:ext cx="4429440" cy="10080"/>
          </a:xfrm>
          <a:custGeom>
            <a:avLst/>
            <a:gdLst/>
            <a:ahLst/>
            <a:rect l="0" t="0" r="r" b="b"/>
            <a:pathLst>
              <a:path w="12304" h="28">
                <a:moveTo>
                  <a:pt x="0" y="0"/>
                </a:moveTo>
                <a:lnTo>
                  <a:pt x="12304" y="0"/>
                </a:lnTo>
                <a:lnTo>
                  <a:pt x="12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6562440" y="452412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2541" y="0"/>
                </a:lnTo>
                <a:lnTo>
                  <a:pt x="2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666720" y="629640"/>
            <a:ext cx="6780960" cy="68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36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が担っていた役割（まとめ）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666720" y="1456560"/>
            <a:ext cx="7436520" cy="594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1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Active Directory</a:t>
            </a:r>
            <a:r>
              <a:rPr b="1" lang="ja-JP" sz="31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は何をしていたのか︖</a:t>
            </a:r>
            <a:endParaRPr b="0" lang="en-US" sz="31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175760" y="2269440"/>
            <a:ext cx="427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679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役割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4119840" y="2269440"/>
            <a:ext cx="427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679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内容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6679080" y="2269440"/>
            <a:ext cx="640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679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重要度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761400" y="2650320"/>
            <a:ext cx="1052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① ID</a:t>
            </a:r>
            <a:r>
              <a:rPr b="1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管理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6673320" y="2698200"/>
            <a:ext cx="207360" cy="189720"/>
          </a:xfrm>
          <a:custGeom>
            <a:avLst/>
            <a:gdLst/>
            <a:ahLst/>
            <a:rect l="0" t="0" r="r" b="b"/>
            <a:pathLst>
              <a:path w="576" h="527">
                <a:moveTo>
                  <a:pt x="446" y="527"/>
                </a:moveTo>
                <a:cubicBezTo>
                  <a:pt x="439" y="527"/>
                  <a:pt x="432" y="525"/>
                  <a:pt x="426" y="521"/>
                </a:cubicBezTo>
                <a:lnTo>
                  <a:pt x="289" y="426"/>
                </a:lnTo>
                <a:lnTo>
                  <a:pt x="151" y="521"/>
                </a:lnTo>
                <a:cubicBezTo>
                  <a:pt x="139" y="529"/>
                  <a:pt x="124" y="529"/>
                  <a:pt x="111" y="521"/>
                </a:cubicBezTo>
                <a:cubicBezTo>
                  <a:pt x="99" y="512"/>
                  <a:pt x="94" y="498"/>
                  <a:pt x="99" y="485"/>
                </a:cubicBezTo>
                <a:lnTo>
                  <a:pt x="151" y="327"/>
                </a:lnTo>
                <a:lnTo>
                  <a:pt x="14" y="235"/>
                </a:lnTo>
                <a:cubicBezTo>
                  <a:pt x="2" y="227"/>
                  <a:pt x="-3" y="212"/>
                  <a:pt x="2" y="199"/>
                </a:cubicBezTo>
                <a:cubicBezTo>
                  <a:pt x="6" y="186"/>
                  <a:pt x="19" y="177"/>
                  <a:pt x="33" y="177"/>
                </a:cubicBezTo>
                <a:lnTo>
                  <a:pt x="203" y="177"/>
                </a:lnTo>
                <a:lnTo>
                  <a:pt x="257" y="22"/>
                </a:lnTo>
                <a:cubicBezTo>
                  <a:pt x="261" y="8"/>
                  <a:pt x="274" y="0"/>
                  <a:pt x="289" y="0"/>
                </a:cubicBezTo>
                <a:cubicBezTo>
                  <a:pt x="303" y="0"/>
                  <a:pt x="316" y="8"/>
                  <a:pt x="320" y="22"/>
                </a:cubicBezTo>
                <a:lnTo>
                  <a:pt x="373" y="177"/>
                </a:lnTo>
                <a:lnTo>
                  <a:pt x="543" y="177"/>
                </a:lnTo>
                <a:cubicBezTo>
                  <a:pt x="557" y="177"/>
                  <a:pt x="570" y="186"/>
                  <a:pt x="574" y="199"/>
                </a:cubicBezTo>
                <a:cubicBezTo>
                  <a:pt x="579" y="212"/>
                  <a:pt x="574" y="227"/>
                  <a:pt x="562" y="235"/>
                </a:cubicBezTo>
                <a:lnTo>
                  <a:pt x="426" y="327"/>
                </a:lnTo>
                <a:lnTo>
                  <a:pt x="477" y="485"/>
                </a:lnTo>
                <a:cubicBezTo>
                  <a:pt x="482" y="498"/>
                  <a:pt x="477" y="512"/>
                  <a:pt x="465" y="521"/>
                </a:cubicBezTo>
                <a:cubicBezTo>
                  <a:pt x="459" y="525"/>
                  <a:pt x="452" y="527"/>
                  <a:pt x="446" y="52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6920640" y="2698200"/>
            <a:ext cx="198360" cy="189720"/>
          </a:xfrm>
          <a:custGeom>
            <a:avLst/>
            <a:gdLst/>
            <a:ahLst/>
            <a:rect l="0" t="0" r="r" b="b"/>
            <a:pathLst>
              <a:path w="551" h="527">
                <a:moveTo>
                  <a:pt x="426" y="527"/>
                </a:moveTo>
                <a:cubicBezTo>
                  <a:pt x="420" y="527"/>
                  <a:pt x="413" y="525"/>
                  <a:pt x="408" y="521"/>
                </a:cubicBezTo>
                <a:lnTo>
                  <a:pt x="276" y="426"/>
                </a:lnTo>
                <a:lnTo>
                  <a:pt x="144" y="521"/>
                </a:lnTo>
                <a:cubicBezTo>
                  <a:pt x="133" y="529"/>
                  <a:pt x="118" y="529"/>
                  <a:pt x="106" y="521"/>
                </a:cubicBezTo>
                <a:cubicBezTo>
                  <a:pt x="95" y="512"/>
                  <a:pt x="91" y="498"/>
                  <a:pt x="95" y="485"/>
                </a:cubicBezTo>
                <a:lnTo>
                  <a:pt x="144" y="327"/>
                </a:lnTo>
                <a:lnTo>
                  <a:pt x="13" y="235"/>
                </a:lnTo>
                <a:cubicBezTo>
                  <a:pt x="2" y="227"/>
                  <a:pt x="-2" y="212"/>
                  <a:pt x="2" y="199"/>
                </a:cubicBezTo>
                <a:cubicBezTo>
                  <a:pt x="6" y="186"/>
                  <a:pt x="18" y="177"/>
                  <a:pt x="32" y="177"/>
                </a:cubicBezTo>
                <a:lnTo>
                  <a:pt x="194" y="177"/>
                </a:lnTo>
                <a:lnTo>
                  <a:pt x="245" y="22"/>
                </a:lnTo>
                <a:cubicBezTo>
                  <a:pt x="249" y="8"/>
                  <a:pt x="262" y="0"/>
                  <a:pt x="276" y="0"/>
                </a:cubicBezTo>
                <a:cubicBezTo>
                  <a:pt x="290" y="0"/>
                  <a:pt x="302" y="8"/>
                  <a:pt x="307" y="22"/>
                </a:cubicBezTo>
                <a:lnTo>
                  <a:pt x="357" y="177"/>
                </a:lnTo>
                <a:lnTo>
                  <a:pt x="519" y="177"/>
                </a:lnTo>
                <a:cubicBezTo>
                  <a:pt x="533" y="177"/>
                  <a:pt x="545" y="186"/>
                  <a:pt x="550" y="199"/>
                </a:cubicBezTo>
                <a:cubicBezTo>
                  <a:pt x="554" y="212"/>
                  <a:pt x="549" y="227"/>
                  <a:pt x="538" y="235"/>
                </a:cubicBezTo>
                <a:lnTo>
                  <a:pt x="408" y="327"/>
                </a:lnTo>
                <a:lnTo>
                  <a:pt x="457" y="485"/>
                </a:lnTo>
                <a:cubicBezTo>
                  <a:pt x="461" y="498"/>
                  <a:pt x="456" y="512"/>
                  <a:pt x="445" y="521"/>
                </a:cubicBezTo>
                <a:cubicBezTo>
                  <a:pt x="440" y="525"/>
                  <a:pt x="433" y="527"/>
                  <a:pt x="426" y="52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7168320" y="2698200"/>
            <a:ext cx="198360" cy="189720"/>
          </a:xfrm>
          <a:custGeom>
            <a:avLst/>
            <a:gdLst/>
            <a:ahLst/>
            <a:rect l="0" t="0" r="r" b="b"/>
            <a:pathLst>
              <a:path w="551" h="527">
                <a:moveTo>
                  <a:pt x="426" y="527"/>
                </a:moveTo>
                <a:cubicBezTo>
                  <a:pt x="420" y="527"/>
                  <a:pt x="413" y="525"/>
                  <a:pt x="408" y="521"/>
                </a:cubicBezTo>
                <a:lnTo>
                  <a:pt x="276" y="426"/>
                </a:lnTo>
                <a:lnTo>
                  <a:pt x="145" y="521"/>
                </a:lnTo>
                <a:cubicBezTo>
                  <a:pt x="133" y="529"/>
                  <a:pt x="117" y="529"/>
                  <a:pt x="106" y="521"/>
                </a:cubicBezTo>
                <a:cubicBezTo>
                  <a:pt x="95" y="512"/>
                  <a:pt x="90" y="498"/>
                  <a:pt x="95" y="485"/>
                </a:cubicBezTo>
                <a:lnTo>
                  <a:pt x="145" y="327"/>
                </a:lnTo>
                <a:lnTo>
                  <a:pt x="13" y="235"/>
                </a:lnTo>
                <a:cubicBezTo>
                  <a:pt x="2" y="227"/>
                  <a:pt x="-2" y="212"/>
                  <a:pt x="2" y="199"/>
                </a:cubicBezTo>
                <a:cubicBezTo>
                  <a:pt x="6" y="186"/>
                  <a:pt x="18" y="177"/>
                  <a:pt x="32" y="177"/>
                </a:cubicBezTo>
                <a:lnTo>
                  <a:pt x="195" y="177"/>
                </a:lnTo>
                <a:lnTo>
                  <a:pt x="246" y="22"/>
                </a:lnTo>
                <a:cubicBezTo>
                  <a:pt x="250" y="8"/>
                  <a:pt x="262" y="0"/>
                  <a:pt x="276" y="0"/>
                </a:cubicBezTo>
                <a:cubicBezTo>
                  <a:pt x="290" y="0"/>
                  <a:pt x="302" y="8"/>
                  <a:pt x="307" y="22"/>
                </a:cubicBezTo>
                <a:lnTo>
                  <a:pt x="357" y="177"/>
                </a:lnTo>
                <a:lnTo>
                  <a:pt x="519" y="177"/>
                </a:lnTo>
                <a:cubicBezTo>
                  <a:pt x="533" y="177"/>
                  <a:pt x="545" y="186"/>
                  <a:pt x="550" y="199"/>
                </a:cubicBezTo>
                <a:cubicBezTo>
                  <a:pt x="554" y="212"/>
                  <a:pt x="549" y="227"/>
                  <a:pt x="538" y="235"/>
                </a:cubicBezTo>
                <a:lnTo>
                  <a:pt x="408" y="327"/>
                </a:lnTo>
                <a:lnTo>
                  <a:pt x="457" y="485"/>
                </a:lnTo>
                <a:cubicBezTo>
                  <a:pt x="461" y="498"/>
                  <a:pt x="456" y="512"/>
                  <a:pt x="445" y="521"/>
                </a:cubicBezTo>
                <a:cubicBezTo>
                  <a:pt x="440" y="525"/>
                  <a:pt x="433" y="527"/>
                  <a:pt x="426" y="52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2221200" y="2650320"/>
            <a:ext cx="4063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CNO/VCO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でクラスター名・役割名を管理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61400" y="3031560"/>
            <a:ext cx="711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② 認証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673320" y="3079080"/>
            <a:ext cx="207360" cy="189720"/>
          </a:xfrm>
          <a:custGeom>
            <a:avLst/>
            <a:gdLst/>
            <a:ahLst/>
            <a:rect l="0" t="0" r="r" b="b"/>
            <a:pathLst>
              <a:path w="576" h="527">
                <a:moveTo>
                  <a:pt x="446" y="527"/>
                </a:moveTo>
                <a:cubicBezTo>
                  <a:pt x="439" y="527"/>
                  <a:pt x="432" y="525"/>
                  <a:pt x="426" y="521"/>
                </a:cubicBezTo>
                <a:lnTo>
                  <a:pt x="289" y="427"/>
                </a:lnTo>
                <a:lnTo>
                  <a:pt x="151" y="521"/>
                </a:lnTo>
                <a:cubicBezTo>
                  <a:pt x="139" y="529"/>
                  <a:pt x="124" y="529"/>
                  <a:pt x="111" y="521"/>
                </a:cubicBezTo>
                <a:cubicBezTo>
                  <a:pt x="99" y="513"/>
                  <a:pt x="94" y="498"/>
                  <a:pt x="99" y="485"/>
                </a:cubicBezTo>
                <a:lnTo>
                  <a:pt x="151" y="327"/>
                </a:lnTo>
                <a:lnTo>
                  <a:pt x="14" y="235"/>
                </a:lnTo>
                <a:cubicBezTo>
                  <a:pt x="2" y="227"/>
                  <a:pt x="-3" y="213"/>
                  <a:pt x="2" y="200"/>
                </a:cubicBezTo>
                <a:cubicBezTo>
                  <a:pt x="6" y="186"/>
                  <a:pt x="19" y="178"/>
                  <a:pt x="33" y="178"/>
                </a:cubicBezTo>
                <a:lnTo>
                  <a:pt x="203" y="177"/>
                </a:lnTo>
                <a:lnTo>
                  <a:pt x="257" y="22"/>
                </a:lnTo>
                <a:cubicBezTo>
                  <a:pt x="261" y="9"/>
                  <a:pt x="274" y="0"/>
                  <a:pt x="289" y="0"/>
                </a:cubicBezTo>
                <a:cubicBezTo>
                  <a:pt x="303" y="0"/>
                  <a:pt x="316" y="9"/>
                  <a:pt x="320" y="22"/>
                </a:cubicBezTo>
                <a:lnTo>
                  <a:pt x="373" y="177"/>
                </a:lnTo>
                <a:lnTo>
                  <a:pt x="543" y="178"/>
                </a:lnTo>
                <a:cubicBezTo>
                  <a:pt x="557" y="178"/>
                  <a:pt x="570" y="187"/>
                  <a:pt x="574" y="200"/>
                </a:cubicBezTo>
                <a:cubicBezTo>
                  <a:pt x="579" y="213"/>
                  <a:pt x="574" y="227"/>
                  <a:pt x="562" y="235"/>
                </a:cubicBezTo>
                <a:lnTo>
                  <a:pt x="426" y="327"/>
                </a:lnTo>
                <a:lnTo>
                  <a:pt x="477" y="485"/>
                </a:lnTo>
                <a:cubicBezTo>
                  <a:pt x="482" y="498"/>
                  <a:pt x="477" y="513"/>
                  <a:pt x="465" y="521"/>
                </a:cubicBezTo>
                <a:cubicBezTo>
                  <a:pt x="459" y="525"/>
                  <a:pt x="452" y="527"/>
                  <a:pt x="446" y="52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6920640" y="3079080"/>
            <a:ext cx="198360" cy="189720"/>
          </a:xfrm>
          <a:custGeom>
            <a:avLst/>
            <a:gdLst/>
            <a:ahLst/>
            <a:rect l="0" t="0" r="r" b="b"/>
            <a:pathLst>
              <a:path w="551" h="527">
                <a:moveTo>
                  <a:pt x="426" y="527"/>
                </a:moveTo>
                <a:cubicBezTo>
                  <a:pt x="420" y="527"/>
                  <a:pt x="413" y="525"/>
                  <a:pt x="408" y="521"/>
                </a:cubicBezTo>
                <a:lnTo>
                  <a:pt x="276" y="427"/>
                </a:lnTo>
                <a:lnTo>
                  <a:pt x="144" y="521"/>
                </a:lnTo>
                <a:cubicBezTo>
                  <a:pt x="133" y="529"/>
                  <a:pt x="118" y="529"/>
                  <a:pt x="106" y="521"/>
                </a:cubicBezTo>
                <a:cubicBezTo>
                  <a:pt x="95" y="513"/>
                  <a:pt x="91" y="498"/>
                  <a:pt x="95" y="485"/>
                </a:cubicBezTo>
                <a:lnTo>
                  <a:pt x="144" y="327"/>
                </a:lnTo>
                <a:lnTo>
                  <a:pt x="13" y="235"/>
                </a:lnTo>
                <a:cubicBezTo>
                  <a:pt x="2" y="227"/>
                  <a:pt x="-2" y="213"/>
                  <a:pt x="2" y="200"/>
                </a:cubicBezTo>
                <a:cubicBezTo>
                  <a:pt x="6" y="186"/>
                  <a:pt x="18" y="178"/>
                  <a:pt x="32" y="178"/>
                </a:cubicBezTo>
                <a:lnTo>
                  <a:pt x="194" y="177"/>
                </a:lnTo>
                <a:lnTo>
                  <a:pt x="245" y="22"/>
                </a:lnTo>
                <a:cubicBezTo>
                  <a:pt x="249" y="9"/>
                  <a:pt x="262" y="0"/>
                  <a:pt x="276" y="0"/>
                </a:cubicBezTo>
                <a:cubicBezTo>
                  <a:pt x="290" y="0"/>
                  <a:pt x="302" y="9"/>
                  <a:pt x="307" y="22"/>
                </a:cubicBezTo>
                <a:lnTo>
                  <a:pt x="357" y="177"/>
                </a:lnTo>
                <a:lnTo>
                  <a:pt x="519" y="178"/>
                </a:lnTo>
                <a:cubicBezTo>
                  <a:pt x="533" y="178"/>
                  <a:pt x="545" y="187"/>
                  <a:pt x="550" y="200"/>
                </a:cubicBezTo>
                <a:cubicBezTo>
                  <a:pt x="554" y="213"/>
                  <a:pt x="549" y="227"/>
                  <a:pt x="538" y="235"/>
                </a:cubicBezTo>
                <a:lnTo>
                  <a:pt x="408" y="327"/>
                </a:lnTo>
                <a:lnTo>
                  <a:pt x="457" y="485"/>
                </a:lnTo>
                <a:cubicBezTo>
                  <a:pt x="461" y="498"/>
                  <a:pt x="456" y="513"/>
                  <a:pt x="445" y="521"/>
                </a:cubicBezTo>
                <a:cubicBezTo>
                  <a:pt x="440" y="525"/>
                  <a:pt x="433" y="527"/>
                  <a:pt x="426" y="52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7168320" y="3079080"/>
            <a:ext cx="198360" cy="189720"/>
          </a:xfrm>
          <a:custGeom>
            <a:avLst/>
            <a:gdLst/>
            <a:ahLst/>
            <a:rect l="0" t="0" r="r" b="b"/>
            <a:pathLst>
              <a:path w="551" h="527">
                <a:moveTo>
                  <a:pt x="426" y="527"/>
                </a:moveTo>
                <a:cubicBezTo>
                  <a:pt x="420" y="527"/>
                  <a:pt x="413" y="525"/>
                  <a:pt x="408" y="521"/>
                </a:cubicBezTo>
                <a:lnTo>
                  <a:pt x="276" y="427"/>
                </a:lnTo>
                <a:lnTo>
                  <a:pt x="145" y="521"/>
                </a:lnTo>
                <a:cubicBezTo>
                  <a:pt x="133" y="529"/>
                  <a:pt x="117" y="529"/>
                  <a:pt x="106" y="521"/>
                </a:cubicBezTo>
                <a:cubicBezTo>
                  <a:pt x="95" y="513"/>
                  <a:pt x="90" y="498"/>
                  <a:pt x="95" y="485"/>
                </a:cubicBezTo>
                <a:lnTo>
                  <a:pt x="145" y="327"/>
                </a:lnTo>
                <a:lnTo>
                  <a:pt x="13" y="235"/>
                </a:lnTo>
                <a:cubicBezTo>
                  <a:pt x="2" y="227"/>
                  <a:pt x="-2" y="213"/>
                  <a:pt x="2" y="200"/>
                </a:cubicBezTo>
                <a:cubicBezTo>
                  <a:pt x="6" y="186"/>
                  <a:pt x="18" y="178"/>
                  <a:pt x="32" y="178"/>
                </a:cubicBezTo>
                <a:lnTo>
                  <a:pt x="195" y="177"/>
                </a:lnTo>
                <a:lnTo>
                  <a:pt x="246" y="22"/>
                </a:lnTo>
                <a:cubicBezTo>
                  <a:pt x="250" y="9"/>
                  <a:pt x="262" y="0"/>
                  <a:pt x="276" y="0"/>
                </a:cubicBezTo>
                <a:cubicBezTo>
                  <a:pt x="290" y="0"/>
                  <a:pt x="302" y="9"/>
                  <a:pt x="307" y="22"/>
                </a:cubicBezTo>
                <a:lnTo>
                  <a:pt x="357" y="177"/>
                </a:lnTo>
                <a:lnTo>
                  <a:pt x="519" y="178"/>
                </a:lnTo>
                <a:cubicBezTo>
                  <a:pt x="533" y="178"/>
                  <a:pt x="545" y="187"/>
                  <a:pt x="550" y="200"/>
                </a:cubicBezTo>
                <a:cubicBezTo>
                  <a:pt x="554" y="213"/>
                  <a:pt x="549" y="227"/>
                  <a:pt x="538" y="235"/>
                </a:cubicBezTo>
                <a:lnTo>
                  <a:pt x="408" y="327"/>
                </a:lnTo>
                <a:lnTo>
                  <a:pt x="457" y="485"/>
                </a:lnTo>
                <a:cubicBezTo>
                  <a:pt x="461" y="498"/>
                  <a:pt x="456" y="513"/>
                  <a:pt x="445" y="521"/>
                </a:cubicBezTo>
                <a:cubicBezTo>
                  <a:pt x="440" y="525"/>
                  <a:pt x="433" y="527"/>
                  <a:pt x="426" y="52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2221200" y="3031560"/>
            <a:ext cx="3977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でノード間・クライアント認証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673320" y="3459960"/>
            <a:ext cx="207360" cy="189720"/>
          </a:xfrm>
          <a:custGeom>
            <a:avLst/>
            <a:gdLst/>
            <a:ahLst/>
            <a:rect l="0" t="0" r="r" b="b"/>
            <a:pathLst>
              <a:path w="576" h="527">
                <a:moveTo>
                  <a:pt x="446" y="527"/>
                </a:moveTo>
                <a:cubicBezTo>
                  <a:pt x="439" y="527"/>
                  <a:pt x="432" y="525"/>
                  <a:pt x="426" y="521"/>
                </a:cubicBezTo>
                <a:lnTo>
                  <a:pt x="289" y="427"/>
                </a:lnTo>
                <a:lnTo>
                  <a:pt x="151" y="521"/>
                </a:lnTo>
                <a:cubicBezTo>
                  <a:pt x="139" y="529"/>
                  <a:pt x="124" y="529"/>
                  <a:pt x="111" y="521"/>
                </a:cubicBezTo>
                <a:cubicBezTo>
                  <a:pt x="99" y="513"/>
                  <a:pt x="94" y="499"/>
                  <a:pt x="99" y="486"/>
                </a:cubicBezTo>
                <a:lnTo>
                  <a:pt x="151" y="327"/>
                </a:lnTo>
                <a:lnTo>
                  <a:pt x="14" y="236"/>
                </a:lnTo>
                <a:cubicBezTo>
                  <a:pt x="2" y="227"/>
                  <a:pt x="-3" y="213"/>
                  <a:pt x="2" y="200"/>
                </a:cubicBezTo>
                <a:cubicBezTo>
                  <a:pt x="6" y="187"/>
                  <a:pt x="19" y="178"/>
                  <a:pt x="33" y="178"/>
                </a:cubicBezTo>
                <a:lnTo>
                  <a:pt x="203" y="178"/>
                </a:lnTo>
                <a:lnTo>
                  <a:pt x="257" y="22"/>
                </a:lnTo>
                <a:cubicBezTo>
                  <a:pt x="261" y="9"/>
                  <a:pt x="274" y="0"/>
                  <a:pt x="289" y="0"/>
                </a:cubicBezTo>
                <a:cubicBezTo>
                  <a:pt x="303" y="0"/>
                  <a:pt x="316" y="9"/>
                  <a:pt x="320" y="22"/>
                </a:cubicBezTo>
                <a:lnTo>
                  <a:pt x="373" y="178"/>
                </a:lnTo>
                <a:lnTo>
                  <a:pt x="543" y="178"/>
                </a:lnTo>
                <a:cubicBezTo>
                  <a:pt x="557" y="178"/>
                  <a:pt x="570" y="187"/>
                  <a:pt x="574" y="200"/>
                </a:cubicBezTo>
                <a:cubicBezTo>
                  <a:pt x="579" y="213"/>
                  <a:pt x="574" y="227"/>
                  <a:pt x="562" y="236"/>
                </a:cubicBezTo>
                <a:lnTo>
                  <a:pt x="426" y="327"/>
                </a:lnTo>
                <a:lnTo>
                  <a:pt x="477" y="486"/>
                </a:lnTo>
                <a:cubicBezTo>
                  <a:pt x="482" y="499"/>
                  <a:pt x="477" y="513"/>
                  <a:pt x="465" y="521"/>
                </a:cubicBezTo>
                <a:cubicBezTo>
                  <a:pt x="459" y="525"/>
                  <a:pt x="452" y="527"/>
                  <a:pt x="446" y="52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920640" y="3459960"/>
            <a:ext cx="198360" cy="189720"/>
          </a:xfrm>
          <a:custGeom>
            <a:avLst/>
            <a:gdLst/>
            <a:ahLst/>
            <a:rect l="0" t="0" r="r" b="b"/>
            <a:pathLst>
              <a:path w="551" h="527">
                <a:moveTo>
                  <a:pt x="426" y="527"/>
                </a:moveTo>
                <a:cubicBezTo>
                  <a:pt x="420" y="527"/>
                  <a:pt x="413" y="525"/>
                  <a:pt x="408" y="521"/>
                </a:cubicBezTo>
                <a:lnTo>
                  <a:pt x="276" y="427"/>
                </a:lnTo>
                <a:lnTo>
                  <a:pt x="144" y="521"/>
                </a:lnTo>
                <a:cubicBezTo>
                  <a:pt x="133" y="529"/>
                  <a:pt x="118" y="529"/>
                  <a:pt x="106" y="521"/>
                </a:cubicBezTo>
                <a:cubicBezTo>
                  <a:pt x="95" y="513"/>
                  <a:pt x="91" y="499"/>
                  <a:pt x="95" y="486"/>
                </a:cubicBezTo>
                <a:lnTo>
                  <a:pt x="144" y="327"/>
                </a:lnTo>
                <a:lnTo>
                  <a:pt x="13" y="236"/>
                </a:lnTo>
                <a:cubicBezTo>
                  <a:pt x="2" y="227"/>
                  <a:pt x="-2" y="213"/>
                  <a:pt x="2" y="200"/>
                </a:cubicBezTo>
                <a:cubicBezTo>
                  <a:pt x="6" y="187"/>
                  <a:pt x="18" y="178"/>
                  <a:pt x="32" y="178"/>
                </a:cubicBezTo>
                <a:lnTo>
                  <a:pt x="194" y="178"/>
                </a:lnTo>
                <a:lnTo>
                  <a:pt x="245" y="22"/>
                </a:lnTo>
                <a:cubicBezTo>
                  <a:pt x="249" y="9"/>
                  <a:pt x="262" y="0"/>
                  <a:pt x="276" y="0"/>
                </a:cubicBezTo>
                <a:cubicBezTo>
                  <a:pt x="290" y="0"/>
                  <a:pt x="302" y="9"/>
                  <a:pt x="307" y="22"/>
                </a:cubicBezTo>
                <a:lnTo>
                  <a:pt x="357" y="178"/>
                </a:lnTo>
                <a:lnTo>
                  <a:pt x="519" y="178"/>
                </a:lnTo>
                <a:cubicBezTo>
                  <a:pt x="533" y="178"/>
                  <a:pt x="545" y="187"/>
                  <a:pt x="550" y="200"/>
                </a:cubicBezTo>
                <a:cubicBezTo>
                  <a:pt x="554" y="213"/>
                  <a:pt x="549" y="227"/>
                  <a:pt x="538" y="236"/>
                </a:cubicBezTo>
                <a:lnTo>
                  <a:pt x="408" y="327"/>
                </a:lnTo>
                <a:lnTo>
                  <a:pt x="457" y="486"/>
                </a:lnTo>
                <a:cubicBezTo>
                  <a:pt x="461" y="499"/>
                  <a:pt x="456" y="513"/>
                  <a:pt x="445" y="521"/>
                </a:cubicBezTo>
                <a:cubicBezTo>
                  <a:pt x="440" y="525"/>
                  <a:pt x="433" y="527"/>
                  <a:pt x="426" y="527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61400" y="3412440"/>
            <a:ext cx="4687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③ DNS</a:t>
            </a:r>
            <a:r>
              <a:rPr b="1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連携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動的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更新で名前解決を⾃動化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673320" y="3841560"/>
            <a:ext cx="207360" cy="198360"/>
          </a:xfrm>
          <a:custGeom>
            <a:avLst/>
            <a:gdLst/>
            <a:ahLst/>
            <a:rect l="0" t="0" r="r" b="b"/>
            <a:pathLst>
              <a:path w="576" h="551">
                <a:moveTo>
                  <a:pt x="446" y="551"/>
                </a:moveTo>
                <a:cubicBezTo>
                  <a:pt x="439" y="551"/>
                  <a:pt x="432" y="549"/>
                  <a:pt x="426" y="545"/>
                </a:cubicBezTo>
                <a:lnTo>
                  <a:pt x="289" y="446"/>
                </a:lnTo>
                <a:lnTo>
                  <a:pt x="151" y="545"/>
                </a:lnTo>
                <a:cubicBezTo>
                  <a:pt x="139" y="553"/>
                  <a:pt x="124" y="553"/>
                  <a:pt x="111" y="545"/>
                </a:cubicBezTo>
                <a:cubicBezTo>
                  <a:pt x="99" y="536"/>
                  <a:pt x="94" y="521"/>
                  <a:pt x="99" y="508"/>
                </a:cubicBezTo>
                <a:lnTo>
                  <a:pt x="151" y="342"/>
                </a:lnTo>
                <a:lnTo>
                  <a:pt x="14" y="246"/>
                </a:lnTo>
                <a:cubicBezTo>
                  <a:pt x="2" y="237"/>
                  <a:pt x="-3" y="222"/>
                  <a:pt x="2" y="209"/>
                </a:cubicBezTo>
                <a:cubicBezTo>
                  <a:pt x="6" y="195"/>
                  <a:pt x="19" y="186"/>
                  <a:pt x="33" y="186"/>
                </a:cubicBezTo>
                <a:lnTo>
                  <a:pt x="203" y="186"/>
                </a:lnTo>
                <a:lnTo>
                  <a:pt x="257" y="23"/>
                </a:lnTo>
                <a:cubicBezTo>
                  <a:pt x="261" y="9"/>
                  <a:pt x="274" y="0"/>
                  <a:pt x="289" y="0"/>
                </a:cubicBezTo>
                <a:cubicBezTo>
                  <a:pt x="303" y="0"/>
                  <a:pt x="316" y="9"/>
                  <a:pt x="320" y="23"/>
                </a:cubicBezTo>
                <a:lnTo>
                  <a:pt x="373" y="186"/>
                </a:lnTo>
                <a:lnTo>
                  <a:pt x="543" y="186"/>
                </a:lnTo>
                <a:cubicBezTo>
                  <a:pt x="557" y="186"/>
                  <a:pt x="570" y="195"/>
                  <a:pt x="574" y="209"/>
                </a:cubicBezTo>
                <a:cubicBezTo>
                  <a:pt x="579" y="222"/>
                  <a:pt x="574" y="237"/>
                  <a:pt x="562" y="246"/>
                </a:cubicBezTo>
                <a:lnTo>
                  <a:pt x="426" y="342"/>
                </a:lnTo>
                <a:lnTo>
                  <a:pt x="477" y="508"/>
                </a:lnTo>
                <a:cubicBezTo>
                  <a:pt x="482" y="521"/>
                  <a:pt x="477" y="536"/>
                  <a:pt x="465" y="545"/>
                </a:cubicBezTo>
                <a:cubicBezTo>
                  <a:pt x="459" y="549"/>
                  <a:pt x="452" y="551"/>
                  <a:pt x="446" y="551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6920640" y="3841560"/>
            <a:ext cx="198360" cy="198360"/>
          </a:xfrm>
          <a:custGeom>
            <a:avLst/>
            <a:gdLst/>
            <a:ahLst/>
            <a:rect l="0" t="0" r="r" b="b"/>
            <a:pathLst>
              <a:path w="551" h="551">
                <a:moveTo>
                  <a:pt x="426" y="551"/>
                </a:moveTo>
                <a:cubicBezTo>
                  <a:pt x="420" y="551"/>
                  <a:pt x="413" y="549"/>
                  <a:pt x="408" y="545"/>
                </a:cubicBezTo>
                <a:lnTo>
                  <a:pt x="276" y="446"/>
                </a:lnTo>
                <a:lnTo>
                  <a:pt x="144" y="545"/>
                </a:lnTo>
                <a:cubicBezTo>
                  <a:pt x="133" y="553"/>
                  <a:pt x="118" y="553"/>
                  <a:pt x="106" y="545"/>
                </a:cubicBezTo>
                <a:cubicBezTo>
                  <a:pt x="95" y="536"/>
                  <a:pt x="91" y="521"/>
                  <a:pt x="95" y="508"/>
                </a:cubicBezTo>
                <a:lnTo>
                  <a:pt x="144" y="342"/>
                </a:lnTo>
                <a:lnTo>
                  <a:pt x="13" y="246"/>
                </a:lnTo>
                <a:cubicBezTo>
                  <a:pt x="2" y="237"/>
                  <a:pt x="-2" y="222"/>
                  <a:pt x="2" y="209"/>
                </a:cubicBezTo>
                <a:cubicBezTo>
                  <a:pt x="6" y="195"/>
                  <a:pt x="18" y="186"/>
                  <a:pt x="32" y="186"/>
                </a:cubicBezTo>
                <a:lnTo>
                  <a:pt x="194" y="186"/>
                </a:lnTo>
                <a:lnTo>
                  <a:pt x="245" y="23"/>
                </a:lnTo>
                <a:cubicBezTo>
                  <a:pt x="249" y="9"/>
                  <a:pt x="262" y="0"/>
                  <a:pt x="276" y="0"/>
                </a:cubicBezTo>
                <a:cubicBezTo>
                  <a:pt x="290" y="0"/>
                  <a:pt x="302" y="9"/>
                  <a:pt x="307" y="23"/>
                </a:cubicBezTo>
                <a:lnTo>
                  <a:pt x="357" y="186"/>
                </a:lnTo>
                <a:lnTo>
                  <a:pt x="519" y="186"/>
                </a:lnTo>
                <a:cubicBezTo>
                  <a:pt x="533" y="186"/>
                  <a:pt x="545" y="195"/>
                  <a:pt x="550" y="209"/>
                </a:cubicBezTo>
                <a:cubicBezTo>
                  <a:pt x="554" y="222"/>
                  <a:pt x="549" y="237"/>
                  <a:pt x="538" y="246"/>
                </a:cubicBezTo>
                <a:lnTo>
                  <a:pt x="408" y="342"/>
                </a:lnTo>
                <a:lnTo>
                  <a:pt x="457" y="508"/>
                </a:lnTo>
                <a:cubicBezTo>
                  <a:pt x="461" y="521"/>
                  <a:pt x="456" y="536"/>
                  <a:pt x="445" y="545"/>
                </a:cubicBezTo>
                <a:cubicBezTo>
                  <a:pt x="440" y="549"/>
                  <a:pt x="433" y="551"/>
                  <a:pt x="426" y="551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761400" y="3793320"/>
            <a:ext cx="44110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④ 権限管理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ドメイングループでアクセス制御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61400" y="4174560"/>
            <a:ext cx="9248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⑤ 管理性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6673320" y="4222800"/>
            <a:ext cx="207360" cy="198360"/>
          </a:xfrm>
          <a:custGeom>
            <a:avLst/>
            <a:gdLst/>
            <a:ahLst/>
            <a:rect l="0" t="0" r="r" b="b"/>
            <a:pathLst>
              <a:path w="576" h="551">
                <a:moveTo>
                  <a:pt x="446" y="550"/>
                </a:moveTo>
                <a:cubicBezTo>
                  <a:pt x="439" y="550"/>
                  <a:pt x="432" y="548"/>
                  <a:pt x="426" y="544"/>
                </a:cubicBezTo>
                <a:lnTo>
                  <a:pt x="289" y="446"/>
                </a:lnTo>
                <a:lnTo>
                  <a:pt x="151" y="544"/>
                </a:lnTo>
                <a:cubicBezTo>
                  <a:pt x="139" y="553"/>
                  <a:pt x="124" y="553"/>
                  <a:pt x="111" y="544"/>
                </a:cubicBezTo>
                <a:cubicBezTo>
                  <a:pt x="99" y="536"/>
                  <a:pt x="94" y="521"/>
                  <a:pt x="99" y="507"/>
                </a:cubicBezTo>
                <a:lnTo>
                  <a:pt x="151" y="341"/>
                </a:lnTo>
                <a:lnTo>
                  <a:pt x="14" y="245"/>
                </a:lnTo>
                <a:cubicBezTo>
                  <a:pt x="2" y="237"/>
                  <a:pt x="-3" y="222"/>
                  <a:pt x="2" y="208"/>
                </a:cubicBezTo>
                <a:cubicBezTo>
                  <a:pt x="6" y="194"/>
                  <a:pt x="19" y="185"/>
                  <a:pt x="33" y="185"/>
                </a:cubicBezTo>
                <a:lnTo>
                  <a:pt x="203" y="185"/>
                </a:lnTo>
                <a:lnTo>
                  <a:pt x="257" y="22"/>
                </a:lnTo>
                <a:cubicBezTo>
                  <a:pt x="261" y="9"/>
                  <a:pt x="274" y="0"/>
                  <a:pt x="289" y="0"/>
                </a:cubicBezTo>
                <a:cubicBezTo>
                  <a:pt x="303" y="0"/>
                  <a:pt x="316" y="9"/>
                  <a:pt x="320" y="22"/>
                </a:cubicBezTo>
                <a:lnTo>
                  <a:pt x="373" y="185"/>
                </a:lnTo>
                <a:lnTo>
                  <a:pt x="543" y="185"/>
                </a:lnTo>
                <a:cubicBezTo>
                  <a:pt x="557" y="185"/>
                  <a:pt x="570" y="194"/>
                  <a:pt x="574" y="208"/>
                </a:cubicBezTo>
                <a:cubicBezTo>
                  <a:pt x="579" y="222"/>
                  <a:pt x="574" y="237"/>
                  <a:pt x="562" y="245"/>
                </a:cubicBezTo>
                <a:lnTo>
                  <a:pt x="426" y="341"/>
                </a:lnTo>
                <a:lnTo>
                  <a:pt x="477" y="507"/>
                </a:lnTo>
                <a:cubicBezTo>
                  <a:pt x="482" y="521"/>
                  <a:pt x="477" y="536"/>
                  <a:pt x="465" y="544"/>
                </a:cubicBezTo>
                <a:cubicBezTo>
                  <a:pt x="459" y="548"/>
                  <a:pt x="452" y="550"/>
                  <a:pt x="446" y="550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6920640" y="4222800"/>
            <a:ext cx="198360" cy="198360"/>
          </a:xfrm>
          <a:custGeom>
            <a:avLst/>
            <a:gdLst/>
            <a:ahLst/>
            <a:rect l="0" t="0" r="r" b="b"/>
            <a:pathLst>
              <a:path w="551" h="551">
                <a:moveTo>
                  <a:pt x="426" y="550"/>
                </a:moveTo>
                <a:cubicBezTo>
                  <a:pt x="420" y="550"/>
                  <a:pt x="413" y="548"/>
                  <a:pt x="408" y="544"/>
                </a:cubicBezTo>
                <a:lnTo>
                  <a:pt x="276" y="446"/>
                </a:lnTo>
                <a:lnTo>
                  <a:pt x="144" y="544"/>
                </a:lnTo>
                <a:cubicBezTo>
                  <a:pt x="133" y="553"/>
                  <a:pt x="118" y="553"/>
                  <a:pt x="106" y="544"/>
                </a:cubicBezTo>
                <a:cubicBezTo>
                  <a:pt x="95" y="536"/>
                  <a:pt x="91" y="521"/>
                  <a:pt x="95" y="507"/>
                </a:cubicBezTo>
                <a:lnTo>
                  <a:pt x="144" y="341"/>
                </a:lnTo>
                <a:lnTo>
                  <a:pt x="13" y="245"/>
                </a:lnTo>
                <a:cubicBezTo>
                  <a:pt x="2" y="237"/>
                  <a:pt x="-2" y="222"/>
                  <a:pt x="2" y="208"/>
                </a:cubicBezTo>
                <a:cubicBezTo>
                  <a:pt x="6" y="194"/>
                  <a:pt x="18" y="185"/>
                  <a:pt x="32" y="185"/>
                </a:cubicBezTo>
                <a:lnTo>
                  <a:pt x="194" y="185"/>
                </a:lnTo>
                <a:lnTo>
                  <a:pt x="245" y="22"/>
                </a:lnTo>
                <a:cubicBezTo>
                  <a:pt x="249" y="9"/>
                  <a:pt x="262" y="0"/>
                  <a:pt x="276" y="0"/>
                </a:cubicBezTo>
                <a:cubicBezTo>
                  <a:pt x="290" y="0"/>
                  <a:pt x="302" y="9"/>
                  <a:pt x="307" y="22"/>
                </a:cubicBezTo>
                <a:lnTo>
                  <a:pt x="357" y="185"/>
                </a:lnTo>
                <a:lnTo>
                  <a:pt x="519" y="185"/>
                </a:lnTo>
                <a:cubicBezTo>
                  <a:pt x="533" y="185"/>
                  <a:pt x="545" y="194"/>
                  <a:pt x="550" y="208"/>
                </a:cubicBezTo>
                <a:cubicBezTo>
                  <a:pt x="554" y="222"/>
                  <a:pt x="549" y="237"/>
                  <a:pt x="538" y="245"/>
                </a:cubicBezTo>
                <a:lnTo>
                  <a:pt x="408" y="341"/>
                </a:lnTo>
                <a:lnTo>
                  <a:pt x="457" y="507"/>
                </a:lnTo>
                <a:cubicBezTo>
                  <a:pt x="461" y="521"/>
                  <a:pt x="456" y="536"/>
                  <a:pt x="445" y="544"/>
                </a:cubicBezTo>
                <a:cubicBezTo>
                  <a:pt x="440" y="548"/>
                  <a:pt x="433" y="550"/>
                  <a:pt x="426" y="550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2221200" y="4174560"/>
            <a:ext cx="3496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GPO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・⼀元管理による運⽤の簡素化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666720" y="4811040"/>
            <a:ext cx="969192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結論</a:t>
            </a:r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AD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はクラスターの「⾝元保証⼈」かつ「セキュリティ管理者」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1626920" y="6342480"/>
            <a:ext cx="30348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13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676080" y="2238120"/>
            <a:ext cx="1800720" cy="381600"/>
          </a:xfrm>
          <a:custGeom>
            <a:avLst/>
            <a:gdLst/>
            <a:ahLst/>
            <a:rect l="0" t="0" r="r" b="b"/>
            <a:pathLst>
              <a:path w="5002" h="1060">
                <a:moveTo>
                  <a:pt x="0" y="0"/>
                </a:moveTo>
                <a:lnTo>
                  <a:pt x="5002" y="0"/>
                </a:lnTo>
                <a:lnTo>
                  <a:pt x="500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476440" y="2238120"/>
            <a:ext cx="5096160" cy="381600"/>
          </a:xfrm>
          <a:custGeom>
            <a:avLst/>
            <a:gdLst/>
            <a:ahLst/>
            <a:rect l="0" t="0" r="r" b="b"/>
            <a:pathLst>
              <a:path w="14156" h="1060">
                <a:moveTo>
                  <a:pt x="0" y="0"/>
                </a:moveTo>
                <a:lnTo>
                  <a:pt x="14156" y="0"/>
                </a:lnTo>
                <a:lnTo>
                  <a:pt x="1415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676080" y="2619360"/>
            <a:ext cx="1800720" cy="381240"/>
          </a:xfrm>
          <a:custGeom>
            <a:avLst/>
            <a:gdLst/>
            <a:ahLst/>
            <a:rect l="0" t="0" r="r" b="b"/>
            <a:pathLst>
              <a:path w="5002" h="1059">
                <a:moveTo>
                  <a:pt x="0" y="0"/>
                </a:moveTo>
                <a:lnTo>
                  <a:pt x="5002" y="0"/>
                </a:lnTo>
                <a:lnTo>
                  <a:pt x="500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2476440" y="2619360"/>
            <a:ext cx="5096160" cy="381240"/>
          </a:xfrm>
          <a:custGeom>
            <a:avLst/>
            <a:gdLst/>
            <a:ahLst/>
            <a:rect l="0" t="0" r="r" b="b"/>
            <a:pathLst>
              <a:path w="14156" h="1059">
                <a:moveTo>
                  <a:pt x="0" y="0"/>
                </a:moveTo>
                <a:lnTo>
                  <a:pt x="14156" y="0"/>
                </a:lnTo>
                <a:lnTo>
                  <a:pt x="1415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76080" y="3381120"/>
            <a:ext cx="1800720" cy="381600"/>
          </a:xfrm>
          <a:custGeom>
            <a:avLst/>
            <a:gdLst/>
            <a:ahLst/>
            <a:rect l="0" t="0" r="r" b="b"/>
            <a:pathLst>
              <a:path w="5002" h="1060">
                <a:moveTo>
                  <a:pt x="0" y="0"/>
                </a:moveTo>
                <a:lnTo>
                  <a:pt x="5002" y="0"/>
                </a:lnTo>
                <a:lnTo>
                  <a:pt x="500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2476440" y="3381120"/>
            <a:ext cx="5096160" cy="381600"/>
          </a:xfrm>
          <a:custGeom>
            <a:avLst/>
            <a:gdLst/>
            <a:ahLst/>
            <a:rect l="0" t="0" r="r" b="b"/>
            <a:pathLst>
              <a:path w="14156" h="1060">
                <a:moveTo>
                  <a:pt x="0" y="0"/>
                </a:moveTo>
                <a:lnTo>
                  <a:pt x="14156" y="0"/>
                </a:lnTo>
                <a:lnTo>
                  <a:pt x="1415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676080" y="4143240"/>
            <a:ext cx="1800720" cy="390960"/>
          </a:xfrm>
          <a:custGeom>
            <a:avLst/>
            <a:gdLst/>
            <a:ahLst/>
            <a:rect l="0" t="0" r="r" b="b"/>
            <a:pathLst>
              <a:path w="5002" h="1086">
                <a:moveTo>
                  <a:pt x="0" y="0"/>
                </a:moveTo>
                <a:lnTo>
                  <a:pt x="5002" y="0"/>
                </a:lnTo>
                <a:lnTo>
                  <a:pt x="500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476440" y="4143240"/>
            <a:ext cx="5096160" cy="390960"/>
          </a:xfrm>
          <a:custGeom>
            <a:avLst/>
            <a:gdLst/>
            <a:ahLst/>
            <a:rect l="0" t="0" r="r" b="b"/>
            <a:pathLst>
              <a:path w="14156" h="1086">
                <a:moveTo>
                  <a:pt x="0" y="0"/>
                </a:moveTo>
                <a:lnTo>
                  <a:pt x="14156" y="0"/>
                </a:lnTo>
                <a:lnTo>
                  <a:pt x="1415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666720" y="22287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666720" y="22287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466720" y="22287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2476440" y="2228760"/>
            <a:ext cx="5096160" cy="9720"/>
          </a:xfrm>
          <a:custGeom>
            <a:avLst/>
            <a:gdLst/>
            <a:ahLst/>
            <a:rect l="0" t="0" r="r" b="b"/>
            <a:pathLst>
              <a:path w="14156" h="27">
                <a:moveTo>
                  <a:pt x="0" y="0"/>
                </a:moveTo>
                <a:lnTo>
                  <a:pt x="14156" y="0"/>
                </a:lnTo>
                <a:lnTo>
                  <a:pt x="141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7562520" y="22287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666720" y="260964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2476440" y="2609640"/>
            <a:ext cx="5096160" cy="10080"/>
          </a:xfrm>
          <a:custGeom>
            <a:avLst/>
            <a:gdLst/>
            <a:ahLst/>
            <a:rect l="0" t="0" r="r" b="b"/>
            <a:pathLst>
              <a:path w="14156" h="28">
                <a:moveTo>
                  <a:pt x="0" y="0"/>
                </a:moveTo>
                <a:lnTo>
                  <a:pt x="14156" y="0"/>
                </a:lnTo>
                <a:lnTo>
                  <a:pt x="141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666720" y="26193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466720" y="26193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7562520" y="26193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66720" y="30002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66720" y="299052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466720" y="30002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2476440" y="2990520"/>
            <a:ext cx="5096160" cy="10080"/>
          </a:xfrm>
          <a:custGeom>
            <a:avLst/>
            <a:gdLst/>
            <a:ahLst/>
            <a:rect l="0" t="0" r="r" b="b"/>
            <a:pathLst>
              <a:path w="14156" h="28">
                <a:moveTo>
                  <a:pt x="0" y="0"/>
                </a:moveTo>
                <a:lnTo>
                  <a:pt x="14156" y="0"/>
                </a:lnTo>
                <a:lnTo>
                  <a:pt x="141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7562520" y="30002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66720" y="3390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66720" y="338112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466720" y="3390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2476440" y="3381120"/>
            <a:ext cx="5096160" cy="10080"/>
          </a:xfrm>
          <a:custGeom>
            <a:avLst/>
            <a:gdLst/>
            <a:ahLst/>
            <a:rect l="0" t="0" r="r" b="b"/>
            <a:pathLst>
              <a:path w="14156" h="28">
                <a:moveTo>
                  <a:pt x="0" y="0"/>
                </a:moveTo>
                <a:lnTo>
                  <a:pt x="14156" y="0"/>
                </a:lnTo>
                <a:lnTo>
                  <a:pt x="141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562520" y="3390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66720" y="3771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66720" y="37623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2466720" y="3771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2476440" y="3762360"/>
            <a:ext cx="5096160" cy="9720"/>
          </a:xfrm>
          <a:custGeom>
            <a:avLst/>
            <a:gdLst/>
            <a:ahLst/>
            <a:rect l="0" t="0" r="r" b="b"/>
            <a:pathLst>
              <a:path w="14156" h="27">
                <a:moveTo>
                  <a:pt x="0" y="0"/>
                </a:moveTo>
                <a:lnTo>
                  <a:pt x="14156" y="0"/>
                </a:lnTo>
                <a:lnTo>
                  <a:pt x="141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7562520" y="3771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666720" y="415260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666720" y="414324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2466720" y="41526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2476440" y="4143240"/>
            <a:ext cx="5096160" cy="9720"/>
          </a:xfrm>
          <a:custGeom>
            <a:avLst/>
            <a:gdLst/>
            <a:ahLst/>
            <a:rect l="0" t="0" r="r" b="b"/>
            <a:pathLst>
              <a:path w="14156" h="27">
                <a:moveTo>
                  <a:pt x="0" y="0"/>
                </a:moveTo>
                <a:lnTo>
                  <a:pt x="14156" y="0"/>
                </a:lnTo>
                <a:lnTo>
                  <a:pt x="141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7562520" y="41526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666720" y="4533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66720" y="4524120"/>
            <a:ext cx="1810080" cy="10080"/>
          </a:xfrm>
          <a:custGeom>
            <a:avLst/>
            <a:gdLst/>
            <a:ahLst/>
            <a:rect l="0" t="0" r="r" b="b"/>
            <a:pathLst>
              <a:path w="5028" h="28">
                <a:moveTo>
                  <a:pt x="0" y="0"/>
                </a:moveTo>
                <a:lnTo>
                  <a:pt x="5028" y="0"/>
                </a:lnTo>
                <a:lnTo>
                  <a:pt x="50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2466720" y="4533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2476440" y="4524120"/>
            <a:ext cx="5096160" cy="10080"/>
          </a:xfrm>
          <a:custGeom>
            <a:avLst/>
            <a:gdLst/>
            <a:ahLst/>
            <a:rect l="0" t="0" r="r" b="b"/>
            <a:pathLst>
              <a:path w="14156" h="28">
                <a:moveTo>
                  <a:pt x="0" y="0"/>
                </a:moveTo>
                <a:lnTo>
                  <a:pt x="14156" y="0"/>
                </a:lnTo>
                <a:lnTo>
                  <a:pt x="141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7562520" y="4533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666720" y="4905360"/>
            <a:ext cx="1810080" cy="9720"/>
          </a:xfrm>
          <a:custGeom>
            <a:avLst/>
            <a:gdLst/>
            <a:ahLst/>
            <a:rect l="0" t="0" r="r" b="b"/>
            <a:pathLst>
              <a:path w="5028" h="27">
                <a:moveTo>
                  <a:pt x="0" y="0"/>
                </a:moveTo>
                <a:lnTo>
                  <a:pt x="5028" y="0"/>
                </a:lnTo>
                <a:lnTo>
                  <a:pt x="50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2476440" y="4905360"/>
            <a:ext cx="5096160" cy="9720"/>
          </a:xfrm>
          <a:custGeom>
            <a:avLst/>
            <a:gdLst/>
            <a:ahLst/>
            <a:rect l="0" t="0" r="r" b="b"/>
            <a:pathLst>
              <a:path w="14156" h="27">
                <a:moveTo>
                  <a:pt x="0" y="0"/>
                </a:moveTo>
                <a:lnTo>
                  <a:pt x="14156" y="0"/>
                </a:lnTo>
                <a:lnTo>
                  <a:pt x="141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666720" y="629640"/>
            <a:ext cx="5409360" cy="68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36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なし環境での代替⼿段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666720" y="1456560"/>
            <a:ext cx="6736680" cy="594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31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それぞれの役割をどう置き換えるか︖</a:t>
            </a:r>
            <a:endParaRPr b="0" lang="en-US" sz="31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834840" y="2269440"/>
            <a:ext cx="1457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1679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時代の役割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3720240" y="2269440"/>
            <a:ext cx="25246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1679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レス環境での代替⼿段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761400" y="2650320"/>
            <a:ext cx="53172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CNO/VCO</a:t>
            </a:r>
            <a:r>
              <a:rPr b="1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管理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名で管理 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内部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サービス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761400" y="3031560"/>
            <a:ext cx="64483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r>
              <a:rPr b="1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証明書ベース認証 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(2025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〜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) / NTLM (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〜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2024)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761400" y="3412440"/>
            <a:ext cx="146664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動的</a:t>
            </a:r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1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更新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2565360" y="3412440"/>
            <a:ext cx="45954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⼿動登録 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クラスター内部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 / Azure DNS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761400" y="3793320"/>
            <a:ext cx="854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権限管理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2565360" y="3793320"/>
            <a:ext cx="4422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ローカルセキュリティ設定 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</a:t>
            </a:r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証明書権限管理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761400" y="4174560"/>
            <a:ext cx="892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Witness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2565360" y="4174560"/>
            <a:ext cx="30427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Cloud Witness / Disk Witness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61400" y="4564800"/>
            <a:ext cx="9738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GPO</a:t>
            </a:r>
            <a:r>
              <a:rPr b="1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統制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565360" y="4564800"/>
            <a:ext cx="38815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スクリプト </a:t>
            </a:r>
            <a:r>
              <a:rPr b="0" lang="en-US" sz="1679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Azure Arc / Azure Policy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66720" y="5191920"/>
            <a:ext cx="899064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ポイント</a:t>
            </a:r>
            <a:r>
              <a:rPr b="0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DNS</a:t>
            </a:r>
            <a:r>
              <a:rPr b="0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・証明書・クラウドサービスの組み合わせで補完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11626920" y="6342480"/>
            <a:ext cx="30348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666720" y="639720"/>
            <a:ext cx="321624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53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メリット・デメリット</a:t>
            </a:r>
            <a:endParaRPr b="0" lang="en-US" sz="25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695160" y="1752480"/>
            <a:ext cx="267120" cy="276480"/>
          </a:xfrm>
          <a:custGeom>
            <a:avLst/>
            <a:gdLst/>
            <a:ahLst/>
            <a:rect l="0" t="0" r="r" b="b"/>
            <a:pathLst>
              <a:path w="742" h="768">
                <a:moveTo>
                  <a:pt x="742" y="683"/>
                </a:moveTo>
                <a:cubicBezTo>
                  <a:pt x="742" y="730"/>
                  <a:pt x="705" y="768"/>
                  <a:pt x="658" y="768"/>
                </a:cubicBezTo>
                <a:lnTo>
                  <a:pt x="82" y="768"/>
                </a:lnTo>
                <a:cubicBezTo>
                  <a:pt x="37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7" y="0"/>
                  <a:pt x="82" y="0"/>
                </a:cubicBezTo>
                <a:lnTo>
                  <a:pt x="658" y="0"/>
                </a:lnTo>
                <a:cubicBezTo>
                  <a:pt x="705" y="0"/>
                  <a:pt x="742" y="38"/>
                  <a:pt x="742" y="85"/>
                </a:cubicBezTo>
                <a:lnTo>
                  <a:pt x="742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737640" y="1798200"/>
            <a:ext cx="183240" cy="186840"/>
          </a:xfrm>
          <a:custGeom>
            <a:avLst/>
            <a:gdLst/>
            <a:ahLst/>
            <a:rect l="0" t="0" r="r" b="b"/>
            <a:pathLst>
              <a:path w="509" h="519">
                <a:moveTo>
                  <a:pt x="487" y="9"/>
                </a:moveTo>
                <a:cubicBezTo>
                  <a:pt x="463" y="-7"/>
                  <a:pt x="431" y="0"/>
                  <a:pt x="415" y="25"/>
                </a:cubicBezTo>
                <a:lnTo>
                  <a:pt x="190" y="383"/>
                </a:lnTo>
                <a:lnTo>
                  <a:pt x="87" y="284"/>
                </a:lnTo>
                <a:cubicBezTo>
                  <a:pt x="66" y="264"/>
                  <a:pt x="33" y="265"/>
                  <a:pt x="14" y="287"/>
                </a:cubicBezTo>
                <a:cubicBezTo>
                  <a:pt x="-5" y="308"/>
                  <a:pt x="-4" y="342"/>
                  <a:pt x="17" y="362"/>
                </a:cubicBezTo>
                <a:lnTo>
                  <a:pt x="165" y="505"/>
                </a:lnTo>
                <a:cubicBezTo>
                  <a:pt x="175" y="514"/>
                  <a:pt x="188" y="519"/>
                  <a:pt x="200" y="519"/>
                </a:cubicBezTo>
                <a:cubicBezTo>
                  <a:pt x="214" y="519"/>
                  <a:pt x="232" y="513"/>
                  <a:pt x="244" y="495"/>
                </a:cubicBezTo>
                <a:cubicBezTo>
                  <a:pt x="251" y="484"/>
                  <a:pt x="502" y="83"/>
                  <a:pt x="502" y="83"/>
                </a:cubicBezTo>
                <a:cubicBezTo>
                  <a:pt x="517" y="58"/>
                  <a:pt x="510" y="25"/>
                  <a:pt x="487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666720" y="1206720"/>
            <a:ext cx="24094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1" lang="ja-JP" sz="215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レス構成の評価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979920" y="1711440"/>
            <a:ext cx="11826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メリット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047600" y="2335320"/>
            <a:ext cx="48956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ドメインコントローラーの構築・維持コスト削減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828360" y="3200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047600" y="2706840"/>
            <a:ext cx="35607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⼩規模・エッジ環境での迅速な展開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699120" y="3653640"/>
            <a:ext cx="259560" cy="263160"/>
          </a:xfrm>
          <a:custGeom>
            <a:avLst/>
            <a:gdLst/>
            <a:ahLst/>
            <a:rect l="0" t="0" r="r" b="b"/>
            <a:pathLst>
              <a:path w="721" h="731">
                <a:moveTo>
                  <a:pt x="45" y="731"/>
                </a:moveTo>
                <a:cubicBezTo>
                  <a:pt x="7" y="731"/>
                  <a:pt x="-10" y="703"/>
                  <a:pt x="7" y="668"/>
                </a:cubicBezTo>
                <a:lnTo>
                  <a:pt x="329" y="26"/>
                </a:lnTo>
                <a:cubicBezTo>
                  <a:pt x="346" y="-9"/>
                  <a:pt x="375" y="-9"/>
                  <a:pt x="392" y="26"/>
                </a:cubicBezTo>
                <a:lnTo>
                  <a:pt x="714" y="668"/>
                </a:lnTo>
                <a:cubicBezTo>
                  <a:pt x="732" y="703"/>
                  <a:pt x="715" y="731"/>
                  <a:pt x="677" y="731"/>
                </a:cubicBezTo>
                <a:lnTo>
                  <a:pt x="45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810720" y="3713400"/>
            <a:ext cx="36000" cy="175680"/>
          </a:xfrm>
          <a:custGeom>
            <a:avLst/>
            <a:gdLst/>
            <a:ahLst/>
            <a:rect l="0" t="0" r="r" b="b"/>
            <a:pathLst>
              <a:path w="100" h="488">
                <a:moveTo>
                  <a:pt x="0" y="436"/>
                </a:moveTo>
                <a:cubicBezTo>
                  <a:pt x="0" y="408"/>
                  <a:pt x="22" y="385"/>
                  <a:pt x="49" y="385"/>
                </a:cubicBezTo>
                <a:cubicBezTo>
                  <a:pt x="78" y="385"/>
                  <a:pt x="100" y="408"/>
                  <a:pt x="100" y="436"/>
                </a:cubicBezTo>
                <a:cubicBezTo>
                  <a:pt x="100" y="465"/>
                  <a:pt x="78" y="488"/>
                  <a:pt x="49" y="488"/>
                </a:cubicBezTo>
                <a:cubicBezTo>
                  <a:pt x="22" y="488"/>
                  <a:pt x="0" y="465"/>
                  <a:pt x="0" y="436"/>
                </a:cubicBezTo>
                <a:moveTo>
                  <a:pt x="3" y="45"/>
                </a:moveTo>
                <a:cubicBezTo>
                  <a:pt x="3" y="17"/>
                  <a:pt x="23" y="0"/>
                  <a:pt x="49" y="0"/>
                </a:cubicBezTo>
                <a:cubicBezTo>
                  <a:pt x="76" y="0"/>
                  <a:pt x="96" y="18"/>
                  <a:pt x="96" y="45"/>
                </a:cubicBezTo>
                <a:lnTo>
                  <a:pt x="96" y="301"/>
                </a:lnTo>
                <a:cubicBezTo>
                  <a:pt x="96" y="328"/>
                  <a:pt x="76" y="346"/>
                  <a:pt x="49" y="346"/>
                </a:cubicBezTo>
                <a:cubicBezTo>
                  <a:pt x="23" y="346"/>
                  <a:pt x="3" y="328"/>
                  <a:pt x="3" y="301"/>
                </a:cubicBezTo>
                <a:lnTo>
                  <a:pt x="3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047600" y="3078360"/>
            <a:ext cx="22258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インフラのシンプル化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828360" y="4362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979920" y="3606840"/>
            <a:ext cx="145512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デメリット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828360" y="4724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047600" y="4240440"/>
            <a:ext cx="39441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⼿動設定が増加（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、証明書など）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828360" y="50958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1047600" y="4602600"/>
            <a:ext cx="24483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証明書管理の知識が必要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828360" y="5467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1047600" y="4973760"/>
            <a:ext cx="55688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ファイルサーバーなど⼀部ワークロードは依然</a:t>
            </a:r>
            <a:r>
              <a:rPr b="0" lang="en-US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必須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047600" y="5345280"/>
            <a:ext cx="2893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7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運⽤者にとって馴染みが薄い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1683800" y="6371640"/>
            <a:ext cx="246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</a:t>
            </a:r>
            <a:endParaRPr b="0" lang="en-US" sz="15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666720" y="638280"/>
            <a:ext cx="10065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97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参考資料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847440" y="17143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8" y="150"/>
                  <a:pt x="159" y="159"/>
                </a:cubicBezTo>
                <a:cubicBezTo>
                  <a:pt x="151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666720" y="1098720"/>
            <a:ext cx="184176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81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公式ドキュメント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776680" y="1828440"/>
            <a:ext cx="3019320" cy="10080"/>
          </a:xfrm>
          <a:custGeom>
            <a:avLst/>
            <a:gdLst/>
            <a:ahLst/>
            <a:rect l="0" t="0" r="r" b="b"/>
            <a:pathLst>
              <a:path w="8387" h="28">
                <a:moveTo>
                  <a:pt x="0" y="0"/>
                </a:moveTo>
                <a:lnTo>
                  <a:pt x="8387" y="0"/>
                </a:lnTo>
                <a:lnTo>
                  <a:pt x="8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847440" y="20192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7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1" y="18"/>
                  <a:pt x="159" y="27"/>
                </a:cubicBezTo>
                <a:cubicBezTo>
                  <a:pt x="168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047600" y="1623960"/>
            <a:ext cx="4407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Learn: </a:t>
            </a:r>
            <a:r>
              <a:rPr b="0" lang="ja-JP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フェールオーバー クラスター概要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2776680" y="2133360"/>
            <a:ext cx="3019320" cy="10080"/>
          </a:xfrm>
          <a:custGeom>
            <a:avLst/>
            <a:gdLst/>
            <a:ahLst/>
            <a:rect l="0" t="0" r="r" b="b"/>
            <a:pathLst>
              <a:path w="8387" h="28">
                <a:moveTo>
                  <a:pt x="0" y="0"/>
                </a:moveTo>
                <a:lnTo>
                  <a:pt x="8387" y="0"/>
                </a:lnTo>
                <a:lnTo>
                  <a:pt x="83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847440" y="23238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8" y="151"/>
                  <a:pt x="159" y="159"/>
                </a:cubicBezTo>
                <a:cubicBezTo>
                  <a:pt x="151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1" y="19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047600" y="1928520"/>
            <a:ext cx="4407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Learn: </a:t>
            </a:r>
            <a:r>
              <a:rPr b="0" lang="ja-JP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ワークグループ クラスターの作成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2881440" y="2438280"/>
            <a:ext cx="4664880" cy="9720"/>
          </a:xfrm>
          <a:custGeom>
            <a:avLst/>
            <a:gdLst/>
            <a:ahLst/>
            <a:rect l="0" t="0" r="r" b="b"/>
            <a:pathLst>
              <a:path w="12958" h="27">
                <a:moveTo>
                  <a:pt x="0" y="0"/>
                </a:moveTo>
                <a:lnTo>
                  <a:pt x="12958" y="0"/>
                </a:lnTo>
                <a:lnTo>
                  <a:pt x="129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047600" y="2233440"/>
            <a:ext cx="623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MS</a:t>
            </a:r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サポートブログ</a:t>
            </a:r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ja-JP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ワークグループ クラスターのサポート ポリシー変更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847440" y="3305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5" y="139"/>
                  <a:pt x="168" y="149"/>
                  <a:pt x="159" y="158"/>
                </a:cubicBezTo>
                <a:cubicBezTo>
                  <a:pt x="151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1" y="18"/>
                  <a:pt x="159" y="27"/>
                </a:cubicBezTo>
                <a:cubicBezTo>
                  <a:pt x="168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666720" y="2679840"/>
            <a:ext cx="1151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81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技術ブログ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998720" y="3419280"/>
            <a:ext cx="5229720" cy="9720"/>
          </a:xfrm>
          <a:custGeom>
            <a:avLst/>
            <a:gdLst/>
            <a:ahLst/>
            <a:rect l="0" t="0" r="r" b="b"/>
            <a:pathLst>
              <a:path w="14527" h="27">
                <a:moveTo>
                  <a:pt x="0" y="0"/>
                </a:moveTo>
                <a:lnTo>
                  <a:pt x="14527" y="0"/>
                </a:lnTo>
                <a:lnTo>
                  <a:pt x="145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847440" y="3609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8" y="151"/>
                  <a:pt x="159" y="159"/>
                </a:cubicBezTo>
                <a:cubicBezTo>
                  <a:pt x="151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1" y="19"/>
                  <a:pt x="159" y="27"/>
                </a:cubicBezTo>
                <a:cubicBezTo>
                  <a:pt x="168" y="36"/>
                  <a:pt x="175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047600" y="3214440"/>
            <a:ext cx="5802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⼭市良⽒</a:t>
            </a:r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en-US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Windows Server 2025 </a:t>
            </a:r>
            <a:r>
              <a:rPr b="0" lang="ja-JP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ワークグループクラスター新機能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2997720" y="3724200"/>
            <a:ext cx="3643920" cy="9720"/>
          </a:xfrm>
          <a:custGeom>
            <a:avLst/>
            <a:gdLst/>
            <a:ahLst/>
            <a:rect l="0" t="0" r="r" b="b"/>
            <a:pathLst>
              <a:path w="10122" h="27">
                <a:moveTo>
                  <a:pt x="728" y="27"/>
                </a:moveTo>
                <a:lnTo>
                  <a:pt x="609" y="27"/>
                </a:lnTo>
                <a:lnTo>
                  <a:pt x="609" y="0"/>
                </a:lnTo>
                <a:lnTo>
                  <a:pt x="728" y="0"/>
                </a:lnTo>
                <a:lnTo>
                  <a:pt x="728" y="27"/>
                </a:lnTo>
                <a:moveTo>
                  <a:pt x="874" y="0"/>
                </a:moveTo>
                <a:lnTo>
                  <a:pt x="10122" y="0"/>
                </a:lnTo>
                <a:lnTo>
                  <a:pt x="10122" y="27"/>
                </a:lnTo>
                <a:lnTo>
                  <a:pt x="874" y="27"/>
                </a:lnTo>
                <a:lnTo>
                  <a:pt x="874" y="0"/>
                </a:lnTo>
                <a:moveTo>
                  <a:pt x="450" y="27"/>
                </a:moveTo>
                <a:lnTo>
                  <a:pt x="0" y="27"/>
                </a:lnTo>
                <a:lnTo>
                  <a:pt x="0" y="0"/>
                </a:lnTo>
                <a:lnTo>
                  <a:pt x="450" y="0"/>
                </a:lnTo>
                <a:lnTo>
                  <a:pt x="450" y="27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847440" y="3914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047600" y="3519360"/>
            <a:ext cx="5357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NTT</a:t>
            </a:r>
            <a:r>
              <a:rPr b="0" lang="ja-JP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データ先端技術</a:t>
            </a:r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b="0" lang="en-US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Hyper-V </a:t>
            </a:r>
            <a:r>
              <a:rPr b="0" lang="ja-JP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ワークグループクラスター検証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365920" y="4028760"/>
            <a:ext cx="3765600" cy="10080"/>
          </a:xfrm>
          <a:custGeom>
            <a:avLst/>
            <a:gdLst/>
            <a:ahLst/>
            <a:rect l="0" t="0" r="r" b="b"/>
            <a:pathLst>
              <a:path w="10460" h="28">
                <a:moveTo>
                  <a:pt x="5636" y="28"/>
                </a:moveTo>
                <a:lnTo>
                  <a:pt x="5518" y="28"/>
                </a:lnTo>
                <a:lnTo>
                  <a:pt x="5518" y="0"/>
                </a:lnTo>
                <a:lnTo>
                  <a:pt x="5636" y="0"/>
                </a:lnTo>
                <a:lnTo>
                  <a:pt x="5636" y="28"/>
                </a:lnTo>
                <a:moveTo>
                  <a:pt x="5783" y="0"/>
                </a:moveTo>
                <a:lnTo>
                  <a:pt x="10460" y="0"/>
                </a:lnTo>
                <a:lnTo>
                  <a:pt x="10460" y="28"/>
                </a:lnTo>
                <a:lnTo>
                  <a:pt x="5783" y="28"/>
                </a:lnTo>
                <a:lnTo>
                  <a:pt x="5783" y="0"/>
                </a:lnTo>
                <a:moveTo>
                  <a:pt x="5359" y="28"/>
                </a:moveTo>
                <a:lnTo>
                  <a:pt x="0" y="28"/>
                </a:lnTo>
                <a:lnTo>
                  <a:pt x="0" y="0"/>
                </a:lnTo>
                <a:lnTo>
                  <a:pt x="5359" y="0"/>
                </a:lnTo>
                <a:lnTo>
                  <a:pt x="5359" y="28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047600" y="3823920"/>
            <a:ext cx="4853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AzureFeeds: </a:t>
            </a:r>
            <a:r>
              <a:rPr b="0" lang="ja-JP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証明書ベース認証で</a:t>
            </a:r>
            <a:r>
              <a:rPr b="0" lang="en-US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b="0" lang="ja-JP" sz="145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クラスタ構築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1721600" y="6394680"/>
            <a:ext cx="208800" cy="25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16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0" name="" descr=""/>
          <p:cNvPicPr/>
          <p:nvPr/>
        </p:nvPicPr>
        <p:blipFill>
          <a:blip r:embed="rId1"/>
          <a:stretch/>
        </p:blipFill>
        <p:spPr>
          <a:xfrm>
            <a:off x="361800" y="1962000"/>
            <a:ext cx="2923920" cy="292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"/>
          <p:cNvSpPr txBox="1"/>
          <p:nvPr/>
        </p:nvSpPr>
        <p:spPr>
          <a:xfrm>
            <a:off x="4561560" y="1885320"/>
            <a:ext cx="65844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ご清聴ありがとうございま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084080" y="2628360"/>
            <a:ext cx="16466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した︕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4415760" y="3586320"/>
            <a:ext cx="6828120" cy="64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3359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質問・コメントをお待ちしています</a:t>
            </a:r>
            <a:endParaRPr b="0" lang="en-US" sz="335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5449320" y="4487040"/>
            <a:ext cx="482868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#HCCJP </a:t>
            </a:r>
            <a:r>
              <a:rPr b="1" lang="ja-JP" sz="24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でシェアお願いします︕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1626920" y="6342480"/>
            <a:ext cx="30348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17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LibreOffice/25.8.2.2$Windows_X86_64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